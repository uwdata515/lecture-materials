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01" y="19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3341db43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33341db43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33341db435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33341db435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33341db435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33341db435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33341db435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33341db435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33341db43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33341db43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33341db435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33341db435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33341db435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33341db435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33341db435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33341db435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33341db435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33341db435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33341db435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33341db435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33341db435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33341db435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3f53ce94b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3f53ce94bc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22311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25" y="114901"/>
            <a:ext cx="3203124" cy="2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6596" y="4663214"/>
            <a:ext cx="584554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>
            <a:spLocks noGrp="1"/>
          </p:cNvSpPr>
          <p:nvPr>
            <p:ph type="subTitle" idx="2"/>
          </p:nvPr>
        </p:nvSpPr>
        <p:spPr>
          <a:xfrm>
            <a:off x="311700" y="36636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i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22311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25" y="114901"/>
            <a:ext cx="3203124" cy="2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6596" y="4663214"/>
            <a:ext cx="584554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5825" y="95825"/>
            <a:ext cx="8925324" cy="4961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Software Design for Data Science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Giving Presentations</a:t>
            </a:r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2"/>
          </p:nvPr>
        </p:nvSpPr>
        <p:spPr>
          <a:xfrm>
            <a:off x="311700" y="36636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dirty="0"/>
              <a:t>Naomi Alterman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dirty="0"/>
              <a:t>University of Washington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dirty="0"/>
              <a:t>March 10,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Bad presentations bore your listeners!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11700" y="4005358"/>
            <a:ext cx="8520600" cy="10238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i="1" dirty="0"/>
              <a:t>Confession 1: this lecture contains my personal opinions</a:t>
            </a:r>
          </a:p>
          <a:p>
            <a:pPr marL="0" indent="0" algn="ctr">
              <a:spcAft>
                <a:spcPts val="1200"/>
              </a:spcAft>
              <a:buNone/>
            </a:pPr>
            <a:r>
              <a:rPr lang="en" i="1" dirty="0"/>
              <a:t>Confession 2: I know I’m a hypocrite</a:t>
            </a:r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endParaRPr i="1" dirty="0"/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5759" y="1205473"/>
            <a:ext cx="3906801" cy="2604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Advice 1: Slides are not for reading</a:t>
            </a:r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 much text on a slide is distracting and redundant.</a:t>
            </a:r>
            <a:endParaRPr/>
          </a:p>
          <a:p>
            <a:pPr marL="9144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People struggle with reading and listening at the same time.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audience may be trying to read the slide instead of listening to you.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read it word-for-word, it’s redundant. What’s the point of you even being there?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can be overwhelming and cause your listeners to glaze over and not remember anything.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It’s not immediately clear what the most important takeaways are.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Full sentences contain lots of words that aren’t actually important to your point.</a:t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3326575" y="4285225"/>
            <a:ext cx="4670400" cy="6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1" dirty="0">
                <a:solidFill>
                  <a:srgbClr val="FF0000"/>
                </a:solidFill>
              </a:rPr>
              <a:t>How much did you hate this slide?</a:t>
            </a:r>
            <a:endParaRPr sz="1800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Advice 1: Slides are not for reading</a:t>
            </a:r>
            <a:endParaRPr/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5" y="1824057"/>
            <a:ext cx="4347000" cy="2439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16"/>
          <p:cNvGrpSpPr/>
          <p:nvPr/>
        </p:nvGrpSpPr>
        <p:grpSpPr>
          <a:xfrm>
            <a:off x="416300" y="1271110"/>
            <a:ext cx="1609800" cy="1670540"/>
            <a:chOff x="416300" y="1271110"/>
            <a:chExt cx="1609800" cy="1670540"/>
          </a:xfrm>
        </p:grpSpPr>
        <p:pic>
          <p:nvPicPr>
            <p:cNvPr id="86" name="Google Shape;86;p16" descr="File:Reading-297450.png - Wikimedia Common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7074" y="1271110"/>
              <a:ext cx="1497699" cy="1122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" name="Google Shape;87;p16"/>
            <p:cNvSpPr txBox="1"/>
            <p:nvPr/>
          </p:nvSpPr>
          <p:spPr>
            <a:xfrm>
              <a:off x="416300" y="2460750"/>
              <a:ext cx="1609800" cy="48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Reading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88" name="Google Shape;88;p16"/>
          <p:cNvGrpSpPr/>
          <p:nvPr/>
        </p:nvGrpSpPr>
        <p:grpSpPr>
          <a:xfrm>
            <a:off x="2437175" y="1317338"/>
            <a:ext cx="1609800" cy="1624300"/>
            <a:chOff x="2437175" y="1317338"/>
            <a:chExt cx="1609800" cy="1624300"/>
          </a:xfrm>
        </p:grpSpPr>
        <p:pic>
          <p:nvPicPr>
            <p:cNvPr id="89" name="Google Shape;89;p16" descr="File:Assistive Listening Devices 2.JPG - Wikimedia Commons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790463" y="1317338"/>
              <a:ext cx="925825" cy="925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" name="Google Shape;90;p16"/>
            <p:cNvSpPr txBox="1"/>
            <p:nvPr/>
          </p:nvSpPr>
          <p:spPr>
            <a:xfrm>
              <a:off x="2437175" y="2460738"/>
              <a:ext cx="1609800" cy="48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Char char="+"/>
              </a:pPr>
              <a:r>
                <a:rPr lang="en" sz="1800">
                  <a:solidFill>
                    <a:schemeClr val="dk2"/>
                  </a:solidFill>
                </a:rPr>
                <a:t>Listening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91" name="Google Shape;91;p16"/>
          <p:cNvGrpSpPr/>
          <p:nvPr/>
        </p:nvGrpSpPr>
        <p:grpSpPr>
          <a:xfrm>
            <a:off x="1230375" y="3009200"/>
            <a:ext cx="3013200" cy="2167175"/>
            <a:chOff x="1230375" y="3009200"/>
            <a:chExt cx="3013200" cy="2167175"/>
          </a:xfrm>
        </p:grpSpPr>
        <p:pic>
          <p:nvPicPr>
            <p:cNvPr id="92" name="Google Shape;92;p16" descr="Woman wearing blue dress shirt stopping gesture | free photos | UIHere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278375" y="3009200"/>
              <a:ext cx="2388424" cy="1594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" name="Google Shape;93;p16"/>
            <p:cNvSpPr txBox="1"/>
            <p:nvPr/>
          </p:nvSpPr>
          <p:spPr>
            <a:xfrm>
              <a:off x="1230375" y="4603675"/>
              <a:ext cx="30132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= confusion + boredom</a:t>
              </a:r>
              <a:endParaRPr sz="180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Advice 1: Slides are not for reading</a:t>
            </a:r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" sz="2700"/>
              <a:t>Limit text on each slide</a:t>
            </a:r>
            <a:endParaRPr sz="27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No full sentences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Illustrative images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Short bulleted lists if needed</a:t>
            </a:r>
            <a:endParaRPr sz="23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" sz="2700"/>
              <a:t>Don’t read your slides!</a:t>
            </a:r>
            <a:endParaRPr sz="2700"/>
          </a:p>
        </p:txBody>
      </p:sp>
      <p:pic>
        <p:nvPicPr>
          <p:cNvPr id="100" name="Google Shape;100;p17" descr="Free Images : checklist, business, businesswoman, notebook, list ..."/>
          <p:cNvPicPr preferRelativeResize="0"/>
          <p:nvPr/>
        </p:nvPicPr>
        <p:blipFill rotWithShape="1">
          <a:blip r:embed="rId3">
            <a:alphaModFix/>
          </a:blip>
          <a:srcRect l="17791" t="9334" r="22941" b="28103"/>
          <a:stretch/>
        </p:blipFill>
        <p:spPr>
          <a:xfrm>
            <a:off x="5680700" y="1680200"/>
            <a:ext cx="3028951" cy="2137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Advice 2 (1b): Slides are not for handouts</a:t>
            </a:r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3497" y="1017725"/>
            <a:ext cx="5337001" cy="3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Advice 3: Styling your slides</a:t>
            </a:r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body" idx="1"/>
          </p:nvPr>
        </p:nvSpPr>
        <p:spPr>
          <a:xfrm>
            <a:off x="3935925" y="1468100"/>
            <a:ext cx="3391500" cy="93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 b="1"/>
              <a:t>Big fonts!</a:t>
            </a:r>
            <a:endParaRPr sz="3000" b="1"/>
          </a:p>
        </p:txBody>
      </p:sp>
      <p:grpSp>
        <p:nvGrpSpPr>
          <p:cNvPr id="114" name="Google Shape;114;p19"/>
          <p:cNvGrpSpPr/>
          <p:nvPr/>
        </p:nvGrpSpPr>
        <p:grpSpPr>
          <a:xfrm>
            <a:off x="137150" y="1017725"/>
            <a:ext cx="3154800" cy="2342700"/>
            <a:chOff x="137150" y="1017725"/>
            <a:chExt cx="3154800" cy="2342700"/>
          </a:xfrm>
        </p:grpSpPr>
        <p:pic>
          <p:nvPicPr>
            <p:cNvPr id="115" name="Google Shape;115;p19" descr="Royalty-Free photo: Photo of green mountains | PickPik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700" y="1017725"/>
              <a:ext cx="2602950" cy="1735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" name="Google Shape;116;p19"/>
            <p:cNvSpPr txBox="1"/>
            <p:nvPr/>
          </p:nvSpPr>
          <p:spPr>
            <a:xfrm>
              <a:off x="137150" y="2640425"/>
              <a:ext cx="31548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dk2"/>
                  </a:solidFill>
                </a:rPr>
                <a:t>Illustrative images</a:t>
              </a:r>
              <a:endParaRPr sz="2500" b="1">
                <a:solidFill>
                  <a:schemeClr val="dk2"/>
                </a:solidFill>
              </a:endParaRPr>
            </a:p>
          </p:txBody>
        </p:sp>
      </p:grpSp>
      <p:grpSp>
        <p:nvGrpSpPr>
          <p:cNvPr id="117" name="Google Shape;117;p19"/>
          <p:cNvGrpSpPr/>
          <p:nvPr/>
        </p:nvGrpSpPr>
        <p:grpSpPr>
          <a:xfrm>
            <a:off x="1924050" y="3360425"/>
            <a:ext cx="3154800" cy="1543051"/>
            <a:chOff x="1924050" y="3360425"/>
            <a:chExt cx="3154800" cy="1543051"/>
          </a:xfrm>
        </p:grpSpPr>
        <p:pic>
          <p:nvPicPr>
            <p:cNvPr id="118" name="Google Shape;118;p19" descr="Free Images : light, architecture, white, floor, perspective ...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343550" y="3360425"/>
              <a:ext cx="2126623" cy="15430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19"/>
            <p:cNvSpPr txBox="1"/>
            <p:nvPr/>
          </p:nvSpPr>
          <p:spPr>
            <a:xfrm>
              <a:off x="1924050" y="4141550"/>
              <a:ext cx="31548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b="1">
                  <a:solidFill>
                    <a:schemeClr val="dk2"/>
                  </a:solidFill>
                </a:rPr>
                <a:t>Don’t be afraid of white space</a:t>
              </a:r>
              <a:endParaRPr sz="2500" b="1">
                <a:solidFill>
                  <a:schemeClr val="dk2"/>
                </a:solidFill>
              </a:endParaRPr>
            </a:p>
          </p:txBody>
        </p:sp>
      </p:grpSp>
      <p:sp>
        <p:nvSpPr>
          <p:cNvPr id="120" name="Google Shape;120;p19"/>
          <p:cNvSpPr txBox="1"/>
          <p:nvPr/>
        </p:nvSpPr>
        <p:spPr>
          <a:xfrm>
            <a:off x="5718800" y="3261450"/>
            <a:ext cx="3735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1155CC"/>
                </a:solidFill>
              </a:rPr>
              <a:t>A</a:t>
            </a:r>
            <a:endParaRPr sz="2500" b="1">
              <a:solidFill>
                <a:srgbClr val="1155CC"/>
              </a:solidFill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5932275" y="3261450"/>
            <a:ext cx="3735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1155CC"/>
                </a:solidFill>
              </a:rPr>
              <a:t>N</a:t>
            </a:r>
            <a:endParaRPr sz="2500" b="1">
              <a:solidFill>
                <a:srgbClr val="1155CC"/>
              </a:solidFill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6160875" y="3261450"/>
            <a:ext cx="3735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1155CC"/>
                </a:solidFill>
              </a:rPr>
              <a:t>I</a:t>
            </a:r>
            <a:endParaRPr sz="2500" b="1">
              <a:solidFill>
                <a:srgbClr val="1155CC"/>
              </a:solidFill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6260050" y="3261450"/>
            <a:ext cx="3735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1155CC"/>
                </a:solidFill>
              </a:rPr>
              <a:t>M</a:t>
            </a:r>
            <a:endParaRPr sz="2500" b="1">
              <a:solidFill>
                <a:srgbClr val="1155CC"/>
              </a:solidFill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6534375" y="3261450"/>
            <a:ext cx="3735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1155CC"/>
                </a:solidFill>
              </a:rPr>
              <a:t>A</a:t>
            </a:r>
            <a:endParaRPr sz="2500" b="1">
              <a:solidFill>
                <a:srgbClr val="1155CC"/>
              </a:solidFill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6744150" y="3261450"/>
            <a:ext cx="3735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1155CC"/>
                </a:solidFill>
              </a:rPr>
              <a:t>T</a:t>
            </a:r>
            <a:endParaRPr sz="2500" b="1">
              <a:solidFill>
                <a:srgbClr val="1155CC"/>
              </a:solidFill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6953600" y="3261450"/>
            <a:ext cx="3735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1155CC"/>
                </a:solidFill>
              </a:rPr>
              <a:t>I</a:t>
            </a:r>
            <a:endParaRPr sz="2500" b="1">
              <a:solidFill>
                <a:srgbClr val="1155CC"/>
              </a:solidFill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7067875" y="3261450"/>
            <a:ext cx="3735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1155CC"/>
                </a:solidFill>
              </a:rPr>
              <a:t>O</a:t>
            </a:r>
            <a:endParaRPr sz="2500" b="1">
              <a:solidFill>
                <a:srgbClr val="1155CC"/>
              </a:solidFill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7327425" y="3261450"/>
            <a:ext cx="3735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1155CC"/>
                </a:solidFill>
              </a:rPr>
              <a:t>N</a:t>
            </a:r>
            <a:endParaRPr sz="2500" b="1">
              <a:solidFill>
                <a:srgbClr val="1155CC"/>
              </a:solidFill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7556025" y="3261450"/>
            <a:ext cx="3735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1155CC"/>
                </a:solidFill>
              </a:rPr>
              <a:t>S</a:t>
            </a:r>
            <a:endParaRPr sz="2500" b="1">
              <a:solidFill>
                <a:srgbClr val="1155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Advice 4: Tell a story</a:t>
            </a:r>
            <a:endParaRPr/>
          </a:p>
        </p:txBody>
      </p:sp>
      <p:grpSp>
        <p:nvGrpSpPr>
          <p:cNvPr id="135" name="Google Shape;135;p20"/>
          <p:cNvGrpSpPr/>
          <p:nvPr/>
        </p:nvGrpSpPr>
        <p:grpSpPr>
          <a:xfrm>
            <a:off x="4335185" y="1876351"/>
            <a:ext cx="2253600" cy="1355175"/>
            <a:chOff x="4753223" y="1857800"/>
            <a:chExt cx="2253600" cy="1355175"/>
          </a:xfrm>
        </p:grpSpPr>
        <p:sp>
          <p:nvSpPr>
            <p:cNvPr id="136" name="Google Shape;136;p20"/>
            <p:cNvSpPr/>
            <p:nvPr/>
          </p:nvSpPr>
          <p:spPr>
            <a:xfrm>
              <a:off x="4849302" y="3079475"/>
              <a:ext cx="19584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7" name="Google Shape;137;p20"/>
            <p:cNvGrpSpPr/>
            <p:nvPr/>
          </p:nvGrpSpPr>
          <p:grpSpPr>
            <a:xfrm>
              <a:off x="4753223" y="1857800"/>
              <a:ext cx="2253600" cy="1354090"/>
              <a:chOff x="4753223" y="1857800"/>
              <a:chExt cx="2253600" cy="1354090"/>
            </a:xfrm>
          </p:grpSpPr>
          <p:grpSp>
            <p:nvGrpSpPr>
              <p:cNvPr id="138" name="Google Shape;138;p20"/>
              <p:cNvGrpSpPr/>
              <p:nvPr/>
            </p:nvGrpSpPr>
            <p:grpSpPr>
              <a:xfrm>
                <a:off x="4808316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139" name="Google Shape;139;p20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40" name="Google Shape;140;p20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41" name="Google Shape;141;p20"/>
              <p:cNvSpPr txBox="1"/>
              <p:nvPr/>
            </p:nvSpPr>
            <p:spPr>
              <a:xfrm>
                <a:off x="4753223" y="1857800"/>
                <a:ext cx="22536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2400" b="1">
                    <a:latin typeface="Roboto"/>
                    <a:ea typeface="Roboto"/>
                    <a:cs typeface="Roboto"/>
                    <a:sym typeface="Roboto"/>
                  </a:rPr>
                  <a:t>Content</a:t>
                </a:r>
                <a:endParaRPr sz="2400" b="1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42" name="Google Shape;142;p20"/>
          <p:cNvGrpSpPr/>
          <p:nvPr/>
        </p:nvGrpSpPr>
        <p:grpSpPr>
          <a:xfrm>
            <a:off x="6258735" y="3098018"/>
            <a:ext cx="2480177" cy="1358783"/>
            <a:chOff x="6676773" y="3079467"/>
            <a:chExt cx="2480177" cy="1358783"/>
          </a:xfrm>
        </p:grpSpPr>
        <p:sp>
          <p:nvSpPr>
            <p:cNvPr id="143" name="Google Shape;143;p20"/>
            <p:cNvSpPr/>
            <p:nvPr/>
          </p:nvSpPr>
          <p:spPr>
            <a:xfrm>
              <a:off x="6807650" y="3079475"/>
              <a:ext cx="2349300" cy="133500"/>
            </a:xfrm>
            <a:prstGeom prst="rect">
              <a:avLst/>
            </a:prstGeom>
            <a:solidFill>
              <a:srgbClr val="0856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" name="Google Shape;144;p20"/>
            <p:cNvGrpSpPr/>
            <p:nvPr/>
          </p:nvGrpSpPr>
          <p:grpSpPr>
            <a:xfrm>
              <a:off x="6676773" y="3079467"/>
              <a:ext cx="2253600" cy="1358783"/>
              <a:chOff x="6676773" y="3079467"/>
              <a:chExt cx="2253600" cy="1358783"/>
            </a:xfrm>
          </p:grpSpPr>
          <p:grpSp>
            <p:nvGrpSpPr>
              <p:cNvPr id="145" name="Google Shape;145;p20"/>
              <p:cNvGrpSpPr/>
              <p:nvPr/>
            </p:nvGrpSpPr>
            <p:grpSpPr>
              <a:xfrm rot="10800000">
                <a:off x="6760035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146" name="Google Shape;146;p20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47" name="Google Shape;147;p20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48" name="Google Shape;148;p20"/>
              <p:cNvSpPr txBox="1"/>
              <p:nvPr/>
            </p:nvSpPr>
            <p:spPr>
              <a:xfrm>
                <a:off x="6676773" y="3494450"/>
                <a:ext cx="22536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2400" b="1">
                    <a:latin typeface="Roboto"/>
                    <a:ea typeface="Roboto"/>
                    <a:cs typeface="Roboto"/>
                    <a:sym typeface="Roboto"/>
                  </a:rPr>
                  <a:t>Conclusion</a:t>
                </a:r>
                <a:endParaRPr sz="2400" b="1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49" name="Google Shape;149;p20"/>
          <p:cNvGrpSpPr/>
          <p:nvPr/>
        </p:nvGrpSpPr>
        <p:grpSpPr>
          <a:xfrm>
            <a:off x="405084" y="1876351"/>
            <a:ext cx="2253600" cy="1355175"/>
            <a:chOff x="823122" y="1857800"/>
            <a:chExt cx="2253600" cy="1355175"/>
          </a:xfrm>
        </p:grpSpPr>
        <p:sp>
          <p:nvSpPr>
            <p:cNvPr id="150" name="Google Shape;150;p20"/>
            <p:cNvSpPr/>
            <p:nvPr/>
          </p:nvSpPr>
          <p:spPr>
            <a:xfrm>
              <a:off x="932600" y="3079475"/>
              <a:ext cx="19584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1" name="Google Shape;151;p20"/>
            <p:cNvGrpSpPr/>
            <p:nvPr/>
          </p:nvGrpSpPr>
          <p:grpSpPr>
            <a:xfrm>
              <a:off x="823122" y="1857800"/>
              <a:ext cx="2253600" cy="1354090"/>
              <a:chOff x="823122" y="1857800"/>
              <a:chExt cx="2253600" cy="1354090"/>
            </a:xfrm>
          </p:grpSpPr>
          <p:grpSp>
            <p:nvGrpSpPr>
              <p:cNvPr id="152" name="Google Shape;152;p20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153" name="Google Shape;153;p20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54" name="Google Shape;154;p20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5" name="Google Shape;155;p20"/>
              <p:cNvSpPr txBox="1"/>
              <p:nvPr/>
            </p:nvSpPr>
            <p:spPr>
              <a:xfrm>
                <a:off x="823122" y="1857800"/>
                <a:ext cx="22536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2400" b="1">
                    <a:latin typeface="Roboto"/>
                    <a:ea typeface="Roboto"/>
                    <a:cs typeface="Roboto"/>
                    <a:sym typeface="Roboto"/>
                  </a:rPr>
                  <a:t>Hook</a:t>
                </a:r>
                <a:endParaRPr sz="2400" b="1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56" name="Google Shape;156;p20"/>
          <p:cNvGrpSpPr/>
          <p:nvPr/>
        </p:nvGrpSpPr>
        <p:grpSpPr>
          <a:xfrm>
            <a:off x="2355313" y="3098018"/>
            <a:ext cx="2253600" cy="1358783"/>
            <a:chOff x="2773350" y="3079467"/>
            <a:chExt cx="2253600" cy="1358783"/>
          </a:xfrm>
        </p:grpSpPr>
        <p:sp>
          <p:nvSpPr>
            <p:cNvPr id="157" name="Google Shape;157;p20"/>
            <p:cNvSpPr/>
            <p:nvPr/>
          </p:nvSpPr>
          <p:spPr>
            <a:xfrm>
              <a:off x="2890952" y="3079475"/>
              <a:ext cx="1958400" cy="133500"/>
            </a:xfrm>
            <a:prstGeom prst="rect">
              <a:avLst/>
            </a:prstGeom>
            <a:solidFill>
              <a:srgbClr val="0856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8" name="Google Shape;158;p20"/>
            <p:cNvGrpSpPr/>
            <p:nvPr/>
          </p:nvGrpSpPr>
          <p:grpSpPr>
            <a:xfrm>
              <a:off x="2773350" y="3079467"/>
              <a:ext cx="2253600" cy="1358783"/>
              <a:chOff x="2773350" y="3079467"/>
              <a:chExt cx="2253600" cy="1358783"/>
            </a:xfrm>
          </p:grpSpPr>
          <p:grpSp>
            <p:nvGrpSpPr>
              <p:cNvPr id="159" name="Google Shape;159;p20"/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160" name="Google Shape;160;p20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61" name="Google Shape;161;p20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62" name="Google Shape;162;p20"/>
              <p:cNvSpPr txBox="1"/>
              <p:nvPr/>
            </p:nvSpPr>
            <p:spPr>
              <a:xfrm>
                <a:off x="2773350" y="3494450"/>
                <a:ext cx="22536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2400" b="1">
                    <a:latin typeface="Roboto"/>
                    <a:ea typeface="Roboto"/>
                    <a:cs typeface="Roboto"/>
                    <a:sym typeface="Roboto"/>
                  </a:rPr>
                  <a:t>Context</a:t>
                </a:r>
                <a:endParaRPr sz="2400" b="1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Advice 5: Prepare a script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9" name="Google Shape;16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7925" y="1500804"/>
            <a:ext cx="4808149" cy="2559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6725" y="1152475"/>
            <a:ext cx="6110526" cy="348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00DDC06A-BD23-74FF-35C6-C04B0C216E86}"/>
              </a:ext>
            </a:extLst>
          </p:cNvPr>
          <p:cNvSpPr/>
          <p:nvPr/>
        </p:nvSpPr>
        <p:spPr>
          <a:xfrm>
            <a:off x="2020185" y="1049656"/>
            <a:ext cx="2658140" cy="767546"/>
          </a:xfrm>
          <a:prstGeom prst="wedgeRoundRectCallout">
            <a:avLst>
              <a:gd name="adj1" fmla="val 42789"/>
              <a:gd name="adj2" fmla="val 93586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AND </a:t>
            </a:r>
            <a:r>
              <a:rPr lang="en-US" sz="2000" b="1" dirty="0">
                <a:solidFill>
                  <a:schemeClr val="tx1"/>
                </a:solidFill>
              </a:rPr>
              <a:t>STICK</a:t>
            </a:r>
            <a:r>
              <a:rPr lang="en-US" sz="2000" dirty="0">
                <a:solidFill>
                  <a:schemeClr val="tx1"/>
                </a:solidFill>
              </a:rPr>
              <a:t> TO IT!!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Advice 6: Live demos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body" idx="1"/>
          </p:nvPr>
        </p:nvSpPr>
        <p:spPr>
          <a:xfrm>
            <a:off x="311701" y="1152475"/>
            <a:ext cx="3856108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/>
              <a:t>Fake ‘em, don’t make ‘em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(prepare a screen recording and narrate over it)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800" dirty="0"/>
          </a:p>
        </p:txBody>
      </p:sp>
      <p:pic>
        <p:nvPicPr>
          <p:cNvPr id="177" name="Google Shape;177;p22" descr="File:Wikipedia Final Project Second Draft.jpg - Wikimedia Common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87" y="1147125"/>
            <a:ext cx="4260299" cy="355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Advice 7: Interactivity</a:t>
            </a:r>
            <a:endParaRPr/>
          </a:p>
        </p:txBody>
      </p:sp>
      <p:sp>
        <p:nvSpPr>
          <p:cNvPr id="183" name="Google Shape;183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questions / involve the audience with interactive elements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4" name="Google Shape;184;p23" descr="Tale of Two Jobs: Teacher? Ejection Seat Technician? Both Hats Fit ..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875" y="1988825"/>
            <a:ext cx="4012925" cy="2674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3" descr="Free Images : woman, run, treadmill, silhouette, sport, fit ...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2776" y="2194550"/>
            <a:ext cx="3280748" cy="2114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Advice 8: Practice</a:t>
            </a:r>
            <a:endParaRPr/>
          </a:p>
        </p:txBody>
      </p:sp>
      <p:sp>
        <p:nvSpPr>
          <p:cNvPr id="191" name="Google Shape;191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grpSp>
        <p:nvGrpSpPr>
          <p:cNvPr id="192" name="Google Shape;192;p24"/>
          <p:cNvGrpSpPr/>
          <p:nvPr/>
        </p:nvGrpSpPr>
        <p:grpSpPr>
          <a:xfrm>
            <a:off x="366325" y="1079454"/>
            <a:ext cx="2871800" cy="2058821"/>
            <a:chOff x="366325" y="1079454"/>
            <a:chExt cx="2871800" cy="2058821"/>
          </a:xfrm>
        </p:grpSpPr>
        <p:pic>
          <p:nvPicPr>
            <p:cNvPr id="193" name="Google Shape;193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6325" y="1079454"/>
              <a:ext cx="2871800" cy="16358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" name="Google Shape;194;p24"/>
            <p:cNvSpPr txBox="1"/>
            <p:nvPr/>
          </p:nvSpPr>
          <p:spPr>
            <a:xfrm>
              <a:off x="556325" y="2715275"/>
              <a:ext cx="2491800" cy="4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Your script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95" name="Google Shape;195;p24"/>
          <p:cNvGrpSpPr/>
          <p:nvPr/>
        </p:nvGrpSpPr>
        <p:grpSpPr>
          <a:xfrm>
            <a:off x="2201675" y="3394125"/>
            <a:ext cx="2491800" cy="1508175"/>
            <a:chOff x="2201675" y="3394125"/>
            <a:chExt cx="2491800" cy="1508175"/>
          </a:xfrm>
        </p:grpSpPr>
        <p:pic>
          <p:nvPicPr>
            <p:cNvPr id="196" name="Google Shape;196;p24" descr="Cartoon Eyes Free Stock Photo - Public Domain Picture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457449" y="3394125"/>
              <a:ext cx="1980249" cy="953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" name="Google Shape;197;p24"/>
            <p:cNvSpPr txBox="1"/>
            <p:nvPr/>
          </p:nvSpPr>
          <p:spPr>
            <a:xfrm>
              <a:off x="2201675" y="4479300"/>
              <a:ext cx="2491800" cy="4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Eye contact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98" name="Google Shape;198;p24"/>
          <p:cNvGrpSpPr/>
          <p:nvPr/>
        </p:nvGrpSpPr>
        <p:grpSpPr>
          <a:xfrm>
            <a:off x="3577550" y="365750"/>
            <a:ext cx="2491800" cy="2423150"/>
            <a:chOff x="4812000" y="354325"/>
            <a:chExt cx="2491800" cy="2423150"/>
          </a:xfrm>
        </p:grpSpPr>
        <p:pic>
          <p:nvPicPr>
            <p:cNvPr id="199" name="Google Shape;199;p24" descr="Vector clip art of happy kid jumping | Free SV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846325" y="354325"/>
              <a:ext cx="2423149" cy="2423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" name="Google Shape;200;p24"/>
            <p:cNvSpPr txBox="1"/>
            <p:nvPr/>
          </p:nvSpPr>
          <p:spPr>
            <a:xfrm>
              <a:off x="4812000" y="2292275"/>
              <a:ext cx="2491800" cy="4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Enthusiasm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201" name="Google Shape;201;p24"/>
          <p:cNvGrpSpPr/>
          <p:nvPr/>
        </p:nvGrpSpPr>
        <p:grpSpPr>
          <a:xfrm>
            <a:off x="6120750" y="1697350"/>
            <a:ext cx="2491800" cy="1585513"/>
            <a:chOff x="6337925" y="1022975"/>
            <a:chExt cx="2491800" cy="1585513"/>
          </a:xfrm>
        </p:grpSpPr>
        <p:sp>
          <p:nvSpPr>
            <p:cNvPr id="202" name="Google Shape;202;p24"/>
            <p:cNvSpPr txBox="1"/>
            <p:nvPr/>
          </p:nvSpPr>
          <p:spPr>
            <a:xfrm>
              <a:off x="6337925" y="2185488"/>
              <a:ext cx="2491800" cy="4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Timing</a:t>
              </a:r>
              <a:endParaRPr sz="1800">
                <a:solidFill>
                  <a:schemeClr val="dk2"/>
                </a:solidFill>
              </a:endParaRPr>
            </a:p>
          </p:txBody>
        </p:sp>
        <p:pic>
          <p:nvPicPr>
            <p:cNvPr id="203" name="Google Shape;203;p24" descr="Illustration of reset chronograph | Free SV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029475" y="1022975"/>
              <a:ext cx="1108699" cy="1108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4" name="Google Shape;204;p24"/>
          <p:cNvGrpSpPr/>
          <p:nvPr/>
        </p:nvGrpSpPr>
        <p:grpSpPr>
          <a:xfrm>
            <a:off x="5873600" y="3776261"/>
            <a:ext cx="2871800" cy="1126027"/>
            <a:chOff x="5873600" y="3776261"/>
            <a:chExt cx="2871800" cy="1126027"/>
          </a:xfrm>
        </p:grpSpPr>
        <p:pic>
          <p:nvPicPr>
            <p:cNvPr id="205" name="Google Shape;205;p24" descr="Tape player controls vector image | Public domain vector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873600" y="3776261"/>
              <a:ext cx="2871800" cy="7926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" name="Google Shape;206;p24"/>
            <p:cNvSpPr txBox="1"/>
            <p:nvPr/>
          </p:nvSpPr>
          <p:spPr>
            <a:xfrm>
              <a:off x="6063600" y="4479288"/>
              <a:ext cx="2491800" cy="4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Record yourself</a:t>
              </a:r>
              <a:endParaRPr sz="180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DATA 515 final presentations</a:t>
            </a:r>
            <a:endParaRPr/>
          </a:p>
        </p:txBody>
      </p:sp>
      <p:sp>
        <p:nvSpPr>
          <p:cNvPr id="212" name="Google Shape;212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10 minutes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Some of the “story” is already specified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Strive for</a:t>
            </a:r>
            <a:endParaRPr sz="22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Timing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No walls of text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Scripted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Enthusiasm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324</Words>
  <Application>Microsoft Office PowerPoint</Application>
  <PresentationFormat>On-screen Show (16:9)</PresentationFormat>
  <Paragraphs>68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Roboto</vt:lpstr>
      <vt:lpstr>Simple Light</vt:lpstr>
      <vt:lpstr>Software Design for Data Science</vt:lpstr>
      <vt:lpstr>Bad presentations bore your listeners!</vt:lpstr>
      <vt:lpstr>Advice 1: Slides are not for reading</vt:lpstr>
      <vt:lpstr>Advice 1: Slides are not for reading</vt:lpstr>
      <vt:lpstr>Advice 1: Slides are not for reading</vt:lpstr>
      <vt:lpstr>Advice 2 (1b): Slides are not for handouts</vt:lpstr>
      <vt:lpstr>Advice 3: Styling your slides</vt:lpstr>
      <vt:lpstr>Advice 4: Tell a story</vt:lpstr>
      <vt:lpstr>Advice 5: Prepare a script</vt:lpstr>
      <vt:lpstr>Advice 6: Live demos</vt:lpstr>
      <vt:lpstr>Advice 7: Interactivity</vt:lpstr>
      <vt:lpstr>Advice 8: Practice</vt:lpstr>
      <vt:lpstr>Your DATA 515 final presentations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Naomi Alterman</cp:lastModifiedBy>
  <cp:revision>3</cp:revision>
  <dcterms:modified xsi:type="dcterms:W3CDTF">2026-03-09T17:27:17Z</dcterms:modified>
</cp:coreProperties>
</file>