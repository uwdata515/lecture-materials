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2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698beb87a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698beb87a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98beb87a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698beb87a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98beb87a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98beb87a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98beb87a1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98beb87a1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98beb87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98beb87a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98beb87a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98beb87a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98beb87a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98beb87a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98beb87a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98beb87a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98beb87a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98beb87a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98beb87a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98beb87a1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98beb87a1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98beb87a1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98beb87a1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698beb87a1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98beb87a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98beb87a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98beb87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98beb87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98beb87a1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98beb87a1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98beb87a1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698beb87a1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98beb87a1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98beb87a1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98beb87a1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98beb87a1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98beb87a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98beb87a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98beb87a1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98beb87a1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98beb87a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98beb87a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98beb87a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98beb87a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unittest.mock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Testing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March 3,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testing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 testing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testing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Unit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Integration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Validation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System/E2E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UI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Regression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Black box/white box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Fuzzy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Performance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Usability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Security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Accessibility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Load testing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Continuous testing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Mocking</a:t>
            </a:r>
            <a:endParaRPr sz="2600"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/>
              <a:t>UI testing in Streamlit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Mocking: motivation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Your code makes an HTTP request to a website, which may return data that varies over time.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How to write a test that validates…</a:t>
            </a:r>
            <a:endParaRPr sz="20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…that your code works if there are HTTP errors?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…that your code works if the data changes?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…that your code works in normal cases?</a:t>
            </a:r>
            <a:endParaRPr sz="16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…given that you don’t control the network or the other website?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Mocking: motivation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Another example: Homework 3</a:t>
            </a:r>
            <a:endParaRPr sz="200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In HW3, you wrote 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check_email_validity</a:t>
            </a:r>
            <a:r>
              <a:rPr lang="en" sz="2000"/>
              <a:t> and 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process_newsgroup_file</a:t>
            </a:r>
            <a:r>
              <a:rPr lang="en" sz="2000"/>
              <a:t>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instructors want to validate your code - but we want to grade each function separately!</a:t>
            </a:r>
            <a:endParaRPr sz="20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/>
              <a:t>If your </a:t>
            </a:r>
            <a:r>
              <a:rPr lang="en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check_email_validity</a:t>
            </a:r>
            <a:r>
              <a:rPr lang="en" sz="1600"/>
              <a:t> is wrong, you should not ALSO lose points for </a:t>
            </a:r>
            <a:r>
              <a:rPr lang="en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process_newsgroup_file</a:t>
            </a:r>
            <a:r>
              <a:rPr lang="en" sz="1600"/>
              <a:t>, assuming nothing else is wrong.</a:t>
            </a:r>
            <a:endParaRPr sz="16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One solution: run OUR implementation of 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check_email_validity</a:t>
            </a:r>
            <a:r>
              <a:rPr lang="en" sz="2000"/>
              <a:t> with YOUR implementation of </a:t>
            </a:r>
            <a:r>
              <a:rPr lang="en" sz="16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process_newsgroup_file</a:t>
            </a:r>
            <a:endParaRPr sz="20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How can we do that?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Mocking: the problem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do we unit test our code when it depends on other functions, modules, or input that we may not have control over?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25" y="2418163"/>
            <a:ext cx="333375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Mocking</a:t>
            </a:r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1152475"/>
            <a:ext cx="5715000" cy="3676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21"/>
          <p:cNvGrpSpPr/>
          <p:nvPr/>
        </p:nvGrpSpPr>
        <p:grpSpPr>
          <a:xfrm>
            <a:off x="6433800" y="1680375"/>
            <a:ext cx="2398500" cy="988500"/>
            <a:chOff x="6433800" y="1680375"/>
            <a:chExt cx="2398500" cy="988500"/>
          </a:xfrm>
        </p:grpSpPr>
        <p:sp>
          <p:nvSpPr>
            <p:cNvPr id="115" name="Google Shape;115;p21"/>
            <p:cNvSpPr txBox="1"/>
            <p:nvPr/>
          </p:nvSpPr>
          <p:spPr>
            <a:xfrm>
              <a:off x="6954300" y="1680375"/>
              <a:ext cx="1878000" cy="988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Fake implementations (“mocks”)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116" name="Google Shape;116;p21"/>
            <p:cNvCxnSpPr>
              <a:stCxn id="115" idx="1"/>
            </p:cNvCxnSpPr>
            <p:nvPr/>
          </p:nvCxnSpPr>
          <p:spPr>
            <a:xfrm flipH="1">
              <a:off x="6433800" y="2174625"/>
              <a:ext cx="520500" cy="287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7" name="Google Shape;117;p21"/>
          <p:cNvSpPr txBox="1"/>
          <p:nvPr/>
        </p:nvSpPr>
        <p:spPr>
          <a:xfrm>
            <a:off x="125775" y="4766175"/>
            <a:ext cx="81411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 source: https://www.mathworks.com/help/matlab/mocking-framework.html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Mocking in Python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unittest library has a module for mocking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from unittest import mock</a:t>
            </a:r>
            <a:endParaRPr sz="2200" b="1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https://docs.python.org/3/library/unittest.mock.html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Allows you to provide false </a:t>
            </a:r>
            <a:r>
              <a:rPr lang="en" i="1"/>
              <a:t>implementations</a:t>
            </a:r>
            <a:r>
              <a:rPr lang="en"/>
              <a:t>, </a:t>
            </a:r>
            <a:r>
              <a:rPr lang="en" i="1"/>
              <a:t>return values</a:t>
            </a:r>
            <a:r>
              <a:rPr lang="en"/>
              <a:t>, </a:t>
            </a:r>
            <a:r>
              <a:rPr lang="en" i="1"/>
              <a:t>exceptions</a:t>
            </a:r>
            <a:r>
              <a:rPr lang="en"/>
              <a:t>, and more for a particular function, module, or class.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the code under test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1671638"/>
            <a:ext cx="714375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@mock.patch</a:t>
            </a:r>
            <a:r>
              <a:rPr lang="en"/>
              <a:t> decorator</a:t>
            </a: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00" y="1581525"/>
            <a:ext cx="8678201" cy="23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/>
          <p:nvPr/>
        </p:nvSpPr>
        <p:spPr>
          <a:xfrm>
            <a:off x="1168175" y="2731700"/>
            <a:ext cx="30462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4385100" y="3027875"/>
            <a:ext cx="11952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1688650" y="3315050"/>
            <a:ext cx="48891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assert_called_with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" name="Google Shape;14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900" y="1201050"/>
            <a:ext cx="8638199" cy="33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/>
          <p:nvPr/>
        </p:nvSpPr>
        <p:spPr>
          <a:xfrm>
            <a:off x="2219500" y="4124900"/>
            <a:ext cx="49422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side_effect</a:t>
            </a:r>
            <a:r>
              <a:rPr lang="en"/>
              <a:t> to trigger an exception</a:t>
            </a:r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87" y="1152475"/>
            <a:ext cx="8738226" cy="383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/>
          <p:nvPr/>
        </p:nvSpPr>
        <p:spPr>
          <a:xfrm>
            <a:off x="2363300" y="3747100"/>
            <a:ext cx="57960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Wrapping a fake implementation</a:t>
            </a: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 rotWithShape="1">
          <a:blip r:embed="rId3">
            <a:alphaModFix/>
          </a:blip>
          <a:srcRect l="4627" r="4636"/>
          <a:stretch/>
        </p:blipFill>
        <p:spPr>
          <a:xfrm>
            <a:off x="191413" y="1287612"/>
            <a:ext cx="8761174" cy="31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/>
          <p:nvPr/>
        </p:nvSpPr>
        <p:spPr>
          <a:xfrm>
            <a:off x="4430050" y="3324775"/>
            <a:ext cx="21297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Nesting a mock to use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"/>
              <a:t> or other variables</a:t>
            </a:r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 rotWithShape="1">
          <a:blip r:embed="rId3">
            <a:alphaModFix/>
          </a:blip>
          <a:srcRect t="367" b="357"/>
          <a:stretch/>
        </p:blipFill>
        <p:spPr>
          <a:xfrm>
            <a:off x="155850" y="1439170"/>
            <a:ext cx="8832300" cy="284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/>
          <p:nvPr/>
        </p:nvSpPr>
        <p:spPr>
          <a:xfrm>
            <a:off x="1725300" y="3648250"/>
            <a:ext cx="72630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8"/>
          <p:cNvSpPr/>
          <p:nvPr/>
        </p:nvSpPr>
        <p:spPr>
          <a:xfrm>
            <a:off x="2178275" y="3090500"/>
            <a:ext cx="1879800" cy="395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Testing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UI testing?</a:t>
            </a:r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Test the user interface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GUI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CLI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Specifically, the visual elements, layout, and interactions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Lots of tools, but they get pretty complicated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Selenium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Cypress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1" name="Google Shape;19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101" y="405213"/>
            <a:ext cx="8666198" cy="433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testing</a:t>
            </a:r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825" y="1752600"/>
            <a:ext cx="280035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Streamlit’s AppTest</a:t>
            </a:r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your test function, create an “AppTest”: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 = AppTest.from_file("app.py").run()</a:t>
            </a:r>
            <a:endParaRPr sz="21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Assert that different content is what you expect it to be: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self.assertEqual(at.text[0].value,"Whatever the content should be")</a:t>
            </a:r>
            <a:endParaRPr sz="21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Interact with components: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at.button[0].click().run()</a:t>
            </a:r>
            <a:endParaRPr sz="2100" dirty="0"/>
          </a:p>
        </p:txBody>
      </p:sp>
      <p:grpSp>
        <p:nvGrpSpPr>
          <p:cNvPr id="205" name="Google Shape;205;p33"/>
          <p:cNvGrpSpPr/>
          <p:nvPr/>
        </p:nvGrpSpPr>
        <p:grpSpPr>
          <a:xfrm>
            <a:off x="2776625" y="917025"/>
            <a:ext cx="5140025" cy="1077900"/>
            <a:chOff x="2776625" y="917025"/>
            <a:chExt cx="5140025" cy="1077900"/>
          </a:xfrm>
        </p:grpSpPr>
        <p:sp>
          <p:nvSpPr>
            <p:cNvPr id="206" name="Google Shape;206;p33"/>
            <p:cNvSpPr/>
            <p:nvPr/>
          </p:nvSpPr>
          <p:spPr>
            <a:xfrm>
              <a:off x="2776625" y="1635825"/>
              <a:ext cx="1051500" cy="3591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3"/>
            <p:cNvSpPr txBox="1"/>
            <p:nvPr/>
          </p:nvSpPr>
          <p:spPr>
            <a:xfrm>
              <a:off x="4798450" y="917025"/>
              <a:ext cx="3118200" cy="71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Instead of importing the file normally, use </a:t>
              </a:r>
              <a:r>
                <a:rPr lang="en" sz="18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from_file</a:t>
              </a:r>
              <a:endParaRPr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08" name="Google Shape;208;p33"/>
            <p:cNvCxnSpPr>
              <a:stCxn id="207" idx="1"/>
              <a:endCxn id="206" idx="3"/>
            </p:cNvCxnSpPr>
            <p:nvPr/>
          </p:nvCxnSpPr>
          <p:spPr>
            <a:xfrm flipH="1">
              <a:off x="3828250" y="1276425"/>
              <a:ext cx="970200" cy="539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9" name="Google Shape;209;p33"/>
          <p:cNvGrpSpPr/>
          <p:nvPr/>
        </p:nvGrpSpPr>
        <p:grpSpPr>
          <a:xfrm>
            <a:off x="2534000" y="2895375"/>
            <a:ext cx="6378800" cy="1390475"/>
            <a:chOff x="2534000" y="2895375"/>
            <a:chExt cx="6378800" cy="1390475"/>
          </a:xfrm>
        </p:grpSpPr>
        <p:sp>
          <p:nvSpPr>
            <p:cNvPr id="210" name="Google Shape;210;p33"/>
            <p:cNvSpPr txBox="1"/>
            <p:nvPr/>
          </p:nvSpPr>
          <p:spPr>
            <a:xfrm>
              <a:off x="4851100" y="3028250"/>
              <a:ext cx="4061700" cy="125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Access UI elements by their type through the app test object. Here, [0] signifies that there might be many text elements, and we want the first one</a:t>
              </a:r>
              <a:endParaRPr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2534000" y="2895375"/>
              <a:ext cx="745800" cy="3036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2" name="Google Shape;212;p33"/>
            <p:cNvCxnSpPr>
              <a:stCxn id="210" idx="1"/>
              <a:endCxn id="211" idx="2"/>
            </p:cNvCxnSpPr>
            <p:nvPr/>
          </p:nvCxnSpPr>
          <p:spPr>
            <a:xfrm rot="10800000">
              <a:off x="2906800" y="3198950"/>
              <a:ext cx="1944300" cy="458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13" name="Google Shape;213;p33"/>
          <p:cNvGrpSpPr/>
          <p:nvPr/>
        </p:nvGrpSpPr>
        <p:grpSpPr>
          <a:xfrm>
            <a:off x="1770200" y="4116925"/>
            <a:ext cx="6056375" cy="906250"/>
            <a:chOff x="3576725" y="2967125"/>
            <a:chExt cx="6056375" cy="906250"/>
          </a:xfrm>
        </p:grpSpPr>
        <p:sp>
          <p:nvSpPr>
            <p:cNvPr id="214" name="Google Shape;214;p33"/>
            <p:cNvSpPr txBox="1"/>
            <p:nvPr/>
          </p:nvSpPr>
          <p:spPr>
            <a:xfrm>
              <a:off x="4851100" y="3198975"/>
              <a:ext cx="47820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Different interactive UI elements have different behaviors that you can trigger</a:t>
              </a:r>
              <a:endParaRPr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3576725" y="2967125"/>
              <a:ext cx="789000" cy="3036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6" name="Google Shape;216;p33"/>
            <p:cNvCxnSpPr>
              <a:stCxn id="214" idx="1"/>
              <a:endCxn id="215" idx="2"/>
            </p:cNvCxnSpPr>
            <p:nvPr/>
          </p:nvCxnSpPr>
          <p:spPr>
            <a:xfrm rot="10800000">
              <a:off x="3971200" y="3270675"/>
              <a:ext cx="879900" cy="2655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Mocking</a:t>
            </a:r>
            <a:endParaRPr/>
          </a:p>
        </p:txBody>
      </p:sp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From the Syllabus, clone the linked repository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 clone https://github.com/UWDATA515/testing_example.git</a:t>
            </a:r>
            <a:endParaRPr sz="17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Cd into the mocking_example directory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Look at the README and follow the directions to try mocking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Streamlit testing</a:t>
            </a:r>
            <a:endParaRPr/>
          </a:p>
        </p:txBody>
      </p:sp>
      <p:sp>
        <p:nvSpPr>
          <p:cNvPr id="228" name="Google Shape;22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same testing repository as before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 into the ui_testing_example directory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at the README and follow the directions to try adding tests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aren’t using Streamlit, feel free to use this opportunity to research what testing options exist for your user interface framework.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650</Words>
  <Application>Microsoft Office PowerPoint</Application>
  <PresentationFormat>On-screen Show (16:9)</PresentationFormat>
  <Paragraphs>91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Courier New</vt:lpstr>
      <vt:lpstr>Arial</vt:lpstr>
      <vt:lpstr>Roboto Mono</vt:lpstr>
      <vt:lpstr>Simple Light</vt:lpstr>
      <vt:lpstr>Software Design for Data Science</vt:lpstr>
      <vt:lpstr>Types of testing</vt:lpstr>
      <vt:lpstr>Types of testing</vt:lpstr>
      <vt:lpstr>Today</vt:lpstr>
      <vt:lpstr>Mocking</vt:lpstr>
      <vt:lpstr>Mocking: motivation</vt:lpstr>
      <vt:lpstr>Mocking: motivation</vt:lpstr>
      <vt:lpstr>Mocking: the problem</vt:lpstr>
      <vt:lpstr>Mocking</vt:lpstr>
      <vt:lpstr>Mocking in Python</vt:lpstr>
      <vt:lpstr>Example: the code under test</vt:lpstr>
      <vt:lpstr>Using the @mock.patch decorator</vt:lpstr>
      <vt:lpstr>Using assert_called_with</vt:lpstr>
      <vt:lpstr>Using side_effect to trigger an exception</vt:lpstr>
      <vt:lpstr>Wrapping a fake implementation</vt:lpstr>
      <vt:lpstr>Nesting a mock to use self or other variables</vt:lpstr>
      <vt:lpstr>UI Testing</vt:lpstr>
      <vt:lpstr>What is UI testing?</vt:lpstr>
      <vt:lpstr>PowerPoint Presentation</vt:lpstr>
      <vt:lpstr>UI testing</vt:lpstr>
      <vt:lpstr>How to use Streamlit’s AppTest</vt:lpstr>
      <vt:lpstr>Exercise: Mocking</vt:lpstr>
      <vt:lpstr>Exercise: Streamlit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1</cp:revision>
  <dcterms:modified xsi:type="dcterms:W3CDTF">2026-03-03T02:29:34Z</dcterms:modified>
</cp:coreProperties>
</file>