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128e84e29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128e84e29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28e84e29d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128e84e29d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128e84e29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128e84e29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128e84e29d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128e84e29d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128e84e2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128e84e29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128e84e29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128e84e29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128e84e29d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128e84e29d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128e84e29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128e84e29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128e84e29d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128e84e29d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128e84e29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128e84e29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128e84e29d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128e84e29d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128e84e29d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128e84e29d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128e84e29d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128e84e29d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128e84e29d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128e84e29d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128e84e29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128e84e29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128e84e29d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128e84e29d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128e84e29d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128e84e29d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128e84e29d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128e84e29d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128e84e29d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128e84e29d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128e84e29d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128e84e29d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6a09621c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6a09621c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6a09621cc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6a09621cc8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128e84e29d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128e84e29d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128e84e29d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128e84e29d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128e84e29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128e84e29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i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825" y="95825"/>
            <a:ext cx="8925324" cy="4961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opy.sh/v86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rtualbox.or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YA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emver.org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Software Design for Data Science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Environments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Naomi Alterman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University of Washington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February 17,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Danni is working on a project.</a:t>
            </a:r>
            <a:endParaRPr dirty="0"/>
          </a:p>
          <a:p>
            <a:pPr lvl="0"/>
            <a:r>
              <a:rPr lang="en" dirty="0"/>
              <a:t>Danni installs scikit-learn to use in the project.</a:t>
            </a:r>
            <a:endParaRPr dirty="0"/>
          </a:p>
          <a:p>
            <a:pPr lvl="0"/>
            <a:r>
              <a:rPr lang="en" dirty="0"/>
              <a:t>Danni writes great tests, which pass!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Naomi wants to contribute to the GitHub repository</a:t>
            </a:r>
            <a:endParaRPr dirty="0"/>
          </a:p>
          <a:p>
            <a:pPr lvl="0"/>
            <a:r>
              <a:rPr lang="en" dirty="0"/>
              <a:t>Naomi clones the repository</a:t>
            </a:r>
            <a:endParaRPr dirty="0"/>
          </a:p>
          <a:p>
            <a:pPr lvl="0"/>
            <a:r>
              <a:rPr lang="en" dirty="0"/>
              <a:t>Nothing works for Naomi because she hasn’t installed scikit-learn (or any other packages required by the project)!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problem: dependency hell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Dependency chains (A depends on B depends on C …)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Conflicting dependencies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Circular dependencies (A depends on B depends on A)</a:t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063" y="2302450"/>
            <a:ext cx="433387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problem, continued</a:t>
            </a: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" dirty="0"/>
              <a:t>Naomi and Danni may be using different systems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Mac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Windows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Naomi and Danni may have different versions of Python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Naomi and Danni may have different Python packages installed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need a way so that the code will always work for both Naomi &amp; Danni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And for anyone else who wants to use the package!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Abstraction for Naomi &amp; Danni</a:t>
            </a:r>
            <a:endParaRPr dirty="0"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/>
              <a:t>We want to hide away the details of the underlying system and make it so that when Naomi &amp; Danni work on the project, they see the same things:</a:t>
            </a:r>
            <a:endParaRPr sz="2100" dirty="0"/>
          </a:p>
          <a:p>
            <a:pPr marL="1371600" lvl="1" indent="-336550" algn="l" rtl="0">
              <a:spcBef>
                <a:spcPts val="1200"/>
              </a:spcBef>
              <a:spcAft>
                <a:spcPts val="0"/>
              </a:spcAft>
              <a:buSzPts val="1700"/>
              <a:buChar char="○"/>
            </a:pPr>
            <a:r>
              <a:rPr lang="en" sz="1700" dirty="0"/>
              <a:t>The same Python version</a:t>
            </a:r>
            <a:endParaRPr sz="1700" dirty="0"/>
          </a:p>
          <a:p>
            <a:pPr marL="13716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dirty="0"/>
              <a:t>The same packages</a:t>
            </a:r>
            <a:endParaRPr sz="1700" dirty="0"/>
          </a:p>
          <a:p>
            <a:pPr marL="13716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dirty="0"/>
              <a:t>The same package versions</a:t>
            </a:r>
            <a:endParaRPr sz="1700" dirty="0"/>
          </a:p>
          <a:p>
            <a:pPr marL="13716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dirty="0"/>
              <a:t>etc</a:t>
            </a:r>
            <a:endParaRPr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Virtualization</a:t>
            </a: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The act of creating a virtual (rather than actual) version of something at the same abstraction level, such as an environment, process, operating system, or hardware.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Virtual Machines</a:t>
            </a:r>
            <a:endParaRPr dirty="0"/>
          </a:p>
        </p:txBody>
      </p:sp>
      <p:pic>
        <p:nvPicPr>
          <p:cNvPr id="1030" name="Picture 6" descr="Intel Windows not coming to M1 VMware Fusion, ARM Windows licensing unclear  | AppleInsider">
            <a:extLst>
              <a:ext uri="{FF2B5EF4-FFF2-40B4-BE49-F238E27FC236}">
                <a16:creationId xmlns:a16="http://schemas.microsoft.com/office/drawing/2014/main" id="{B927F63D-AFF2-0266-8CCA-2048EAEFE5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84"/>
          <a:stretch>
            <a:fillRect/>
          </a:stretch>
        </p:blipFill>
        <p:spPr bwMode="auto">
          <a:xfrm>
            <a:off x="435395" y="3144266"/>
            <a:ext cx="4326098" cy="178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2EDC70-FD0C-31F8-113D-6725C9DA3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557" y="318217"/>
            <a:ext cx="4875048" cy="3356410"/>
          </a:xfrm>
          <a:prstGeom prst="rect">
            <a:avLst/>
          </a:prstGeom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AF8DF35A-A0D8-2ABE-E7D3-08B59E178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482" y="1147141"/>
            <a:ext cx="1997125" cy="199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BF3701-D1DF-A0A1-2578-0003A07D05A9}"/>
              </a:ext>
            </a:extLst>
          </p:cNvPr>
          <p:cNvSpPr txBox="1"/>
          <p:nvPr/>
        </p:nvSpPr>
        <p:spPr>
          <a:xfrm>
            <a:off x="7070035" y="3801435"/>
            <a:ext cx="17622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https://copy.sh/v86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 - WSL</a:t>
            </a:r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3738" y="1152474"/>
            <a:ext cx="6776525" cy="379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 - VirtualBox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https://www.virtualbox.org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 source, free, and just works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processor level virtualization instructions to operate guest operating system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Choose the right guest type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Allocate enough resources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Always install guest additions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9775" y="2271625"/>
            <a:ext cx="3530100" cy="264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 - EC2</a:t>
            </a:r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Start with a base operating system image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Install software you want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Create any data volumes, etc. you want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Halt the instance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Make an Amazon Machine Image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Publish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Pay for S3 storage, use a paid AMI model...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Virtualization of Python environments</a:t>
            </a:r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For Naomi &amp; Danni, we need to virtualize </a:t>
            </a:r>
            <a:r>
              <a:rPr lang="en" sz="2300" i="1" dirty="0"/>
              <a:t>environment</a:t>
            </a:r>
            <a:endParaRPr sz="23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 dirty="0"/>
              <a:t>Python version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 dirty="0"/>
              <a:t>Package dependency versions</a:t>
            </a:r>
            <a:endParaRPr sz="19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Separate your </a:t>
            </a:r>
            <a:r>
              <a:rPr lang="en" sz="2300" i="1" dirty="0"/>
              <a:t>computer’s</a:t>
            </a:r>
            <a:r>
              <a:rPr lang="en" sz="2300" dirty="0"/>
              <a:t> Python/packages from the </a:t>
            </a:r>
            <a:r>
              <a:rPr lang="en" sz="2300" i="1" dirty="0"/>
              <a:t>project’s</a:t>
            </a:r>
            <a:r>
              <a:rPr lang="en" sz="2300" dirty="0"/>
              <a:t> Python/packages</a:t>
            </a:r>
            <a:endParaRPr sz="23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Multiple options</a:t>
            </a:r>
            <a:endParaRPr sz="23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 dirty="0"/>
              <a:t>venv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 dirty="0"/>
              <a:t>u</a:t>
            </a:r>
            <a:r>
              <a:rPr lang="en" sz="1900" dirty="0"/>
              <a:t>v</a:t>
            </a: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 dirty="0"/>
              <a:t>poetry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 dirty="0"/>
              <a:t>conda</a:t>
            </a:r>
            <a:endParaRPr sz="1900" dirty="0"/>
          </a:p>
        </p:txBody>
      </p:sp>
      <p:sp>
        <p:nvSpPr>
          <p:cNvPr id="136" name="Google Shape;136;p24"/>
          <p:cNvSpPr/>
          <p:nvPr/>
        </p:nvSpPr>
        <p:spPr>
          <a:xfrm>
            <a:off x="1199625" y="4535574"/>
            <a:ext cx="954900" cy="293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1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1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1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Conda Virtual Environments</a:t>
            </a:r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conda create -n &lt;name&gt;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Creates a new environment with the given name</a:t>
            </a:r>
          </a:p>
          <a:p>
            <a:pPr marL="425450" indent="-285750">
              <a:buSzPts val="1400"/>
            </a:pP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conda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create -n &lt;name&gt; python==&lt;python version&gt;</a:t>
            </a:r>
          </a:p>
          <a:p>
            <a:pPr marL="882650" lvl="1" indent="-285750"/>
            <a:r>
              <a:rPr lang="en" dirty="0"/>
              <a:t>Creates a new environment with a specific Python version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conda activate &lt;name&gt;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“Activates” the environment (“switches into it”, like a git branch)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Anything you do now will affect only the </a:t>
            </a:r>
            <a:r>
              <a:rPr lang="en" i="1" dirty="0"/>
              <a:t>current</a:t>
            </a:r>
            <a:r>
              <a:rPr lang="en" dirty="0"/>
              <a:t> environment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Installing packages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Updating package versions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conda deactivate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“Deactivates” the environment (“switches off of it”, like switching back to git’s main branch)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conda remove --name &lt;name&gt; --all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Deletes the environment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conda info --envs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Lists all the environments that exist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"/>
                                        <p:tgtEl>
                                          <p:spTgt spid="1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"/>
                                        <p:tgtEl>
                                          <p:spTgt spid="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"/>
                                        <p:tgtEl>
                                          <p:spTgt spid="1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"/>
                                        <p:tgtEl>
                                          <p:spTgt spid="1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"/>
                                        <p:tgtEl>
                                          <p:spTgt spid="1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"/>
                                        <p:tgtEl>
                                          <p:spTgt spid="1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Exercise: Create a Python Virtual Environment</a:t>
            </a:r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dirty="0"/>
              <a:t>Create a conda environment for SPECIFICALLY Python 3.11.6</a:t>
            </a:r>
            <a:endParaRPr sz="22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○"/>
            </a:pPr>
            <a:r>
              <a:rPr lang="en" sz="1800" dirty="0">
                <a:solidFill>
                  <a:schemeClr val="accent3"/>
                </a:solidFill>
              </a:rPr>
              <a:t>Hint: use </a:t>
            </a:r>
            <a:r>
              <a:rPr lang="en" sz="1800" dirty="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conda create</a:t>
            </a:r>
            <a:endParaRPr sz="1800" dirty="0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○"/>
            </a:pPr>
            <a:r>
              <a:rPr lang="en" sz="1800" dirty="0">
                <a:solidFill>
                  <a:schemeClr val="accent3"/>
                </a:solidFill>
              </a:rPr>
              <a:t>Hint: don’t forget to activate the environment!</a:t>
            </a:r>
            <a:br>
              <a:rPr lang="en" sz="1800" dirty="0">
                <a:solidFill>
                  <a:schemeClr val="accent3"/>
                </a:solidFill>
              </a:rPr>
            </a:br>
            <a:endParaRPr sz="1800" dirty="0">
              <a:solidFill>
                <a:schemeClr val="accent3"/>
              </a:solidFill>
            </a:endParaRPr>
          </a:p>
          <a:p>
            <a:pPr lvl="0" indent="-368300">
              <a:buSzPts val="2200"/>
            </a:pPr>
            <a:r>
              <a:rPr lang="en" sz="2200" dirty="0"/>
              <a:t>Start a Python intrepreter Jupyter notebook and prove that it’s Python 3.11.6</a:t>
            </a:r>
            <a:endParaRPr sz="2200" dirty="0"/>
          </a:p>
          <a:p>
            <a:pPr lvl="1" indent="-342900">
              <a:buClr>
                <a:schemeClr val="accent3"/>
              </a:buClr>
              <a:buSzPts val="1800"/>
            </a:pPr>
            <a:r>
              <a:rPr lang="en-US" sz="1800" dirty="0">
                <a:solidFill>
                  <a:schemeClr val="accent3"/>
                </a:solidFill>
              </a:rPr>
              <a:t>You’ll need to </a:t>
            </a:r>
            <a:r>
              <a:rPr lang="en-US" sz="1800" dirty="0" err="1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conda</a:t>
            </a:r>
            <a:r>
              <a:rPr lang="en-US" sz="1800" dirty="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 install</a:t>
            </a:r>
            <a:r>
              <a:rPr lang="en-US" sz="1800" dirty="0">
                <a:solidFill>
                  <a:schemeClr val="accent3"/>
                </a:solidFill>
              </a:rPr>
              <a:t> the package for </a:t>
            </a:r>
            <a:r>
              <a:rPr lang="en-US" sz="1800" dirty="0" err="1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jupyterlab</a:t>
            </a:r>
            <a:r>
              <a:rPr lang="en-US" sz="1800" dirty="0">
                <a:solidFill>
                  <a:schemeClr val="accent3"/>
                </a:solidFill>
              </a:rPr>
              <a:t> to start a notebook in your new environment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○"/>
            </a:pPr>
            <a:r>
              <a:rPr lang="en" sz="1800" dirty="0">
                <a:solidFill>
                  <a:schemeClr val="accent3"/>
                </a:solidFill>
              </a:rPr>
              <a:t>Hint: check out the </a:t>
            </a:r>
            <a:r>
              <a:rPr lang="en" sz="1800" dirty="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platform</a:t>
            </a:r>
            <a:r>
              <a:rPr lang="en" sz="1800" dirty="0">
                <a:solidFill>
                  <a:schemeClr val="accent3"/>
                </a:solidFill>
              </a:rPr>
              <a:t> module for how you might access the Python version</a:t>
            </a:r>
            <a:endParaRPr sz="18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Virtual Environments</a:t>
            </a:r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just happened?</a:t>
            </a:r>
            <a:endParaRPr/>
          </a:p>
        </p:txBody>
      </p:sp>
      <p:sp>
        <p:nvSpPr>
          <p:cNvPr id="155" name="Google Shape;155;p27"/>
          <p:cNvSpPr/>
          <p:nvPr/>
        </p:nvSpPr>
        <p:spPr>
          <a:xfrm>
            <a:off x="853150" y="2085475"/>
            <a:ext cx="7248000" cy="2483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7"/>
          <p:cNvSpPr txBox="1"/>
          <p:nvPr/>
        </p:nvSpPr>
        <p:spPr>
          <a:xfrm>
            <a:off x="1108350" y="2085475"/>
            <a:ext cx="2340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computer</a:t>
            </a:r>
            <a:endParaRPr/>
          </a:p>
        </p:txBody>
      </p:sp>
      <p:sp>
        <p:nvSpPr>
          <p:cNvPr id="157" name="Google Shape;157;p27"/>
          <p:cNvSpPr/>
          <p:nvPr/>
        </p:nvSpPr>
        <p:spPr>
          <a:xfrm>
            <a:off x="1108350" y="2784650"/>
            <a:ext cx="1473000" cy="1328100"/>
          </a:xfrm>
          <a:prstGeom prst="ellipse">
            <a:avLst/>
          </a:prstGeom>
          <a:solidFill>
            <a:srgbClr val="0944A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Python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2748275" y="2726000"/>
            <a:ext cx="1583100" cy="1445400"/>
          </a:xfrm>
          <a:prstGeom prst="ellipse">
            <a:avLst/>
          </a:prstGeom>
          <a:solidFill>
            <a:srgbClr val="0944A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Conda-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installed packages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59" name="Google Shape;159;p27"/>
          <p:cNvGrpSpPr/>
          <p:nvPr/>
        </p:nvGrpSpPr>
        <p:grpSpPr>
          <a:xfrm>
            <a:off x="5169925" y="2306900"/>
            <a:ext cx="2537700" cy="1864500"/>
            <a:chOff x="5169925" y="2306900"/>
            <a:chExt cx="2537700" cy="1864500"/>
          </a:xfrm>
        </p:grpSpPr>
        <p:sp>
          <p:nvSpPr>
            <p:cNvPr id="160" name="Google Shape;160;p27"/>
            <p:cNvSpPr/>
            <p:nvPr/>
          </p:nvSpPr>
          <p:spPr>
            <a:xfrm>
              <a:off x="5169925" y="2306900"/>
              <a:ext cx="2537700" cy="1864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Conda virtual environment</a:t>
              </a:r>
              <a:endParaRPr/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5242825" y="2787025"/>
              <a:ext cx="1130100" cy="1080300"/>
            </a:xfrm>
            <a:prstGeom prst="ellipse">
              <a:avLst/>
            </a:prstGeom>
            <a:solidFill>
              <a:srgbClr val="0944A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</a:rPr>
                <a:t>Python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6488250" y="2764825"/>
              <a:ext cx="1182900" cy="1124700"/>
            </a:xfrm>
            <a:prstGeom prst="ellipse">
              <a:avLst/>
            </a:prstGeom>
            <a:solidFill>
              <a:srgbClr val="0944A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</a:rPr>
                <a:t>Conda-</a:t>
              </a:r>
              <a:endParaRPr sz="1200">
                <a:solidFill>
                  <a:schemeClr val="lt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</a:rPr>
                <a:t>installed packages</a:t>
              </a:r>
              <a:endParaRPr sz="1200">
                <a:solidFill>
                  <a:schemeClr val="lt1"/>
                </a:solidFill>
              </a:endParaRPr>
            </a:p>
          </p:txBody>
        </p:sp>
      </p:grpSp>
      <p:grpSp>
        <p:nvGrpSpPr>
          <p:cNvPr id="163" name="Google Shape;163;p27"/>
          <p:cNvGrpSpPr/>
          <p:nvPr/>
        </p:nvGrpSpPr>
        <p:grpSpPr>
          <a:xfrm>
            <a:off x="4331425" y="3113150"/>
            <a:ext cx="838500" cy="461700"/>
            <a:chOff x="4331425" y="3113150"/>
            <a:chExt cx="838500" cy="461700"/>
          </a:xfrm>
        </p:grpSpPr>
        <p:cxnSp>
          <p:nvCxnSpPr>
            <p:cNvPr id="164" name="Google Shape;164;p27"/>
            <p:cNvCxnSpPr>
              <a:stCxn id="160" idx="1"/>
              <a:endCxn id="158" idx="6"/>
            </p:cNvCxnSpPr>
            <p:nvPr/>
          </p:nvCxnSpPr>
          <p:spPr>
            <a:xfrm flipH="1">
              <a:off x="4331425" y="3239150"/>
              <a:ext cx="838500" cy="2097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5" name="Google Shape;165;p27"/>
            <p:cNvSpPr txBox="1"/>
            <p:nvPr/>
          </p:nvSpPr>
          <p:spPr>
            <a:xfrm>
              <a:off x="4580600" y="3113150"/>
              <a:ext cx="546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</a:rPr>
                <a:t>X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Sharing your virtual environment</a:t>
            </a:r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ourier New"/>
              <a:buChar char="●"/>
            </a:pPr>
            <a:r>
              <a:rPr lang="en" sz="2100">
                <a:latin typeface="Courier New"/>
                <a:ea typeface="Courier New"/>
                <a:cs typeface="Courier New"/>
                <a:sym typeface="Courier New"/>
              </a:rPr>
              <a:t>conda env export &gt; environment.yml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Encodes all of the Python and package information in your environment to environment.yml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Format is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YAML</a:t>
            </a:r>
            <a:r>
              <a:rPr lang="en" sz="1700"/>
              <a:t>, a human-readable data serialization language</a:t>
            </a:r>
            <a:endParaRPr sz="17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ourier New"/>
              <a:buChar char="●"/>
            </a:pPr>
            <a:r>
              <a:rPr lang="en" sz="2100">
                <a:latin typeface="Courier New"/>
                <a:ea typeface="Courier New"/>
                <a:cs typeface="Courier New"/>
                <a:sym typeface="Courier New"/>
              </a:rPr>
              <a:t>conda env create -f environment.yml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Creates a new environment from a file, with all of its specified packages</a:t>
            </a:r>
            <a:endParaRPr sz="17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ourier New"/>
              <a:buChar char="●"/>
            </a:pPr>
            <a:r>
              <a:rPr lang="en" sz="2100">
                <a:latin typeface="Courier New"/>
                <a:ea typeface="Courier New"/>
                <a:cs typeface="Courier New"/>
                <a:sym typeface="Courier New"/>
              </a:rPr>
              <a:t>conda env update -f environment.yml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Updates your environment to match the environment.yml file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Useful if your teammates are adding packages - do it after you pull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Useful to upgrade packages</a:t>
            </a:r>
            <a:endParaRPr sz="17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Always commit the </a:t>
            </a:r>
            <a:r>
              <a:rPr lang="en" sz="2100">
                <a:latin typeface="Courier New"/>
                <a:ea typeface="Courier New"/>
                <a:cs typeface="Courier New"/>
                <a:sym typeface="Courier New"/>
              </a:rPr>
              <a:t>environment.yml</a:t>
            </a:r>
            <a:r>
              <a:rPr lang="en" sz="2100"/>
              <a:t> file to the repository!</a:t>
            </a:r>
            <a:endParaRPr sz="2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"/>
                                        <p:tgtEl>
                                          <p:spTgt spid="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Exercise: Create an environment.yml file</a:t>
            </a:r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 your Python 3.11.6 environment: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Create an environment.yml file: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conda env export &gt; environment.yml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Delete the existing environment so that we can practice creating from yml: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conda deactivate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conda remove --name &lt;name&gt; --all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Recreate the environment from the yml file: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conda env create -f environment.yml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Prove that it works - start up your Jupyter notebook again.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Generated environment.yml</a:t>
            </a:r>
            <a:endParaRPr/>
          </a:p>
        </p:txBody>
      </p:sp>
      <p:sp>
        <p:nvSpPr>
          <p:cNvPr id="183" name="Google Shape;18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93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name: py3116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channels: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defaults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dependencies: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anyio=3.5.0=py38hca03da5_0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appnope=0.1.2=py38hca03da5_1001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argon2-cffi=21.3.0=pyhd3eb1b0_0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argon2-cffi-bindings=21.2.0=py38h1a28f6b_0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asttokens=2.0.5=pyhd3eb1b0_0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attrs=22.1.0=py38hca03da5_0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babel=2.11.0=py38hca03da5_0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backcall=0.2.0=pyhd3eb1b0_0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beautifulsoup4=4.11.1=py38hca03da5_0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bleach=4.1.0=pyhd3eb1b0_0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brotlipy=0.7.0=py38h1a28f6b_1002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…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prefix: /Users/naomialterman/opt/miniconda3/envs/py3116</a:t>
            </a:r>
            <a:endParaRPr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84" name="Google Shape;184;p30"/>
          <p:cNvGrpSpPr/>
          <p:nvPr/>
        </p:nvGrpSpPr>
        <p:grpSpPr>
          <a:xfrm>
            <a:off x="354650" y="1350400"/>
            <a:ext cx="5137425" cy="615600"/>
            <a:chOff x="354650" y="1350400"/>
            <a:chExt cx="5137425" cy="615600"/>
          </a:xfrm>
        </p:grpSpPr>
        <p:sp>
          <p:nvSpPr>
            <p:cNvPr id="185" name="Google Shape;185;p30"/>
            <p:cNvSpPr/>
            <p:nvPr/>
          </p:nvSpPr>
          <p:spPr>
            <a:xfrm>
              <a:off x="354650" y="1456900"/>
              <a:ext cx="1696500" cy="4026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0"/>
            <p:cNvSpPr txBox="1"/>
            <p:nvPr/>
          </p:nvSpPr>
          <p:spPr>
            <a:xfrm>
              <a:off x="2501675" y="1350400"/>
              <a:ext cx="2990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Where Conda can find packages (default location)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187" name="Google Shape;187;p30"/>
            <p:cNvCxnSpPr>
              <a:stCxn id="186" idx="1"/>
              <a:endCxn id="185" idx="3"/>
            </p:cNvCxnSpPr>
            <p:nvPr/>
          </p:nvCxnSpPr>
          <p:spPr>
            <a:xfrm rot="10800000">
              <a:off x="2051075" y="1658200"/>
              <a:ext cx="4506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88" name="Google Shape;188;p30"/>
          <p:cNvGrpSpPr/>
          <p:nvPr/>
        </p:nvGrpSpPr>
        <p:grpSpPr>
          <a:xfrm>
            <a:off x="354650" y="1141825"/>
            <a:ext cx="5137425" cy="400200"/>
            <a:chOff x="354650" y="1474500"/>
            <a:chExt cx="5137425" cy="400200"/>
          </a:xfrm>
        </p:grpSpPr>
        <p:sp>
          <p:nvSpPr>
            <p:cNvPr id="189" name="Google Shape;189;p30"/>
            <p:cNvSpPr/>
            <p:nvPr/>
          </p:nvSpPr>
          <p:spPr>
            <a:xfrm>
              <a:off x="354650" y="1549950"/>
              <a:ext cx="1696500" cy="2493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0"/>
            <p:cNvSpPr txBox="1"/>
            <p:nvPr/>
          </p:nvSpPr>
          <p:spPr>
            <a:xfrm>
              <a:off x="2501675" y="1474500"/>
              <a:ext cx="2990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Name for the environment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191" name="Google Shape;191;p30"/>
            <p:cNvCxnSpPr>
              <a:stCxn id="190" idx="1"/>
              <a:endCxn id="189" idx="3"/>
            </p:cNvCxnSpPr>
            <p:nvPr/>
          </p:nvCxnSpPr>
          <p:spPr>
            <a:xfrm rot="10800000">
              <a:off x="2051075" y="1674600"/>
              <a:ext cx="4506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92" name="Google Shape;192;p30"/>
          <p:cNvGrpSpPr/>
          <p:nvPr/>
        </p:nvGrpSpPr>
        <p:grpSpPr>
          <a:xfrm>
            <a:off x="554975" y="1723250"/>
            <a:ext cx="8108750" cy="2685900"/>
            <a:chOff x="-2616675" y="1350400"/>
            <a:chExt cx="8108750" cy="2685900"/>
          </a:xfrm>
        </p:grpSpPr>
        <p:sp>
          <p:nvSpPr>
            <p:cNvPr id="193" name="Google Shape;193;p30"/>
            <p:cNvSpPr/>
            <p:nvPr/>
          </p:nvSpPr>
          <p:spPr>
            <a:xfrm>
              <a:off x="-2616675" y="1658200"/>
              <a:ext cx="5751900" cy="23781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0"/>
            <p:cNvSpPr txBox="1"/>
            <p:nvPr/>
          </p:nvSpPr>
          <p:spPr>
            <a:xfrm>
              <a:off x="3480275" y="1350400"/>
              <a:ext cx="2011800" cy="233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All the packages that conda has installed in this environment</a:t>
              </a:r>
              <a:endParaRPr>
                <a:solidFill>
                  <a:srgbClr val="FF0000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This includes transitive dependencies (ie the packages that Jupyter depends on)</a:t>
              </a:r>
              <a:endParaRPr>
                <a:solidFill>
                  <a:srgbClr val="FF0000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A LOT!!!!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195" name="Google Shape;195;p30"/>
            <p:cNvCxnSpPr>
              <a:stCxn id="194" idx="1"/>
              <a:endCxn id="193" idx="3"/>
            </p:cNvCxnSpPr>
            <p:nvPr/>
          </p:nvCxnSpPr>
          <p:spPr>
            <a:xfrm flipH="1">
              <a:off x="3135275" y="2520250"/>
              <a:ext cx="345000" cy="3270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96" name="Google Shape;196;p30"/>
          <p:cNvGrpSpPr/>
          <p:nvPr/>
        </p:nvGrpSpPr>
        <p:grpSpPr>
          <a:xfrm>
            <a:off x="354650" y="2949850"/>
            <a:ext cx="8430175" cy="1861900"/>
            <a:chOff x="397600" y="-29825"/>
            <a:chExt cx="8430175" cy="1861900"/>
          </a:xfrm>
        </p:grpSpPr>
        <p:sp>
          <p:nvSpPr>
            <p:cNvPr id="197" name="Google Shape;197;p30"/>
            <p:cNvSpPr/>
            <p:nvPr/>
          </p:nvSpPr>
          <p:spPr>
            <a:xfrm>
              <a:off x="397600" y="1429475"/>
              <a:ext cx="7744500" cy="4026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0"/>
            <p:cNvSpPr txBox="1"/>
            <p:nvPr/>
          </p:nvSpPr>
          <p:spPr>
            <a:xfrm>
              <a:off x="6177275" y="-29825"/>
              <a:ext cx="26505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Where Conda stores the environment on your system.</a:t>
              </a:r>
              <a:endParaRPr>
                <a:solidFill>
                  <a:srgbClr val="FF0000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Not necessary for other people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199" name="Google Shape;199;p30"/>
            <p:cNvCxnSpPr>
              <a:stCxn id="198" idx="2"/>
            </p:cNvCxnSpPr>
            <p:nvPr/>
          </p:nvCxnSpPr>
          <p:spPr>
            <a:xfrm flipH="1">
              <a:off x="6378425" y="1016875"/>
              <a:ext cx="1124100" cy="4029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00" name="Google Shape;200;p30"/>
          <p:cNvSpPr/>
          <p:nvPr/>
        </p:nvSpPr>
        <p:spPr>
          <a:xfrm>
            <a:off x="102325" y="4354575"/>
            <a:ext cx="8561400" cy="503400"/>
          </a:xfrm>
          <a:prstGeom prst="mathMultiply">
            <a:avLst>
              <a:gd name="adj1" fmla="val 5508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Simpler environment.yml</a:t>
            </a:r>
            <a:endParaRPr/>
          </a:p>
        </p:txBody>
      </p:sp>
      <p:sp>
        <p:nvSpPr>
          <p:cNvPr id="206" name="Google Shape;206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93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name: py3116</a:t>
            </a: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channels:</a:t>
            </a: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defaults</a:t>
            </a: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dependencies:</a:t>
            </a: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jupyterlab=4.5.4</a:t>
            </a: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python=3.11.6</a:t>
            </a: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3709350" y="2017650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lang="en" sz="2000">
                <a:solidFill>
                  <a:srgbClr val="FF0000"/>
                </a:solidFill>
              </a:rPr>
              <a:t>No prefix</a:t>
            </a:r>
            <a:endParaRPr sz="2000">
              <a:solidFill>
                <a:srgbClr val="FF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lang="en" sz="2000">
                <a:solidFill>
                  <a:srgbClr val="FF0000"/>
                </a:solidFill>
              </a:rPr>
              <a:t>Only explicitly needed dependencies</a:t>
            </a:r>
            <a:endParaRPr sz="2000">
              <a:solidFill>
                <a:srgbClr val="FF0000"/>
              </a:solidFill>
            </a:endParaRPr>
          </a:p>
        </p:txBody>
      </p:sp>
      <p:grpSp>
        <p:nvGrpSpPr>
          <p:cNvPr id="208" name="Google Shape;208;p31"/>
          <p:cNvGrpSpPr/>
          <p:nvPr/>
        </p:nvGrpSpPr>
        <p:grpSpPr>
          <a:xfrm>
            <a:off x="2604171" y="2453656"/>
            <a:ext cx="4829713" cy="1255900"/>
            <a:chOff x="2019451" y="1931950"/>
            <a:chExt cx="4900774" cy="1255900"/>
          </a:xfrm>
        </p:grpSpPr>
        <p:sp>
          <p:nvSpPr>
            <p:cNvPr id="209" name="Google Shape;209;p31"/>
            <p:cNvSpPr txBox="1"/>
            <p:nvPr/>
          </p:nvSpPr>
          <p:spPr>
            <a:xfrm>
              <a:off x="3929825" y="2787650"/>
              <a:ext cx="2990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What does this number mean?</a:t>
              </a:r>
              <a:endParaRPr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0" name="Google Shape;210;p31"/>
            <p:cNvSpPr/>
            <p:nvPr/>
          </p:nvSpPr>
          <p:spPr>
            <a:xfrm>
              <a:off x="2019451" y="1931950"/>
              <a:ext cx="924000" cy="3570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1" name="Google Shape;211;p31"/>
            <p:cNvCxnSpPr>
              <a:stCxn id="209" idx="1"/>
              <a:endCxn id="210" idx="3"/>
            </p:cNvCxnSpPr>
            <p:nvPr/>
          </p:nvCxnSpPr>
          <p:spPr>
            <a:xfrm rot="10800000">
              <a:off x="2943425" y="2110550"/>
              <a:ext cx="986400" cy="87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 Package Versioning</a:t>
            </a:r>
            <a:endParaRPr/>
          </a:p>
        </p:txBody>
      </p:sp>
      <p:sp>
        <p:nvSpPr>
          <p:cNvPr id="217" name="Google Shape;217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Also known as “</a:t>
            </a:r>
            <a:r>
              <a:rPr lang="en" sz="2400" u="sng" dirty="0">
                <a:solidFill>
                  <a:schemeClr val="hlink"/>
                </a:solidFill>
                <a:hlinkClick r:id="rId3"/>
              </a:rPr>
              <a:t>semver</a:t>
            </a:r>
            <a:r>
              <a:rPr lang="en" sz="2400" dirty="0"/>
              <a:t>”</a:t>
            </a:r>
            <a:endParaRPr sz="24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 dirty="0"/>
              <a:t>4.5.4</a:t>
            </a:r>
            <a:endParaRPr sz="2400" dirty="0"/>
          </a:p>
        </p:txBody>
      </p:sp>
      <p:grpSp>
        <p:nvGrpSpPr>
          <p:cNvPr id="218" name="Google Shape;218;p32"/>
          <p:cNvGrpSpPr/>
          <p:nvPr/>
        </p:nvGrpSpPr>
        <p:grpSpPr>
          <a:xfrm>
            <a:off x="517575" y="2365650"/>
            <a:ext cx="3910550" cy="1956925"/>
            <a:chOff x="517575" y="2365650"/>
            <a:chExt cx="3910550" cy="1956925"/>
          </a:xfrm>
        </p:grpSpPr>
        <p:sp>
          <p:nvSpPr>
            <p:cNvPr id="219" name="Google Shape;219;p32"/>
            <p:cNvSpPr txBox="1"/>
            <p:nvPr/>
          </p:nvSpPr>
          <p:spPr>
            <a:xfrm>
              <a:off x="517575" y="3152875"/>
              <a:ext cx="26166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/>
                <a:t>Major version number</a:t>
              </a:r>
              <a:endParaRPr sz="1600" b="1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This changes when the package has</a:t>
              </a:r>
              <a:endParaRPr sz="160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BREAKING CHANGES</a:t>
              </a:r>
              <a:endParaRPr sz="1600"/>
            </a:p>
          </p:txBody>
        </p:sp>
        <p:cxnSp>
          <p:nvCxnSpPr>
            <p:cNvPr id="220" name="Google Shape;220;p32"/>
            <p:cNvCxnSpPr>
              <a:stCxn id="219" idx="0"/>
              <a:endCxn id="221" idx="1"/>
            </p:cNvCxnSpPr>
            <p:nvPr/>
          </p:nvCxnSpPr>
          <p:spPr>
            <a:xfrm rot="10800000" flipH="1">
              <a:off x="1825875" y="2571775"/>
              <a:ext cx="2295600" cy="581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1" name="Google Shape;221;p32"/>
            <p:cNvSpPr/>
            <p:nvPr/>
          </p:nvSpPr>
          <p:spPr>
            <a:xfrm>
              <a:off x="4121525" y="2365650"/>
              <a:ext cx="306600" cy="4122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32"/>
          <p:cNvGrpSpPr/>
          <p:nvPr/>
        </p:nvGrpSpPr>
        <p:grpSpPr>
          <a:xfrm>
            <a:off x="4667625" y="2365650"/>
            <a:ext cx="3771600" cy="1710625"/>
            <a:chOff x="4667625" y="2365650"/>
            <a:chExt cx="3771600" cy="1710625"/>
          </a:xfrm>
        </p:grpSpPr>
        <p:sp>
          <p:nvSpPr>
            <p:cNvPr id="223" name="Google Shape;223;p32"/>
            <p:cNvSpPr txBox="1"/>
            <p:nvPr/>
          </p:nvSpPr>
          <p:spPr>
            <a:xfrm>
              <a:off x="5822625" y="3152875"/>
              <a:ext cx="26166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/>
                <a:t>Patch version number</a:t>
              </a:r>
              <a:endParaRPr sz="1600" b="1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This changes when the package has bug fixes</a:t>
              </a:r>
              <a:endParaRPr sz="1600"/>
            </a:p>
          </p:txBody>
        </p:sp>
        <p:sp>
          <p:nvSpPr>
            <p:cNvPr id="224" name="Google Shape;224;p32"/>
            <p:cNvSpPr/>
            <p:nvPr/>
          </p:nvSpPr>
          <p:spPr>
            <a:xfrm>
              <a:off x="4667625" y="2365650"/>
              <a:ext cx="335700" cy="4122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5" name="Google Shape;225;p32"/>
            <p:cNvCxnSpPr>
              <a:stCxn id="223" idx="0"/>
              <a:endCxn id="224" idx="2"/>
            </p:cNvCxnSpPr>
            <p:nvPr/>
          </p:nvCxnSpPr>
          <p:spPr>
            <a:xfrm rot="10800000">
              <a:off x="4835625" y="2777875"/>
              <a:ext cx="2295300" cy="375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26" name="Google Shape;226;p32"/>
          <p:cNvGrpSpPr/>
          <p:nvPr/>
        </p:nvGrpSpPr>
        <p:grpSpPr>
          <a:xfrm>
            <a:off x="3206025" y="2365650"/>
            <a:ext cx="2616600" cy="2203225"/>
            <a:chOff x="3206025" y="2365650"/>
            <a:chExt cx="2616600" cy="2203225"/>
          </a:xfrm>
        </p:grpSpPr>
        <p:sp>
          <p:nvSpPr>
            <p:cNvPr id="227" name="Google Shape;227;p32"/>
            <p:cNvSpPr txBox="1"/>
            <p:nvPr/>
          </p:nvSpPr>
          <p:spPr>
            <a:xfrm>
              <a:off x="3206025" y="3152875"/>
              <a:ext cx="26166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/>
                <a:t>Minor version number</a:t>
              </a:r>
              <a:endParaRPr sz="1600" b="1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This changes when the package has new backwards-compatible features</a:t>
              </a:r>
              <a:endParaRPr sz="1600"/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4437800" y="2365650"/>
              <a:ext cx="229800" cy="4122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9" name="Google Shape;229;p32"/>
            <p:cNvCxnSpPr>
              <a:stCxn id="227" idx="0"/>
              <a:endCxn id="228" idx="2"/>
            </p:cNvCxnSpPr>
            <p:nvPr/>
          </p:nvCxnSpPr>
          <p:spPr>
            <a:xfrm rot="10800000" flipH="1">
              <a:off x="4514325" y="2777875"/>
              <a:ext cx="38400" cy="375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30" name="Google Shape;230;p32"/>
          <p:cNvGrpSpPr/>
          <p:nvPr/>
        </p:nvGrpSpPr>
        <p:grpSpPr>
          <a:xfrm>
            <a:off x="5011725" y="445025"/>
            <a:ext cx="3522400" cy="2332825"/>
            <a:chOff x="4792225" y="2468400"/>
            <a:chExt cx="3522400" cy="2332825"/>
          </a:xfrm>
        </p:grpSpPr>
        <p:sp>
          <p:nvSpPr>
            <p:cNvPr id="231" name="Google Shape;231;p32"/>
            <p:cNvSpPr txBox="1"/>
            <p:nvPr/>
          </p:nvSpPr>
          <p:spPr>
            <a:xfrm>
              <a:off x="5698025" y="2468400"/>
              <a:ext cx="26166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/>
                <a:t>Extra stuff</a:t>
              </a:r>
              <a:endParaRPr sz="1600" b="1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Extra info about release or build (eg for specifying “pre-release” or beta release)</a:t>
              </a:r>
              <a:endParaRPr sz="1600"/>
            </a:p>
          </p:txBody>
        </p:sp>
        <p:sp>
          <p:nvSpPr>
            <p:cNvPr id="232" name="Google Shape;232;p32"/>
            <p:cNvSpPr/>
            <p:nvPr/>
          </p:nvSpPr>
          <p:spPr>
            <a:xfrm>
              <a:off x="4792225" y="4389025"/>
              <a:ext cx="1285500" cy="4122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3" name="Google Shape;233;p32"/>
            <p:cNvCxnSpPr>
              <a:stCxn id="231" idx="2"/>
              <a:endCxn id="232" idx="3"/>
            </p:cNvCxnSpPr>
            <p:nvPr/>
          </p:nvCxnSpPr>
          <p:spPr>
            <a:xfrm flipH="1">
              <a:off x="6077825" y="3884400"/>
              <a:ext cx="928500" cy="710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34" name="Google Shape;234;p32"/>
          <p:cNvSpPr txBox="1"/>
          <p:nvPr/>
        </p:nvSpPr>
        <p:spPr>
          <a:xfrm>
            <a:off x="386475" y="1956150"/>
            <a:ext cx="3273900" cy="615600"/>
          </a:xfrm>
          <a:prstGeom prst="rect">
            <a:avLst/>
          </a:prstGeom>
          <a:noFill/>
          <a:ln w="1905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NOT ALL PACKAGES ADHERE TO THIS THOUGH! Do your research.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 would probably do</a:t>
            </a:r>
            <a:endParaRPr/>
          </a:p>
        </p:txBody>
      </p:sp>
      <p:sp>
        <p:nvSpPr>
          <p:cNvPr id="240" name="Google Shape;240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93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name: py3116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channels: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defaults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dependencies: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</a:t>
            </a:r>
            <a:r>
              <a:rPr lang="en-US" sz="200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jupyterlab</a:t>
            </a: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=4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python=3.11.6</a:t>
            </a:r>
          </a:p>
        </p:txBody>
      </p:sp>
      <p:grpSp>
        <p:nvGrpSpPr>
          <p:cNvPr id="241" name="Google Shape;241;p33"/>
          <p:cNvGrpSpPr/>
          <p:nvPr/>
        </p:nvGrpSpPr>
        <p:grpSpPr>
          <a:xfrm>
            <a:off x="900974" y="2805147"/>
            <a:ext cx="6019250" cy="1096329"/>
            <a:chOff x="900975" y="2460721"/>
            <a:chExt cx="6019250" cy="1096329"/>
          </a:xfrm>
        </p:grpSpPr>
        <p:sp>
          <p:nvSpPr>
            <p:cNvPr id="242" name="Google Shape;242;p33"/>
            <p:cNvSpPr txBox="1"/>
            <p:nvPr/>
          </p:nvSpPr>
          <p:spPr>
            <a:xfrm>
              <a:off x="3929825" y="2941450"/>
              <a:ext cx="2990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Python doesn’t adhere to semantic versioning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43" name="Google Shape;243;p33"/>
            <p:cNvSpPr/>
            <p:nvPr/>
          </p:nvSpPr>
          <p:spPr>
            <a:xfrm>
              <a:off x="900975" y="2460721"/>
              <a:ext cx="2218310" cy="3450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244" name="Google Shape;244;p33"/>
            <p:cNvCxnSpPr>
              <a:cxnSpLocks/>
              <a:stCxn id="242" idx="1"/>
              <a:endCxn id="243" idx="3"/>
            </p:cNvCxnSpPr>
            <p:nvPr/>
          </p:nvCxnSpPr>
          <p:spPr>
            <a:xfrm flipH="1" flipV="1">
              <a:off x="3119285" y="2633221"/>
              <a:ext cx="810540" cy="616029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45" name="Google Shape;245;p33"/>
          <p:cNvGrpSpPr/>
          <p:nvPr/>
        </p:nvGrpSpPr>
        <p:grpSpPr>
          <a:xfrm>
            <a:off x="900975" y="1630900"/>
            <a:ext cx="5931963" cy="1262100"/>
            <a:chOff x="900983" y="2308400"/>
            <a:chExt cx="6019242" cy="1262100"/>
          </a:xfrm>
        </p:grpSpPr>
        <p:sp>
          <p:nvSpPr>
            <p:cNvPr id="246" name="Google Shape;246;p33"/>
            <p:cNvSpPr txBox="1"/>
            <p:nvPr/>
          </p:nvSpPr>
          <p:spPr>
            <a:xfrm>
              <a:off x="3929825" y="2308400"/>
              <a:ext cx="29904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0000"/>
                  </a:solidFill>
                </a:rPr>
                <a:t>This package adheres to semantic versioning.</a:t>
              </a:r>
              <a:endParaRPr dirty="0">
                <a:solidFill>
                  <a:srgbClr val="FF0000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0000"/>
                  </a:solidFill>
                </a:rPr>
                <a:t>This way I automatically get any new versions just by doing</a:t>
              </a:r>
              <a:endParaRPr dirty="0">
                <a:solidFill>
                  <a:srgbClr val="FF0000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conda env update </a:t>
              </a:r>
              <a:endParaRPr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47" name="Google Shape;247;p33"/>
            <p:cNvSpPr/>
            <p:nvPr/>
          </p:nvSpPr>
          <p:spPr>
            <a:xfrm>
              <a:off x="900983" y="3148150"/>
              <a:ext cx="2093812" cy="298297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8" name="Google Shape;248;p33"/>
            <p:cNvCxnSpPr>
              <a:cxnSpLocks/>
              <a:stCxn id="246" idx="1"/>
              <a:endCxn id="247" idx="3"/>
            </p:cNvCxnSpPr>
            <p:nvPr/>
          </p:nvCxnSpPr>
          <p:spPr>
            <a:xfrm flipH="1">
              <a:off x="2994795" y="2939450"/>
              <a:ext cx="935030" cy="357849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49" name="Google Shape;249;p33"/>
          <p:cNvSpPr txBox="1"/>
          <p:nvPr/>
        </p:nvSpPr>
        <p:spPr>
          <a:xfrm>
            <a:off x="843000" y="4253600"/>
            <a:ext cx="745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You don’t HAVE to do it this way - use more specific package versions if you like!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You can also omit package versions (everything after the “=”), although it’s less safe.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pip?</a:t>
            </a:r>
            <a:endParaRPr/>
          </a:p>
        </p:txBody>
      </p:sp>
      <p:sp>
        <p:nvSpPr>
          <p:cNvPr id="255" name="Google Shape;255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use pip to manage packages: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environment.yml</a:t>
            </a:r>
            <a:r>
              <a:rPr lang="en"/>
              <a:t>  =&gt;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requirements.txt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Looks similar!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create from the environment in a similar way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pip freeze &gt; requirements.txt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reinstall all the requirements into the current environment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pip install -r requirements.txt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does NOT create a new environment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combine environment.yml (for the environment) with requirements.txt (for managing packages with pip) if you like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pip to environment.yml</a:t>
            </a:r>
            <a:endParaRPr/>
          </a:p>
        </p:txBody>
      </p:sp>
      <p:sp>
        <p:nvSpPr>
          <p:cNvPr id="261" name="Google Shape;261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93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name: py3116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channels: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defaults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dependencies: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</a:t>
            </a:r>
            <a:r>
              <a:rPr lang="en-US" sz="200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jupyterlab</a:t>
            </a: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=4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python=3.11.6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pip</a:t>
            </a: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pip:</a:t>
            </a: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- matplotlib</a:t>
            </a: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- pandas</a:t>
            </a: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62" name="Google Shape;262;p35"/>
          <p:cNvGrpSpPr/>
          <p:nvPr/>
        </p:nvGrpSpPr>
        <p:grpSpPr>
          <a:xfrm>
            <a:off x="900975" y="2926935"/>
            <a:ext cx="6019250" cy="480300"/>
            <a:chOff x="900975" y="2941450"/>
            <a:chExt cx="6019250" cy="480300"/>
          </a:xfrm>
        </p:grpSpPr>
        <p:sp>
          <p:nvSpPr>
            <p:cNvPr id="263" name="Google Shape;263;p35"/>
            <p:cNvSpPr txBox="1"/>
            <p:nvPr/>
          </p:nvSpPr>
          <p:spPr>
            <a:xfrm>
              <a:off x="3929825" y="2941450"/>
              <a:ext cx="2990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Add pip as a dependency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64" name="Google Shape;264;p35"/>
            <p:cNvSpPr/>
            <p:nvPr/>
          </p:nvSpPr>
          <p:spPr>
            <a:xfrm>
              <a:off x="900975" y="3076750"/>
              <a:ext cx="1869000" cy="3450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5" name="Google Shape;265;p35"/>
            <p:cNvCxnSpPr>
              <a:stCxn id="263" idx="1"/>
              <a:endCxn id="264" idx="3"/>
            </p:cNvCxnSpPr>
            <p:nvPr/>
          </p:nvCxnSpPr>
          <p:spPr>
            <a:xfrm flipH="1">
              <a:off x="2770025" y="3141550"/>
              <a:ext cx="1159800" cy="1077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66" name="Google Shape;266;p35"/>
          <p:cNvGrpSpPr/>
          <p:nvPr/>
        </p:nvGrpSpPr>
        <p:grpSpPr>
          <a:xfrm>
            <a:off x="944625" y="3397643"/>
            <a:ext cx="5931950" cy="1046700"/>
            <a:chOff x="900996" y="2839343"/>
            <a:chExt cx="6019229" cy="1046700"/>
          </a:xfrm>
        </p:grpSpPr>
        <p:sp>
          <p:nvSpPr>
            <p:cNvPr id="267" name="Google Shape;267;p35"/>
            <p:cNvSpPr txBox="1"/>
            <p:nvPr/>
          </p:nvSpPr>
          <p:spPr>
            <a:xfrm>
              <a:off x="3929825" y="2839343"/>
              <a:ext cx="29904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Add pip dependencies by adding a colon after another “pip”, then indenting an extra level, then adding the pip dependencies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68" name="Google Shape;268;p35"/>
            <p:cNvSpPr/>
            <p:nvPr/>
          </p:nvSpPr>
          <p:spPr>
            <a:xfrm>
              <a:off x="900996" y="2922675"/>
              <a:ext cx="1976700" cy="8412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9" name="Google Shape;269;p35"/>
            <p:cNvCxnSpPr>
              <a:stCxn id="267" idx="1"/>
              <a:endCxn id="268" idx="3"/>
            </p:cNvCxnSpPr>
            <p:nvPr/>
          </p:nvCxnSpPr>
          <p:spPr>
            <a:xfrm flipH="1" flipV="1">
              <a:off x="2877696" y="3343275"/>
              <a:ext cx="1052129" cy="19418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with requirements.txt</a:t>
            </a:r>
            <a:endParaRPr/>
          </a:p>
        </p:txBody>
      </p:sp>
      <p:sp>
        <p:nvSpPr>
          <p:cNvPr id="275" name="Google Shape;275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93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name: py3116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channels: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defaults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dependencies: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</a:t>
            </a:r>
            <a:r>
              <a:rPr lang="en-US" sz="200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jupyterlab</a:t>
            </a: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=4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python=3.11.6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pip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pip:</a:t>
            </a: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- -r requirements.txt</a:t>
            </a: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76" name="Google Shape;276;p36"/>
          <p:cNvGrpSpPr/>
          <p:nvPr/>
        </p:nvGrpSpPr>
        <p:grpSpPr>
          <a:xfrm>
            <a:off x="915129" y="2272042"/>
            <a:ext cx="7594500" cy="1887900"/>
            <a:chOff x="900996" y="1875975"/>
            <a:chExt cx="7706241" cy="1887900"/>
          </a:xfrm>
        </p:grpSpPr>
        <p:sp>
          <p:nvSpPr>
            <p:cNvPr id="277" name="Google Shape;277;p36"/>
            <p:cNvSpPr txBox="1"/>
            <p:nvPr/>
          </p:nvSpPr>
          <p:spPr>
            <a:xfrm>
              <a:off x="5616837" y="1875975"/>
              <a:ext cx="2990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Tell conda to load pip dependencies from requirements.txt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78" name="Google Shape;278;p36"/>
            <p:cNvSpPr/>
            <p:nvPr/>
          </p:nvSpPr>
          <p:spPr>
            <a:xfrm>
              <a:off x="900996" y="2922675"/>
              <a:ext cx="3544800" cy="8412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9" name="Google Shape;279;p36"/>
            <p:cNvCxnSpPr>
              <a:stCxn id="277" idx="1"/>
              <a:endCxn id="278" idx="3"/>
            </p:cNvCxnSpPr>
            <p:nvPr/>
          </p:nvCxnSpPr>
          <p:spPr>
            <a:xfrm flipH="1">
              <a:off x="4445937" y="2291625"/>
              <a:ext cx="1170900" cy="10518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Exercise: Simplify your environment.yml</a:t>
            </a:r>
            <a:endParaRPr/>
          </a:p>
        </p:txBody>
      </p:sp>
      <p:sp>
        <p:nvSpPr>
          <p:cNvPr id="285" name="Google Shape;285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 your Python 3.11.6 environment: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Simplify your environment.yml file.</a:t>
            </a:r>
            <a:endParaRPr dirty="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Remove any unnecessary packages.</a:t>
            </a:r>
            <a:endParaRPr dirty="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Simplify the version numbers if you like.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Update your environment.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conda env update -f environment.yml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Prove that it works - start up your Jupyter notebook again.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other dependencies?</a:t>
            </a:r>
            <a:endParaRPr/>
          </a:p>
        </p:txBody>
      </p:sp>
      <p:sp>
        <p:nvSpPr>
          <p:cNvPr id="291" name="Google Shape;291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Conda environments are for Python &amp; Python packages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If you need to download other tools or infrastructure, you’ll have to do that in a separate script or with a different version manager.</a:t>
            </a:r>
            <a:endParaRPr sz="2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Exercise: create a virtual environment for your project</a:t>
            </a:r>
            <a:endParaRPr/>
          </a:p>
        </p:txBody>
      </p:sp>
      <p:sp>
        <p:nvSpPr>
          <p:cNvPr id="297" name="Google Shape;297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Create an environment for your team’s project.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Create an </a:t>
            </a:r>
            <a:r>
              <a:rPr lang="en" sz="2200">
                <a:latin typeface="Courier New"/>
                <a:ea typeface="Courier New"/>
                <a:cs typeface="Courier New"/>
                <a:sym typeface="Courier New"/>
              </a:rPr>
              <a:t>environment.yml</a:t>
            </a:r>
            <a:r>
              <a:rPr lang="en" sz="2200"/>
              <a:t> file for the environment.</a:t>
            </a:r>
            <a:br>
              <a:rPr lang="en" sz="2200"/>
            </a:br>
            <a:r>
              <a:rPr lang="en" sz="2200" i="1">
                <a:solidFill>
                  <a:srgbClr val="666666"/>
                </a:solidFill>
              </a:rPr>
              <a:t>Include any packages that you need to make your code work.</a:t>
            </a:r>
            <a:endParaRPr sz="2200" i="1">
              <a:solidFill>
                <a:srgbClr val="666666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Commit, create a PR, and merge the change.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Make sure everyone on the team can create the environment from the file.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Include instructions for how to use the environment file in your documentation (</a:t>
            </a:r>
            <a:r>
              <a:rPr lang="en" sz="2200">
                <a:latin typeface="Courier New"/>
                <a:ea typeface="Courier New"/>
                <a:cs typeface="Courier New"/>
                <a:sym typeface="Courier New"/>
              </a:rPr>
              <a:t>README</a:t>
            </a:r>
            <a:r>
              <a:rPr lang="en" sz="2200"/>
              <a:t> or somewhere in the </a:t>
            </a:r>
            <a:r>
              <a:rPr lang="en" sz="2200">
                <a:latin typeface="Courier New"/>
                <a:ea typeface="Courier New"/>
                <a:cs typeface="Courier New"/>
                <a:sym typeface="Courier New"/>
              </a:rPr>
              <a:t>docs</a:t>
            </a:r>
            <a:r>
              <a:rPr lang="en" sz="2200"/>
              <a:t> folder).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1516</Words>
  <Application>Microsoft Office PowerPoint</Application>
  <PresentationFormat>On-screen Show (16:9)</PresentationFormat>
  <Paragraphs>234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Courier New</vt:lpstr>
      <vt:lpstr>Simple Light</vt:lpstr>
      <vt:lpstr>Software Design for Data Science</vt:lpstr>
      <vt:lpstr>The problem</vt:lpstr>
      <vt:lpstr>The problem: dependency hell</vt:lpstr>
      <vt:lpstr>The problem, continued</vt:lpstr>
      <vt:lpstr>Abstraction for Naomi &amp; Danni</vt:lpstr>
      <vt:lpstr>Virtualization</vt:lpstr>
      <vt:lpstr>Virtual Machines</vt:lpstr>
      <vt:lpstr>Virtual Machines - WSL</vt:lpstr>
      <vt:lpstr>Virtual Machines - VirtualBox</vt:lpstr>
      <vt:lpstr>Virtual Machines - EC2</vt:lpstr>
      <vt:lpstr>Virtualization of Python environments</vt:lpstr>
      <vt:lpstr>Conda Virtual Environments</vt:lpstr>
      <vt:lpstr>Exercise: Create a Python Virtual Environment</vt:lpstr>
      <vt:lpstr>Python Virtual Environments</vt:lpstr>
      <vt:lpstr>Sharing your virtual environment</vt:lpstr>
      <vt:lpstr>Exercise: Create an environment.yml file</vt:lpstr>
      <vt:lpstr>Generated environment.yml</vt:lpstr>
      <vt:lpstr>Simpler environment.yml</vt:lpstr>
      <vt:lpstr>Semantic Package Versioning</vt:lpstr>
      <vt:lpstr>What I would probably do</vt:lpstr>
      <vt:lpstr>What about pip?</vt:lpstr>
      <vt:lpstr>Adding pip to environment.yml</vt:lpstr>
      <vt:lpstr>Or with requirements.txt</vt:lpstr>
      <vt:lpstr>Exercise: Simplify your environment.yml</vt:lpstr>
      <vt:lpstr>What about other dependencies?</vt:lpstr>
      <vt:lpstr>Exercise: create a virtual environment for your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Naomi Alterman</cp:lastModifiedBy>
  <cp:revision>27</cp:revision>
  <dcterms:modified xsi:type="dcterms:W3CDTF">2026-02-17T23:06:18Z</dcterms:modified>
</cp:coreProperties>
</file>