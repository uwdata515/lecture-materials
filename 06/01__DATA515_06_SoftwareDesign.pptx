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sldSz cx="9144000" cy="5143500" type="screen16x9"/>
  <p:notesSz cx="6858000" cy="9144000"/>
  <p:embeddedFontLst>
    <p:embeddedFont>
      <p:font typeface="Roboto" panose="02000000000000000000" pitchFamily="2" charset="0"/>
      <p:regular r:id="rId55"/>
      <p:bold r:id="rId56"/>
      <p:italic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442"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20844a3fcd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20844a3fcd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20844a3fcd2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20844a3fcd2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208b0c039d9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208b0c039d9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08b0c039d9_0_1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08b0c039d9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08b0c039d9_0_1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08b0c039d9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0844a3fcd2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0844a3fcd2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0844a3fcd2_0_7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0844a3fcd2_0_7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20844a3fcd2_0_7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20844a3fcd2_0_7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0844a3fcd2_0_7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20844a3fcd2_0_7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08b0c039d9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08b0c039d9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0844a3fcd2_0_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0844a3fcd2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0844a3fcd2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0844a3fcd2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0844a3fcd2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0844a3fcd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20844a3fcd2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20844a3fcd2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0844a3fcd2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0844a3fcd2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0844a3fcd2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0844a3fcd2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20844a3fcd2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 name="Google Shape;174;g20844a3fcd2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670a87924a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670a87924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0844a3fcd2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0844a3fcd2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20844a3fcd2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20844a3fcd2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08b0c039d9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08b0c039d9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208b0c039d9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208b0c039d9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08b0c039d9_0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208b0c039d9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208b0c039d9_0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208b0c039d9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208b0c039d9_0_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208b0c039d9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670a87924a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2670a87924a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08b0c039d9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208b0c039d9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0844a3fcd2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20844a3fcd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08b0c039d9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208b0c039d9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208b0c039d9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208b0c039d9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208b0c039d9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208b0c039d9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208b0c039d9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208b0c039d9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208b0c039d9_0_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208b0c039d9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208b0c039d9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208b0c039d9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08b0c039d9_0_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08b0c039d9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208b0c039d9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208b0c039d9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208b0c039d9_0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208b0c039d9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208b0c039d9_0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208b0c039d9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08b0c039d9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208b0c039d9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208b0c039d9_0_1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208b0c039d9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208b0c039d9_0_1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208b0c039d9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670a87924a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2670a87924a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20844a3fcd2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20844a3fcd2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208b0c039d9_0_1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208b0c039d9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208b0c039d9_0_1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208b0c039d9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208b0c039d9_0_1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208b0c039d9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208b0c039d9_0_1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208b0c039d9_0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208b0c039d9_0_1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208b0c039d9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208b0c039d9_0_1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208b0c039d9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2670a87924a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2670a87924a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208b0c039d9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208b0c039d9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pic>
        <p:nvPicPr>
          <p:cNvPr id="11" name="Google Shape;11;p2"/>
          <p:cNvPicPr preferRelativeResize="0"/>
          <p:nvPr/>
        </p:nvPicPr>
        <p:blipFill rotWithShape="1">
          <a:blip r:embed="rId2">
            <a:alphaModFix/>
          </a:blip>
          <a:srcRect b="22311"/>
          <a:stretch/>
        </p:blipFill>
        <p:spPr>
          <a:xfrm>
            <a:off x="0" y="0"/>
            <a:ext cx="9144000" cy="5143499"/>
          </a:xfrm>
          <a:prstGeom prst="rect">
            <a:avLst/>
          </a:prstGeom>
          <a:noFill/>
          <a:ln>
            <a:noFill/>
          </a:ln>
        </p:spPr>
      </p:pic>
      <p:sp>
        <p:nvSpPr>
          <p:cNvPr id="12" name="Google Shape;12;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1"/>
              </a:buClr>
              <a:buSzPts val="5200"/>
              <a:buNone/>
              <a:defRPr sz="5200">
                <a:solidFill>
                  <a:schemeClr val="lt1"/>
                </a:solidFill>
              </a:defRPr>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a:endParaRPr/>
          </a:p>
        </p:txBody>
      </p:sp>
      <p:sp>
        <p:nvSpPr>
          <p:cNvPr id="13" name="Google Shape;13;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2800"/>
              <a:buNone/>
              <a:defRPr sz="280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5" name="Google Shape;15;p2"/>
          <p:cNvPicPr preferRelativeResize="0"/>
          <p:nvPr/>
        </p:nvPicPr>
        <p:blipFill>
          <a:blip r:embed="rId3">
            <a:alphaModFix/>
          </a:blip>
          <a:stretch>
            <a:fillRect/>
          </a:stretch>
        </p:blipFill>
        <p:spPr>
          <a:xfrm>
            <a:off x="109525" y="114901"/>
            <a:ext cx="3203124" cy="215775"/>
          </a:xfrm>
          <a:prstGeom prst="rect">
            <a:avLst/>
          </a:prstGeom>
          <a:noFill/>
          <a:ln>
            <a:noFill/>
          </a:ln>
        </p:spPr>
      </p:pic>
      <p:pic>
        <p:nvPicPr>
          <p:cNvPr id="16" name="Google Shape;16;p2"/>
          <p:cNvPicPr preferRelativeResize="0"/>
          <p:nvPr/>
        </p:nvPicPr>
        <p:blipFill>
          <a:blip r:embed="rId4">
            <a:alphaModFix/>
          </a:blip>
          <a:stretch>
            <a:fillRect/>
          </a:stretch>
        </p:blipFill>
        <p:spPr>
          <a:xfrm>
            <a:off x="8436596" y="4663214"/>
            <a:ext cx="584554" cy="393600"/>
          </a:xfrm>
          <a:prstGeom prst="rect">
            <a:avLst/>
          </a:prstGeom>
          <a:noFill/>
          <a:ln>
            <a:noFill/>
          </a:ln>
        </p:spPr>
      </p:pic>
      <p:sp>
        <p:nvSpPr>
          <p:cNvPr id="17" name="Google Shape;17;p2"/>
          <p:cNvSpPr txBox="1">
            <a:spLocks noGrp="1"/>
          </p:cNvSpPr>
          <p:nvPr>
            <p:ph type="subTitle" idx="2"/>
          </p:nvPr>
        </p:nvSpPr>
        <p:spPr>
          <a:xfrm>
            <a:off x="311700" y="366367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Clr>
                <a:schemeClr val="lt1"/>
              </a:buClr>
              <a:buSzPts val="2000"/>
              <a:buNone/>
              <a:defRPr sz="2000" i="1">
                <a:solidFill>
                  <a:schemeClr val="lt1"/>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18"/>
        <p:cNvGrpSpPr/>
        <p:nvPr/>
      </p:nvGrpSpPr>
      <p:grpSpPr>
        <a:xfrm>
          <a:off x="0" y="0"/>
          <a:ext cx="0" cy="0"/>
          <a:chOff x="0" y="0"/>
          <a:chExt cx="0" cy="0"/>
        </a:xfrm>
      </p:grpSpPr>
      <p:pic>
        <p:nvPicPr>
          <p:cNvPr id="19" name="Google Shape;19;p3"/>
          <p:cNvPicPr preferRelativeResize="0"/>
          <p:nvPr/>
        </p:nvPicPr>
        <p:blipFill rotWithShape="1">
          <a:blip r:embed="rId2">
            <a:alphaModFix/>
          </a:blip>
          <a:srcRect b="22311"/>
          <a:stretch/>
        </p:blipFill>
        <p:spPr>
          <a:xfrm>
            <a:off x="0" y="0"/>
            <a:ext cx="9144000" cy="5143499"/>
          </a:xfrm>
          <a:prstGeom prst="rect">
            <a:avLst/>
          </a:prstGeom>
          <a:noFill/>
          <a:ln>
            <a:noFill/>
          </a:ln>
        </p:spPr>
      </p:pic>
      <p:sp>
        <p:nvSpPr>
          <p:cNvPr id="20" name="Google Shape;20;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3600"/>
              <a:buNone/>
              <a:defRPr sz="3600" b="1">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1" name="Google Shape;21;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22" name="Google Shape;22;p3"/>
          <p:cNvPicPr preferRelativeResize="0"/>
          <p:nvPr/>
        </p:nvPicPr>
        <p:blipFill>
          <a:blip r:embed="rId3">
            <a:alphaModFix/>
          </a:blip>
          <a:stretch>
            <a:fillRect/>
          </a:stretch>
        </p:blipFill>
        <p:spPr>
          <a:xfrm>
            <a:off x="109525" y="114901"/>
            <a:ext cx="3203124" cy="215775"/>
          </a:xfrm>
          <a:prstGeom prst="rect">
            <a:avLst/>
          </a:prstGeom>
          <a:noFill/>
          <a:ln>
            <a:noFill/>
          </a:ln>
        </p:spPr>
      </p:pic>
      <p:pic>
        <p:nvPicPr>
          <p:cNvPr id="23" name="Google Shape;23;p3"/>
          <p:cNvPicPr preferRelativeResize="0"/>
          <p:nvPr/>
        </p:nvPicPr>
        <p:blipFill>
          <a:blip r:embed="rId4">
            <a:alphaModFix/>
          </a:blip>
          <a:stretch>
            <a:fillRect/>
          </a:stretch>
        </p:blipFill>
        <p:spPr>
          <a:xfrm>
            <a:off x="8436596" y="4663214"/>
            <a:ext cx="584554" cy="393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7" name="Google Shape;2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Google Shape;30;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b="1"/>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8" name="Google Shape;38;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9" name="Google Shape;39;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2" name="Google Shape;42;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
        <p:cNvGrpSpPr/>
        <p:nvPr/>
      </p:nvGrpSpPr>
      <p:grpSpPr>
        <a:xfrm>
          <a:off x="0" y="0"/>
          <a:ext cx="0" cy="0"/>
          <a:chOff x="0" y="0"/>
          <a:chExt cx="0" cy="0"/>
        </a:xfrm>
      </p:grpSpPr>
      <p:sp>
        <p:nvSpPr>
          <p:cNvPr id="44" name="Google Shape;44;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6" name="Google Shape;46;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7" name="Google Shape;47;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8" name="Google Shape;4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51" name="Google Shape;51;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4" name="Google Shape;54;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3">
            <a:alphaModFix/>
          </a:blip>
          <a:stretch>
            <a:fillRect/>
          </a:stretch>
        </p:blipFill>
        <p:spPr>
          <a:xfrm>
            <a:off x="95825" y="95825"/>
            <a:ext cx="8925324" cy="4961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The_Mythical_Man-Month"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hyperlink" Target="https://github.com/UWDATA515/lecture-materials/blob/main/03/04__InterfaceSpecification.pdf" TargetMode="External"/><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s://www.websequencediagrams.com/" TargetMode="External"/><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hyperlink" Target="https://app.diagrams.net/" TargetMode="External"/><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hyperlink" Target="https://uwdata515.github.io/projects.html" TargetMode="External"/><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4300"/>
              <a:t>Software Design for Data Science</a:t>
            </a:r>
            <a:endParaRPr/>
          </a:p>
        </p:txBody>
      </p:sp>
      <p:sp>
        <p:nvSpPr>
          <p:cNvPr id="63" name="Google Shape;63;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Software &amp; Use Case Design</a:t>
            </a:r>
            <a:endParaRPr/>
          </a:p>
        </p:txBody>
      </p:sp>
      <p:sp>
        <p:nvSpPr>
          <p:cNvPr id="64" name="Google Shape;64;p13"/>
          <p:cNvSpPr txBox="1">
            <a:spLocks noGrp="1"/>
          </p:cNvSpPr>
          <p:nvPr>
            <p:ph type="subTitle" idx="2"/>
          </p:nvPr>
        </p:nvSpPr>
        <p:spPr>
          <a:xfrm>
            <a:off x="311700" y="3663675"/>
            <a:ext cx="8520600" cy="792600"/>
          </a:xfrm>
          <a:prstGeom prst="rect">
            <a:avLst/>
          </a:prstGeom>
        </p:spPr>
        <p:txBody>
          <a:bodyPr spcFirstLastPara="1" wrap="square" lIns="91425" tIns="91425" rIns="91425" bIns="91425" anchor="t" anchorCtr="0">
            <a:normAutofit fontScale="77500" lnSpcReduction="20000"/>
          </a:bodyPr>
          <a:lstStyle/>
          <a:p>
            <a:pPr marL="0" lvl="0" indent="0" algn="ctr" rtl="0">
              <a:spcBef>
                <a:spcPts val="0"/>
              </a:spcBef>
              <a:spcAft>
                <a:spcPts val="0"/>
              </a:spcAft>
              <a:buClr>
                <a:schemeClr val="dk1"/>
              </a:buClr>
              <a:buSzPct val="55000"/>
              <a:buFont typeface="Arial"/>
              <a:buNone/>
            </a:pPr>
            <a:r>
              <a:rPr lang="en-US" dirty="0"/>
              <a:t>Naomi Alterman</a:t>
            </a:r>
            <a:endParaRPr dirty="0"/>
          </a:p>
          <a:p>
            <a:pPr marL="0" lvl="0" indent="0" algn="ctr" rtl="0">
              <a:spcBef>
                <a:spcPts val="0"/>
              </a:spcBef>
              <a:spcAft>
                <a:spcPts val="0"/>
              </a:spcAft>
              <a:buClr>
                <a:schemeClr val="dk1"/>
              </a:buClr>
              <a:buSzPct val="55000"/>
              <a:buFont typeface="Arial"/>
              <a:buNone/>
            </a:pPr>
            <a:r>
              <a:rPr lang="en" dirty="0"/>
              <a:t>University of Washington</a:t>
            </a:r>
            <a:endParaRPr dirty="0"/>
          </a:p>
          <a:p>
            <a:pPr marL="0" lvl="0" indent="0" algn="ctr" rtl="0">
              <a:spcBef>
                <a:spcPts val="0"/>
              </a:spcBef>
              <a:spcAft>
                <a:spcPts val="0"/>
              </a:spcAft>
              <a:buClr>
                <a:schemeClr val="dk1"/>
              </a:buClr>
              <a:buSzPct val="55000"/>
              <a:buFont typeface="Arial"/>
              <a:buNone/>
            </a:pPr>
            <a:r>
              <a:rPr lang="en" dirty="0"/>
              <a:t>February 10, 2026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Today’s agenda</a:t>
            </a:r>
            <a:endParaRPr/>
          </a:p>
        </p:txBody>
      </p:sp>
      <p:sp>
        <p:nvSpPr>
          <p:cNvPr id="70" name="Google Shape;70;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Char char="●"/>
            </a:pPr>
            <a:r>
              <a:rPr lang="en" sz="2200" dirty="0"/>
              <a:t>Lecture on design</a:t>
            </a:r>
            <a:endParaRPr sz="2200" dirty="0"/>
          </a:p>
          <a:p>
            <a:pPr marL="457200" lvl="0" indent="-368300" algn="l" rtl="0">
              <a:spcBef>
                <a:spcPts val="0"/>
              </a:spcBef>
              <a:spcAft>
                <a:spcPts val="0"/>
              </a:spcAft>
              <a:buSzPts val="2200"/>
              <a:buChar char="●"/>
            </a:pPr>
            <a:r>
              <a:rPr lang="en" sz="2200" dirty="0"/>
              <a:t>Design exercise</a:t>
            </a:r>
            <a:endParaRPr sz="2200" dirty="0"/>
          </a:p>
          <a:p>
            <a:pPr marL="914400" lvl="1" indent="-342900" algn="l" rtl="0">
              <a:spcBef>
                <a:spcPts val="0"/>
              </a:spcBef>
              <a:spcAft>
                <a:spcPts val="0"/>
              </a:spcAft>
              <a:buSzPts val="1800"/>
              <a:buChar char="○"/>
            </a:pPr>
            <a:r>
              <a:rPr lang="en" sz="1800" dirty="0"/>
              <a:t>Create a </a:t>
            </a:r>
            <a:r>
              <a:rPr lang="en" sz="1800" dirty="0">
                <a:highlight>
                  <a:srgbClr val="F3F3F3"/>
                </a:highlight>
                <a:latin typeface="Courier New"/>
                <a:ea typeface="Courier New"/>
                <a:cs typeface="Courier New"/>
                <a:sym typeface="Courier New"/>
              </a:rPr>
              <a:t>docs</a:t>
            </a:r>
            <a:r>
              <a:rPr lang="en" sz="1800" dirty="0"/>
              <a:t> directory within the root of your project repository</a:t>
            </a:r>
            <a:endParaRPr sz="1800" dirty="0"/>
          </a:p>
          <a:p>
            <a:pPr marL="914400" lvl="1" indent="-342900" algn="l" rtl="0">
              <a:spcBef>
                <a:spcPts val="0"/>
              </a:spcBef>
              <a:spcAft>
                <a:spcPts val="0"/>
              </a:spcAft>
              <a:buSzPts val="1800"/>
              <a:buChar char="○"/>
            </a:pPr>
            <a:r>
              <a:rPr lang="en" sz="1800" dirty="0"/>
              <a:t>Create Markdown files in the </a:t>
            </a:r>
            <a:r>
              <a:rPr lang="en" sz="1800" dirty="0">
                <a:highlight>
                  <a:srgbClr val="F3F3F3"/>
                </a:highlight>
                <a:latin typeface="Courier New"/>
                <a:ea typeface="Courier New"/>
                <a:cs typeface="Courier New"/>
                <a:sym typeface="Courier New"/>
              </a:rPr>
              <a:t>docs</a:t>
            </a:r>
            <a:r>
              <a:rPr lang="en" sz="1800" dirty="0"/>
              <a:t> directory</a:t>
            </a:r>
            <a:endParaRPr sz="1800" dirty="0"/>
          </a:p>
          <a:p>
            <a:pPr marL="914400" lvl="1" indent="-342900" algn="l" rtl="0">
              <a:spcBef>
                <a:spcPts val="0"/>
              </a:spcBef>
              <a:spcAft>
                <a:spcPts val="0"/>
              </a:spcAft>
              <a:buSzPts val="1800"/>
              <a:buChar char="○"/>
            </a:pPr>
            <a:r>
              <a:rPr lang="en" sz="1800" dirty="0"/>
              <a:t>Add/commit/push at the end of class</a:t>
            </a:r>
            <a:endParaRPr sz="1800" dirty="0"/>
          </a:p>
          <a:p>
            <a:pPr marL="914400" lvl="1" indent="-342900" algn="l" rtl="0">
              <a:spcBef>
                <a:spcPts val="0"/>
              </a:spcBef>
              <a:spcAft>
                <a:spcPts val="0"/>
              </a:spcAft>
              <a:buSzPts val="1800"/>
              <a:buChar char="○"/>
            </a:pPr>
            <a:r>
              <a:rPr lang="en" sz="1800" dirty="0"/>
              <a:t>More exercises next week</a:t>
            </a:r>
            <a:endParaRPr sz="1800" dirty="0"/>
          </a:p>
          <a:p>
            <a:pPr marL="914400" lvl="1" indent="-342900" algn="l" rtl="0">
              <a:spcBef>
                <a:spcPts val="0"/>
              </a:spcBef>
              <a:spcAft>
                <a:spcPts val="0"/>
              </a:spcAft>
              <a:buSzPts val="1800"/>
              <a:buChar char="○"/>
            </a:pPr>
            <a:r>
              <a:rPr lang="en" sz="1800" dirty="0"/>
              <a:t>Finish up the design exercise for review </a:t>
            </a:r>
            <a:r>
              <a:rPr lang="en" sz="1800"/>
              <a:t>by 2/17</a:t>
            </a:r>
            <a:endParaRPr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a:off x="311700" y="2285400"/>
            <a:ext cx="8520600" cy="5727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Software Design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Software Design</a:t>
            </a:r>
            <a:endParaRPr/>
          </a:p>
        </p:txBody>
      </p:sp>
      <p:sp>
        <p:nvSpPr>
          <p:cNvPr id="81" name="Google Shape;81;p1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400" i="1"/>
              <a:t>“…a </a:t>
            </a:r>
            <a:r>
              <a:rPr lang="en" sz="2400" i="1" u="sng"/>
              <a:t>specification</a:t>
            </a:r>
            <a:r>
              <a:rPr lang="en" sz="2400" i="1"/>
              <a:t> of a </a:t>
            </a:r>
            <a:r>
              <a:rPr lang="en" sz="2400" i="1" u="sng"/>
              <a:t>software artifact</a:t>
            </a:r>
            <a:r>
              <a:rPr lang="en" sz="2400" i="1"/>
              <a:t> intended to accomplish </a:t>
            </a:r>
            <a:r>
              <a:rPr lang="en" sz="2400" i="1" u="sng"/>
              <a:t>goals</a:t>
            </a:r>
            <a:r>
              <a:rPr lang="en" sz="2400" i="1"/>
              <a:t>, using a set of </a:t>
            </a:r>
            <a:r>
              <a:rPr lang="en" sz="2400" i="1" u="sng"/>
              <a:t>primitive components</a:t>
            </a:r>
            <a:r>
              <a:rPr lang="en" sz="2400" i="1"/>
              <a:t> and subject to </a:t>
            </a:r>
            <a:r>
              <a:rPr lang="en" sz="2400" i="1" u="sng"/>
              <a:t>constraints</a:t>
            </a:r>
            <a:r>
              <a:rPr lang="en" sz="2400" i="1"/>
              <a:t>”</a:t>
            </a:r>
            <a:endParaRPr sz="2400" i="1"/>
          </a:p>
          <a:p>
            <a:pPr marL="5943600" lvl="0" indent="-342900" algn="l" rtl="0">
              <a:spcBef>
                <a:spcPts val="1200"/>
              </a:spcBef>
              <a:spcAft>
                <a:spcPts val="0"/>
              </a:spcAft>
              <a:buSzPts val="1800"/>
              <a:buChar char="-"/>
            </a:pPr>
            <a:r>
              <a:rPr lang="en"/>
              <a:t>Wikipedia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Why software design?</a:t>
            </a:r>
            <a:endParaRPr/>
          </a:p>
        </p:txBody>
      </p:sp>
      <p:sp>
        <p:nvSpPr>
          <p:cNvPr id="87" name="Google Shape;87;p17"/>
          <p:cNvSpPr txBox="1">
            <a:spLocks noGrp="1"/>
          </p:cNvSpPr>
          <p:nvPr>
            <p:ph type="body" idx="1"/>
          </p:nvPr>
        </p:nvSpPr>
        <p:spPr>
          <a:xfrm>
            <a:off x="311700" y="1152475"/>
            <a:ext cx="8520600" cy="377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1900"/>
              <a:t>"The hardest single part of building a software system is deciding precisely what to build. No other part of the conceptual work is so difficult as establishing the detailed technical requirements, including all the interfaces to people, to machines, and to other software systems. No other part of the work so cripples the resulting system if done wrong. No other part is more difficult to rectify later.</a:t>
            </a:r>
            <a:endParaRPr sz="1900"/>
          </a:p>
          <a:p>
            <a:pPr marL="0" lvl="0" indent="0" algn="l" rtl="0">
              <a:spcBef>
                <a:spcPts val="1200"/>
              </a:spcBef>
              <a:spcAft>
                <a:spcPts val="0"/>
              </a:spcAft>
              <a:buClr>
                <a:schemeClr val="dk1"/>
              </a:buClr>
              <a:buSzPts val="1100"/>
              <a:buFont typeface="Arial"/>
              <a:buNone/>
            </a:pPr>
            <a:r>
              <a:rPr lang="en" sz="1900"/>
              <a:t>Therefore the most important function that software builders do for their clients is the iterative extraction and refinement of the product requirements."</a:t>
            </a:r>
            <a:endParaRPr sz="1900"/>
          </a:p>
          <a:p>
            <a:pPr marL="3200400" lvl="0" indent="-349250" algn="l" rtl="0">
              <a:spcBef>
                <a:spcPts val="1200"/>
              </a:spcBef>
              <a:spcAft>
                <a:spcPts val="0"/>
              </a:spcAft>
              <a:buSzPts val="1900"/>
              <a:buChar char="-"/>
            </a:pPr>
            <a:r>
              <a:rPr lang="en" sz="1900"/>
              <a:t>Fred Brooks, </a:t>
            </a:r>
            <a:r>
              <a:rPr lang="en" sz="1900" i="1" u="sng">
                <a:solidFill>
                  <a:schemeClr val="hlink"/>
                </a:solidFill>
                <a:hlinkClick r:id="rId3"/>
              </a:rPr>
              <a:t>The Mythical Man-Month</a:t>
            </a:r>
            <a:endParaRPr sz="1900" i="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Fred Brooks’ suggested planning schedule</a:t>
            </a:r>
            <a:endParaRPr/>
          </a:p>
        </p:txBody>
      </p:sp>
      <p:sp>
        <p:nvSpPr>
          <p:cNvPr id="93" name="Google Shape;93;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SzPts val="2400"/>
              <a:buChar char="●"/>
            </a:pPr>
            <a:r>
              <a:rPr lang="en" sz="2400"/>
              <a:t>1/3 for design</a:t>
            </a:r>
            <a:endParaRPr sz="2400"/>
          </a:p>
          <a:p>
            <a:pPr marL="457200" lvl="0" indent="-381000" algn="l" rtl="0">
              <a:spcBef>
                <a:spcPts val="0"/>
              </a:spcBef>
              <a:spcAft>
                <a:spcPts val="0"/>
              </a:spcAft>
              <a:buSzPts val="2400"/>
              <a:buChar char="●"/>
            </a:pPr>
            <a:r>
              <a:rPr lang="en" sz="2400"/>
              <a:t>1/6 for coding</a:t>
            </a:r>
            <a:endParaRPr sz="2400"/>
          </a:p>
          <a:p>
            <a:pPr marL="457200" lvl="0" indent="-381000" algn="l" rtl="0">
              <a:spcBef>
                <a:spcPts val="0"/>
              </a:spcBef>
              <a:spcAft>
                <a:spcPts val="0"/>
              </a:spcAft>
              <a:buSzPts val="2400"/>
              <a:buChar char="●"/>
            </a:pPr>
            <a:r>
              <a:rPr lang="en" sz="2400"/>
              <a:t>1/4 for unit/component testing</a:t>
            </a:r>
            <a:endParaRPr sz="2400"/>
          </a:p>
          <a:p>
            <a:pPr marL="457200" lvl="0" indent="-381000" algn="l" rtl="0">
              <a:spcBef>
                <a:spcPts val="0"/>
              </a:spcBef>
              <a:spcAft>
                <a:spcPts val="0"/>
              </a:spcAft>
              <a:buSzPts val="2400"/>
              <a:buChar char="●"/>
            </a:pPr>
            <a:r>
              <a:rPr lang="en" sz="2400"/>
              <a:t>1/4 for system testing</a:t>
            </a: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Classic Dilemma</a:t>
            </a:r>
            <a:endParaRPr/>
          </a:p>
        </p:txBody>
      </p:sp>
      <p:sp>
        <p:nvSpPr>
          <p:cNvPr id="99" name="Google Shape;99;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sz="2200"/>
          </a:p>
        </p:txBody>
      </p:sp>
      <p:sp>
        <p:nvSpPr>
          <p:cNvPr id="100" name="Google Shape;100;p19"/>
          <p:cNvSpPr/>
          <p:nvPr/>
        </p:nvSpPr>
        <p:spPr>
          <a:xfrm>
            <a:off x="3112200" y="1661277"/>
            <a:ext cx="2919600" cy="2398800"/>
          </a:xfrm>
          <a:prstGeom prst="triangle">
            <a:avLst>
              <a:gd name="adj" fmla="val 50000"/>
            </a:avLst>
          </a:prstGeom>
          <a:solidFill>
            <a:srgbClr val="A1C3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9"/>
          <p:cNvSpPr txBox="1"/>
          <p:nvPr/>
        </p:nvSpPr>
        <p:spPr>
          <a:xfrm>
            <a:off x="3761614" y="2942096"/>
            <a:ext cx="1621500" cy="965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300" b="1">
                <a:solidFill>
                  <a:srgbClr val="0C58D3"/>
                </a:solidFill>
                <a:latin typeface="Roboto"/>
                <a:ea typeface="Roboto"/>
                <a:cs typeface="Roboto"/>
                <a:sym typeface="Roboto"/>
              </a:rPr>
              <a:t>Choose two</a:t>
            </a:r>
            <a:endParaRPr sz="2300">
              <a:solidFill>
                <a:srgbClr val="0C58D3"/>
              </a:solidFill>
            </a:endParaRPr>
          </a:p>
        </p:txBody>
      </p:sp>
      <p:sp>
        <p:nvSpPr>
          <p:cNvPr id="102" name="Google Shape;102;p19"/>
          <p:cNvSpPr txBox="1"/>
          <p:nvPr/>
        </p:nvSpPr>
        <p:spPr>
          <a:xfrm>
            <a:off x="3761625" y="1209275"/>
            <a:ext cx="16215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300" b="1">
                <a:solidFill>
                  <a:srgbClr val="0C58D3"/>
                </a:solidFill>
                <a:latin typeface="Roboto"/>
                <a:ea typeface="Roboto"/>
                <a:cs typeface="Roboto"/>
                <a:sym typeface="Roboto"/>
              </a:rPr>
              <a:t>Good</a:t>
            </a:r>
            <a:endParaRPr sz="2300">
              <a:solidFill>
                <a:srgbClr val="0C58D3"/>
              </a:solidFill>
            </a:endParaRPr>
          </a:p>
        </p:txBody>
      </p:sp>
      <p:sp>
        <p:nvSpPr>
          <p:cNvPr id="103" name="Google Shape;103;p19"/>
          <p:cNvSpPr txBox="1"/>
          <p:nvPr/>
        </p:nvSpPr>
        <p:spPr>
          <a:xfrm>
            <a:off x="1490700" y="3739875"/>
            <a:ext cx="1621500" cy="5727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sz="2300" b="1">
                <a:solidFill>
                  <a:srgbClr val="0C58D3"/>
                </a:solidFill>
                <a:latin typeface="Roboto"/>
                <a:ea typeface="Roboto"/>
                <a:cs typeface="Roboto"/>
                <a:sym typeface="Roboto"/>
              </a:rPr>
              <a:t>Fast</a:t>
            </a:r>
            <a:endParaRPr sz="2300">
              <a:solidFill>
                <a:srgbClr val="0C58D3"/>
              </a:solidFill>
            </a:endParaRPr>
          </a:p>
        </p:txBody>
      </p:sp>
      <p:sp>
        <p:nvSpPr>
          <p:cNvPr id="104" name="Google Shape;104;p19"/>
          <p:cNvSpPr txBox="1"/>
          <p:nvPr/>
        </p:nvSpPr>
        <p:spPr>
          <a:xfrm>
            <a:off x="6032550" y="3739875"/>
            <a:ext cx="16215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300" b="1">
                <a:solidFill>
                  <a:srgbClr val="0C58D3"/>
                </a:solidFill>
                <a:latin typeface="Roboto"/>
                <a:ea typeface="Roboto"/>
                <a:cs typeface="Roboto"/>
                <a:sym typeface="Roboto"/>
              </a:rPr>
              <a:t>Cheap</a:t>
            </a:r>
            <a:endParaRPr sz="2300">
              <a:solidFill>
                <a:srgbClr val="0C58D3"/>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The Classic Dilemma: Software Edition</a:t>
            </a:r>
            <a:endParaRPr/>
          </a:p>
        </p:txBody>
      </p:sp>
      <p:sp>
        <p:nvSpPr>
          <p:cNvPr id="110" name="Google Shape;110;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sz="2200"/>
          </a:p>
        </p:txBody>
      </p:sp>
      <p:sp>
        <p:nvSpPr>
          <p:cNvPr id="111" name="Google Shape;111;p20"/>
          <p:cNvSpPr/>
          <p:nvPr/>
        </p:nvSpPr>
        <p:spPr>
          <a:xfrm>
            <a:off x="3112200" y="1661277"/>
            <a:ext cx="2919600" cy="2398800"/>
          </a:xfrm>
          <a:prstGeom prst="triangle">
            <a:avLst>
              <a:gd name="adj" fmla="val 50000"/>
            </a:avLst>
          </a:prstGeom>
          <a:solidFill>
            <a:srgbClr val="A1C3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0"/>
          <p:cNvSpPr txBox="1"/>
          <p:nvPr/>
        </p:nvSpPr>
        <p:spPr>
          <a:xfrm>
            <a:off x="3761614" y="2942096"/>
            <a:ext cx="1621500" cy="965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300" b="1">
                <a:solidFill>
                  <a:srgbClr val="0C58D3"/>
                </a:solidFill>
                <a:latin typeface="Roboto"/>
                <a:ea typeface="Roboto"/>
                <a:cs typeface="Roboto"/>
                <a:sym typeface="Roboto"/>
              </a:rPr>
              <a:t>Choose two</a:t>
            </a:r>
            <a:endParaRPr sz="2300">
              <a:solidFill>
                <a:srgbClr val="0C58D3"/>
              </a:solidFill>
            </a:endParaRPr>
          </a:p>
        </p:txBody>
      </p:sp>
      <p:sp>
        <p:nvSpPr>
          <p:cNvPr id="113" name="Google Shape;113;p20"/>
          <p:cNvSpPr txBox="1"/>
          <p:nvPr/>
        </p:nvSpPr>
        <p:spPr>
          <a:xfrm>
            <a:off x="3761625" y="1209275"/>
            <a:ext cx="1621500" cy="572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300" b="1">
                <a:solidFill>
                  <a:srgbClr val="0C58D3"/>
                </a:solidFill>
                <a:latin typeface="Roboto"/>
                <a:ea typeface="Roboto"/>
                <a:cs typeface="Roboto"/>
                <a:sym typeface="Roboto"/>
              </a:rPr>
              <a:t>Features</a:t>
            </a:r>
            <a:endParaRPr sz="2300">
              <a:solidFill>
                <a:srgbClr val="0C58D3"/>
              </a:solidFill>
            </a:endParaRPr>
          </a:p>
        </p:txBody>
      </p:sp>
      <p:sp>
        <p:nvSpPr>
          <p:cNvPr id="114" name="Google Shape;114;p20"/>
          <p:cNvSpPr txBox="1"/>
          <p:nvPr/>
        </p:nvSpPr>
        <p:spPr>
          <a:xfrm>
            <a:off x="1490700" y="3739875"/>
            <a:ext cx="1621500" cy="572700"/>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0"/>
              </a:spcAft>
              <a:buNone/>
            </a:pPr>
            <a:r>
              <a:rPr lang="en" sz="2300" b="1">
                <a:solidFill>
                  <a:srgbClr val="0C58D3"/>
                </a:solidFill>
                <a:latin typeface="Roboto"/>
                <a:ea typeface="Roboto"/>
                <a:cs typeface="Roboto"/>
                <a:sym typeface="Roboto"/>
              </a:rPr>
              <a:t>Time</a:t>
            </a:r>
            <a:endParaRPr sz="2300">
              <a:solidFill>
                <a:srgbClr val="0C58D3"/>
              </a:solidFill>
            </a:endParaRPr>
          </a:p>
        </p:txBody>
      </p:sp>
      <p:sp>
        <p:nvSpPr>
          <p:cNvPr id="115" name="Google Shape;115;p20"/>
          <p:cNvSpPr txBox="1"/>
          <p:nvPr/>
        </p:nvSpPr>
        <p:spPr>
          <a:xfrm>
            <a:off x="6032550" y="3739875"/>
            <a:ext cx="1621500" cy="572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300" b="1">
                <a:solidFill>
                  <a:srgbClr val="0C58D3"/>
                </a:solidFill>
                <a:latin typeface="Roboto"/>
                <a:ea typeface="Roboto"/>
                <a:cs typeface="Roboto"/>
                <a:sym typeface="Roboto"/>
              </a:rPr>
              <a:t>Resources</a:t>
            </a:r>
            <a:endParaRPr sz="2300">
              <a:solidFill>
                <a:srgbClr val="0C58D3"/>
              </a:solidFill>
            </a:endParaRPr>
          </a:p>
        </p:txBody>
      </p:sp>
      <p:pic>
        <p:nvPicPr>
          <p:cNvPr id="116" name="Google Shape;116;p20"/>
          <p:cNvPicPr preferRelativeResize="0"/>
          <p:nvPr/>
        </p:nvPicPr>
        <p:blipFill>
          <a:blip r:embed="rId3">
            <a:alphaModFix/>
          </a:blip>
          <a:stretch>
            <a:fillRect/>
          </a:stretch>
        </p:blipFill>
        <p:spPr>
          <a:xfrm>
            <a:off x="6343823" y="1365500"/>
            <a:ext cx="2440050" cy="15766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animEffect transition="in" filter="fade">
                                      <p:cBhvr>
                                        <p:cTn id="7" dur="1"/>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Prevent Feature Creep</a:t>
            </a:r>
            <a:endParaRPr/>
          </a:p>
        </p:txBody>
      </p:sp>
      <p:sp>
        <p:nvSpPr>
          <p:cNvPr id="122" name="Google Shape;122;p21"/>
          <p:cNvSpPr txBox="1">
            <a:spLocks noGrp="1"/>
          </p:cNvSpPr>
          <p:nvPr>
            <p:ph type="body" idx="1"/>
          </p:nvPr>
        </p:nvSpPr>
        <p:spPr>
          <a:xfrm>
            <a:off x="311700" y="1152475"/>
            <a:ext cx="8520600" cy="3746100"/>
          </a:xfrm>
          <a:prstGeom prst="rect">
            <a:avLst/>
          </a:prstGeom>
        </p:spPr>
        <p:txBody>
          <a:bodyPr spcFirstLastPara="1" wrap="square" lIns="91425" tIns="91425" rIns="91425" bIns="91425" anchor="t" anchorCtr="0">
            <a:normAutofit/>
          </a:bodyPr>
          <a:lstStyle/>
          <a:p>
            <a:pPr marL="457200" lvl="0" indent="-374650" algn="l" rtl="0">
              <a:lnSpc>
                <a:spcPct val="105000"/>
              </a:lnSpc>
              <a:spcBef>
                <a:spcPts val="0"/>
              </a:spcBef>
              <a:spcAft>
                <a:spcPts val="0"/>
              </a:spcAft>
              <a:buSzPts val="2300"/>
              <a:buChar char="●"/>
            </a:pPr>
            <a:r>
              <a:rPr lang="en" sz="2300" b="1"/>
              <a:t>Feature creep</a:t>
            </a:r>
            <a:r>
              <a:rPr lang="en" sz="2300"/>
              <a:t>: gradual accumulation of features over time</a:t>
            </a:r>
            <a:endParaRPr sz="2300"/>
          </a:p>
          <a:p>
            <a:pPr marL="914400" lvl="1" indent="-349250" algn="l" rtl="0">
              <a:lnSpc>
                <a:spcPct val="105000"/>
              </a:lnSpc>
              <a:spcBef>
                <a:spcPts val="0"/>
              </a:spcBef>
              <a:spcAft>
                <a:spcPts val="0"/>
              </a:spcAft>
              <a:buSzPts val="1900"/>
              <a:buChar char="○"/>
            </a:pPr>
            <a:r>
              <a:rPr lang="en" sz="1900"/>
              <a:t>Often has a negative overall effect on a project</a:t>
            </a:r>
            <a:endParaRPr sz="1900"/>
          </a:p>
          <a:p>
            <a:pPr marL="457200" lvl="0" indent="-374650" algn="l" rtl="0">
              <a:lnSpc>
                <a:spcPct val="105000"/>
              </a:lnSpc>
              <a:spcBef>
                <a:spcPts val="0"/>
              </a:spcBef>
              <a:spcAft>
                <a:spcPts val="0"/>
              </a:spcAft>
              <a:buSzPts val="2300"/>
              <a:buChar char="●"/>
            </a:pPr>
            <a:r>
              <a:rPr lang="en" sz="2300"/>
              <a:t>Why does it happen?</a:t>
            </a:r>
            <a:endParaRPr sz="2300"/>
          </a:p>
          <a:p>
            <a:pPr marL="914400" lvl="1" indent="-349250" algn="l" rtl="0">
              <a:lnSpc>
                <a:spcPct val="105000"/>
              </a:lnSpc>
              <a:spcBef>
                <a:spcPts val="0"/>
              </a:spcBef>
              <a:spcAft>
                <a:spcPts val="0"/>
              </a:spcAft>
              <a:buSzPts val="1900"/>
              <a:buChar char="○"/>
            </a:pPr>
            <a:r>
              <a:rPr lang="en" sz="1900"/>
              <a:t>Features are “fun”!</a:t>
            </a:r>
            <a:endParaRPr sz="1900"/>
          </a:p>
          <a:p>
            <a:pPr marL="1371600" lvl="2" indent="-349250" algn="l" rtl="0">
              <a:lnSpc>
                <a:spcPct val="105000"/>
              </a:lnSpc>
              <a:spcBef>
                <a:spcPts val="0"/>
              </a:spcBef>
              <a:spcAft>
                <a:spcPts val="0"/>
              </a:spcAft>
              <a:buSzPts val="1900"/>
              <a:buChar char="■"/>
            </a:pPr>
            <a:r>
              <a:rPr lang="en" sz="1900"/>
              <a:t>Developers like to code them</a:t>
            </a:r>
            <a:endParaRPr sz="1900"/>
          </a:p>
          <a:p>
            <a:pPr marL="1371600" lvl="2" indent="-349250" algn="l" rtl="0">
              <a:lnSpc>
                <a:spcPct val="105000"/>
              </a:lnSpc>
              <a:spcBef>
                <a:spcPts val="0"/>
              </a:spcBef>
              <a:spcAft>
                <a:spcPts val="0"/>
              </a:spcAft>
              <a:buSzPts val="1900"/>
              <a:buChar char="■"/>
            </a:pPr>
            <a:r>
              <a:rPr lang="en" sz="1900"/>
              <a:t>Marketers like to brag about them</a:t>
            </a:r>
            <a:endParaRPr sz="1900"/>
          </a:p>
          <a:p>
            <a:pPr marL="1371600" lvl="2" indent="-349250" algn="l" rtl="0">
              <a:lnSpc>
                <a:spcPct val="105000"/>
              </a:lnSpc>
              <a:spcBef>
                <a:spcPts val="0"/>
              </a:spcBef>
              <a:spcAft>
                <a:spcPts val="0"/>
              </a:spcAft>
              <a:buSzPts val="1900"/>
              <a:buChar char="■"/>
            </a:pPr>
            <a:r>
              <a:rPr lang="en" sz="1900"/>
              <a:t>Users want them</a:t>
            </a:r>
            <a:endParaRPr sz="1900"/>
          </a:p>
          <a:p>
            <a:pPr marL="914400" lvl="1" indent="-349250" algn="l" rtl="0">
              <a:lnSpc>
                <a:spcPct val="105000"/>
              </a:lnSpc>
              <a:spcBef>
                <a:spcPts val="0"/>
              </a:spcBef>
              <a:spcAft>
                <a:spcPts val="0"/>
              </a:spcAft>
              <a:buSzPts val="1900"/>
              <a:buChar char="○"/>
            </a:pPr>
            <a:r>
              <a:rPr lang="en" sz="1900"/>
              <a:t>…but…</a:t>
            </a:r>
            <a:endParaRPr sz="1900"/>
          </a:p>
          <a:p>
            <a:pPr marL="1371600" lvl="2" indent="-349250" algn="l" rtl="0">
              <a:lnSpc>
                <a:spcPct val="105000"/>
              </a:lnSpc>
              <a:spcBef>
                <a:spcPts val="0"/>
              </a:spcBef>
              <a:spcAft>
                <a:spcPts val="0"/>
              </a:spcAft>
              <a:buSzPts val="1900"/>
              <a:buChar char="■"/>
            </a:pPr>
            <a:r>
              <a:rPr lang="en" sz="1900"/>
              <a:t>More bugs</a:t>
            </a:r>
            <a:endParaRPr sz="1900"/>
          </a:p>
          <a:p>
            <a:pPr marL="1371600" lvl="2" indent="-349250" algn="l" rtl="0">
              <a:lnSpc>
                <a:spcPct val="105000"/>
              </a:lnSpc>
              <a:spcBef>
                <a:spcPts val="0"/>
              </a:spcBef>
              <a:spcAft>
                <a:spcPts val="0"/>
              </a:spcAft>
              <a:buSzPts val="1900"/>
              <a:buChar char="■"/>
            </a:pPr>
            <a:r>
              <a:rPr lang="en" sz="1900"/>
              <a:t>More testing</a:t>
            </a:r>
            <a:endParaRPr sz="1900"/>
          </a:p>
          <a:p>
            <a:pPr marL="1371600" lvl="2" indent="-349250" algn="l" rtl="0">
              <a:lnSpc>
                <a:spcPct val="105000"/>
              </a:lnSpc>
              <a:spcBef>
                <a:spcPts val="0"/>
              </a:spcBef>
              <a:spcAft>
                <a:spcPts val="0"/>
              </a:spcAft>
              <a:buSzPts val="1900"/>
              <a:buChar char="■"/>
            </a:pPr>
            <a:r>
              <a:rPr lang="en" sz="1900"/>
              <a:t>More time</a:t>
            </a:r>
            <a:endParaRPr sz="1900"/>
          </a:p>
        </p:txBody>
      </p:sp>
      <p:grpSp>
        <p:nvGrpSpPr>
          <p:cNvPr id="4" name="Group 3">
            <a:extLst>
              <a:ext uri="{FF2B5EF4-FFF2-40B4-BE49-F238E27FC236}">
                <a16:creationId xmlns:a16="http://schemas.microsoft.com/office/drawing/2014/main" id="{5154B9F9-B612-10DC-E19F-17F3304A5242}"/>
              </a:ext>
            </a:extLst>
          </p:cNvPr>
          <p:cNvGrpSpPr/>
          <p:nvPr/>
        </p:nvGrpSpPr>
        <p:grpSpPr>
          <a:xfrm>
            <a:off x="1457741" y="3756992"/>
            <a:ext cx="4181061" cy="1046921"/>
            <a:chOff x="1457741" y="3756992"/>
            <a:chExt cx="4181061" cy="1046921"/>
          </a:xfrm>
        </p:grpSpPr>
        <p:sp>
          <p:nvSpPr>
            <p:cNvPr id="2" name="Oval 1">
              <a:extLst>
                <a:ext uri="{FF2B5EF4-FFF2-40B4-BE49-F238E27FC236}">
                  <a16:creationId xmlns:a16="http://schemas.microsoft.com/office/drawing/2014/main" id="{64E70665-02AD-55A5-A070-44A4E24C57E4}"/>
                </a:ext>
              </a:extLst>
            </p:cNvPr>
            <p:cNvSpPr/>
            <p:nvPr/>
          </p:nvSpPr>
          <p:spPr>
            <a:xfrm>
              <a:off x="1457741" y="3756992"/>
              <a:ext cx="1729408" cy="104692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3" name="TextBox 2">
              <a:extLst>
                <a:ext uri="{FF2B5EF4-FFF2-40B4-BE49-F238E27FC236}">
                  <a16:creationId xmlns:a16="http://schemas.microsoft.com/office/drawing/2014/main" id="{B7AAAD9B-DF2A-FA8A-5D8D-384C8EFE3F46}"/>
                </a:ext>
              </a:extLst>
            </p:cNvPr>
            <p:cNvSpPr txBox="1"/>
            <p:nvPr/>
          </p:nvSpPr>
          <p:spPr>
            <a:xfrm>
              <a:off x="3187149" y="3838732"/>
              <a:ext cx="2451653" cy="523220"/>
            </a:xfrm>
            <a:prstGeom prst="rect">
              <a:avLst/>
            </a:prstGeom>
            <a:noFill/>
          </p:spPr>
          <p:txBody>
            <a:bodyPr wrap="square" rtlCol="0">
              <a:spAutoFit/>
            </a:bodyPr>
            <a:lstStyle/>
            <a:p>
              <a:r>
                <a:rPr lang="en-US" sz="2800" b="1" dirty="0">
                  <a:solidFill>
                    <a:srgbClr val="FF0000"/>
                  </a:solidFill>
                </a:rPr>
                <a:t>Tech Debt!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
                                            <p:txEl>
                                              <p:pRg st="0" end="0"/>
                                            </p:txEl>
                                          </p:spTgt>
                                        </p:tgtEl>
                                        <p:attrNameLst>
                                          <p:attrName>style.visibility</p:attrName>
                                        </p:attrNameLst>
                                      </p:cBhvr>
                                      <p:to>
                                        <p:strVal val="visible"/>
                                      </p:to>
                                    </p:set>
                                    <p:animEffect transition="in" filter="fade">
                                      <p:cBhvr>
                                        <p:cTn id="7" dur="1"/>
                                        <p:tgtEl>
                                          <p:spTgt spid="1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2">
                                            <p:txEl>
                                              <p:pRg st="1" end="1"/>
                                            </p:txEl>
                                          </p:spTgt>
                                        </p:tgtEl>
                                        <p:attrNameLst>
                                          <p:attrName>style.visibility</p:attrName>
                                        </p:attrNameLst>
                                      </p:cBhvr>
                                      <p:to>
                                        <p:strVal val="visible"/>
                                      </p:to>
                                    </p:set>
                                    <p:animEffect transition="in" filter="fade">
                                      <p:cBhvr>
                                        <p:cTn id="12" dur="1"/>
                                        <p:tgtEl>
                                          <p:spTgt spid="12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2">
                                            <p:txEl>
                                              <p:pRg st="2" end="2"/>
                                            </p:txEl>
                                          </p:spTgt>
                                        </p:tgtEl>
                                        <p:attrNameLst>
                                          <p:attrName>style.visibility</p:attrName>
                                        </p:attrNameLst>
                                      </p:cBhvr>
                                      <p:to>
                                        <p:strVal val="visible"/>
                                      </p:to>
                                    </p:set>
                                    <p:animEffect transition="in" filter="fade">
                                      <p:cBhvr>
                                        <p:cTn id="17" dur="1"/>
                                        <p:tgtEl>
                                          <p:spTgt spid="12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2">
                                            <p:txEl>
                                              <p:pRg st="3" end="3"/>
                                            </p:txEl>
                                          </p:spTgt>
                                        </p:tgtEl>
                                        <p:attrNameLst>
                                          <p:attrName>style.visibility</p:attrName>
                                        </p:attrNameLst>
                                      </p:cBhvr>
                                      <p:to>
                                        <p:strVal val="visible"/>
                                      </p:to>
                                    </p:set>
                                    <p:animEffect transition="in" filter="fade">
                                      <p:cBhvr>
                                        <p:cTn id="22" dur="1"/>
                                        <p:tgtEl>
                                          <p:spTgt spid="12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2">
                                            <p:txEl>
                                              <p:pRg st="4" end="4"/>
                                            </p:txEl>
                                          </p:spTgt>
                                        </p:tgtEl>
                                        <p:attrNameLst>
                                          <p:attrName>style.visibility</p:attrName>
                                        </p:attrNameLst>
                                      </p:cBhvr>
                                      <p:to>
                                        <p:strVal val="visible"/>
                                      </p:to>
                                    </p:set>
                                    <p:animEffect transition="in" filter="fade">
                                      <p:cBhvr>
                                        <p:cTn id="27" dur="1"/>
                                        <p:tgtEl>
                                          <p:spTgt spid="12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2">
                                            <p:txEl>
                                              <p:pRg st="5" end="5"/>
                                            </p:txEl>
                                          </p:spTgt>
                                        </p:tgtEl>
                                        <p:attrNameLst>
                                          <p:attrName>style.visibility</p:attrName>
                                        </p:attrNameLst>
                                      </p:cBhvr>
                                      <p:to>
                                        <p:strVal val="visible"/>
                                      </p:to>
                                    </p:set>
                                    <p:animEffect transition="in" filter="fade">
                                      <p:cBhvr>
                                        <p:cTn id="32" dur="1"/>
                                        <p:tgtEl>
                                          <p:spTgt spid="12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2">
                                            <p:txEl>
                                              <p:pRg st="6" end="6"/>
                                            </p:txEl>
                                          </p:spTgt>
                                        </p:tgtEl>
                                        <p:attrNameLst>
                                          <p:attrName>style.visibility</p:attrName>
                                        </p:attrNameLst>
                                      </p:cBhvr>
                                      <p:to>
                                        <p:strVal val="visible"/>
                                      </p:to>
                                    </p:set>
                                    <p:animEffect transition="in" filter="fade">
                                      <p:cBhvr>
                                        <p:cTn id="37" dur="1"/>
                                        <p:tgtEl>
                                          <p:spTgt spid="12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2">
                                            <p:txEl>
                                              <p:pRg st="7" end="7"/>
                                            </p:txEl>
                                          </p:spTgt>
                                        </p:tgtEl>
                                        <p:attrNameLst>
                                          <p:attrName>style.visibility</p:attrName>
                                        </p:attrNameLst>
                                      </p:cBhvr>
                                      <p:to>
                                        <p:strVal val="visible"/>
                                      </p:to>
                                    </p:set>
                                    <p:animEffect transition="in" filter="fade">
                                      <p:cBhvr>
                                        <p:cTn id="42" dur="1"/>
                                        <p:tgtEl>
                                          <p:spTgt spid="12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2">
                                            <p:txEl>
                                              <p:pRg st="8" end="8"/>
                                            </p:txEl>
                                          </p:spTgt>
                                        </p:tgtEl>
                                        <p:attrNameLst>
                                          <p:attrName>style.visibility</p:attrName>
                                        </p:attrNameLst>
                                      </p:cBhvr>
                                      <p:to>
                                        <p:strVal val="visible"/>
                                      </p:to>
                                    </p:set>
                                    <p:animEffect transition="in" filter="fade">
                                      <p:cBhvr>
                                        <p:cTn id="47" dur="1"/>
                                        <p:tgtEl>
                                          <p:spTgt spid="12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122">
                                            <p:txEl>
                                              <p:pRg st="9" end="9"/>
                                            </p:txEl>
                                          </p:spTgt>
                                        </p:tgtEl>
                                        <p:attrNameLst>
                                          <p:attrName>style.visibility</p:attrName>
                                        </p:attrNameLst>
                                      </p:cBhvr>
                                      <p:to>
                                        <p:strVal val="visible"/>
                                      </p:to>
                                    </p:set>
                                    <p:animEffect transition="in" filter="fade">
                                      <p:cBhvr>
                                        <p:cTn id="52" dur="1"/>
                                        <p:tgtEl>
                                          <p:spTgt spid="12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22">
                                            <p:txEl>
                                              <p:pRg st="10" end="10"/>
                                            </p:txEl>
                                          </p:spTgt>
                                        </p:tgtEl>
                                        <p:attrNameLst>
                                          <p:attrName>style.visibility</p:attrName>
                                        </p:attrNameLst>
                                      </p:cBhvr>
                                      <p:to>
                                        <p:strVal val="visible"/>
                                      </p:to>
                                    </p:set>
                                    <p:animEffect transition="in" filter="fade">
                                      <p:cBhvr>
                                        <p:cTn id="57" dur="1"/>
                                        <p:tgtEl>
                                          <p:spTgt spid="122">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Improve Your Time Estimation</a:t>
            </a:r>
            <a:endParaRPr/>
          </a:p>
        </p:txBody>
      </p:sp>
      <p:sp>
        <p:nvSpPr>
          <p:cNvPr id="129" name="Google Shape;129;p22"/>
          <p:cNvSpPr txBox="1">
            <a:spLocks noGrp="1"/>
          </p:cNvSpPr>
          <p:nvPr>
            <p:ph type="body" idx="1"/>
          </p:nvPr>
        </p:nvSpPr>
        <p:spPr>
          <a:xfrm>
            <a:off x="311700" y="1152475"/>
            <a:ext cx="8520600" cy="37176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Char char="●"/>
            </a:pPr>
            <a:r>
              <a:rPr lang="en" sz="2200" b="1"/>
              <a:t>Time</a:t>
            </a:r>
            <a:r>
              <a:rPr lang="en" sz="2200"/>
              <a:t> is the most valuable resource for your project</a:t>
            </a:r>
            <a:endParaRPr sz="2200"/>
          </a:p>
          <a:p>
            <a:pPr marL="457200" lvl="0" indent="-368300" algn="l" rtl="0">
              <a:spcBef>
                <a:spcPts val="0"/>
              </a:spcBef>
              <a:spcAft>
                <a:spcPts val="0"/>
              </a:spcAft>
              <a:buSzPts val="2200"/>
              <a:buChar char="●"/>
            </a:pPr>
            <a:r>
              <a:rPr lang="en" sz="2200"/>
              <a:t>To spend your team’s time efficiently…</a:t>
            </a:r>
            <a:endParaRPr sz="2200"/>
          </a:p>
          <a:p>
            <a:pPr marL="914400" lvl="1" indent="-342900" algn="l" rtl="0">
              <a:spcBef>
                <a:spcPts val="0"/>
              </a:spcBef>
              <a:spcAft>
                <a:spcPts val="0"/>
              </a:spcAft>
              <a:buSzPts val="1800"/>
              <a:buChar char="○"/>
            </a:pPr>
            <a:r>
              <a:rPr lang="en" sz="1800"/>
              <a:t>…you need to know </a:t>
            </a:r>
            <a:r>
              <a:rPr lang="en" sz="1800" b="1"/>
              <a:t>what to build</a:t>
            </a:r>
            <a:endParaRPr sz="1800" b="1"/>
          </a:p>
          <a:p>
            <a:pPr marL="914400" lvl="1" indent="-342900" algn="l" rtl="0">
              <a:spcBef>
                <a:spcPts val="0"/>
              </a:spcBef>
              <a:spcAft>
                <a:spcPts val="0"/>
              </a:spcAft>
              <a:buSzPts val="1800"/>
              <a:buChar char="○"/>
            </a:pPr>
            <a:r>
              <a:rPr lang="en" sz="1800"/>
              <a:t>…you need to know what </a:t>
            </a:r>
            <a:r>
              <a:rPr lang="en" sz="1800" b="1" i="1"/>
              <a:t>not</a:t>
            </a:r>
            <a:r>
              <a:rPr lang="en" sz="1800"/>
              <a:t> to build</a:t>
            </a:r>
            <a:endParaRPr sz="1800"/>
          </a:p>
          <a:p>
            <a:pPr marL="914400" lvl="1" indent="-342900" algn="l" rtl="0">
              <a:spcBef>
                <a:spcPts val="0"/>
              </a:spcBef>
              <a:spcAft>
                <a:spcPts val="0"/>
              </a:spcAft>
              <a:buSzPts val="1800"/>
              <a:buChar char="○"/>
            </a:pPr>
            <a:r>
              <a:rPr lang="en" sz="1800"/>
              <a:t>…you need to know </a:t>
            </a:r>
            <a:r>
              <a:rPr lang="en" sz="1800" b="1"/>
              <a:t>what order</a:t>
            </a:r>
            <a:r>
              <a:rPr lang="en" sz="1800"/>
              <a:t> to build things</a:t>
            </a:r>
            <a:endParaRPr sz="1800"/>
          </a:p>
          <a:p>
            <a:pPr marL="457200" lvl="0" indent="-368300" algn="l" rtl="0">
              <a:spcBef>
                <a:spcPts val="0"/>
              </a:spcBef>
              <a:spcAft>
                <a:spcPts val="0"/>
              </a:spcAft>
              <a:buSzPts val="2200"/>
              <a:buChar char="●"/>
            </a:pPr>
            <a:r>
              <a:rPr lang="en" sz="2200"/>
              <a:t>Design can help with this!</a:t>
            </a:r>
            <a:endParaRPr sz="2200"/>
          </a:p>
          <a:p>
            <a:pPr marL="457200" lvl="0" indent="-368300" algn="l" rtl="0">
              <a:spcBef>
                <a:spcPts val="0"/>
              </a:spcBef>
              <a:spcAft>
                <a:spcPts val="0"/>
              </a:spcAft>
              <a:buSzPts val="2200"/>
              <a:buChar char="●"/>
            </a:pPr>
            <a:r>
              <a:rPr lang="en" sz="2200"/>
              <a:t>Estimating how long something is going to take is HARD!</a:t>
            </a:r>
            <a:endParaRPr sz="2200"/>
          </a:p>
          <a:p>
            <a:pPr marL="914400" lvl="1" indent="-342900" algn="l" rtl="0">
              <a:spcBef>
                <a:spcPts val="0"/>
              </a:spcBef>
              <a:spcAft>
                <a:spcPts val="0"/>
              </a:spcAft>
              <a:buSzPts val="1800"/>
              <a:buChar char="○"/>
            </a:pPr>
            <a:r>
              <a:rPr lang="en" sz="1800"/>
              <a:t>Almost everything takes longer than you think it will</a:t>
            </a:r>
            <a:endParaRPr sz="1800"/>
          </a:p>
          <a:p>
            <a:pPr marL="914400" lvl="1" indent="-342900" algn="l" rtl="0">
              <a:spcBef>
                <a:spcPts val="0"/>
              </a:spcBef>
              <a:spcAft>
                <a:spcPts val="0"/>
              </a:spcAft>
              <a:buSzPts val="1800"/>
              <a:buChar char="○"/>
            </a:pPr>
            <a:r>
              <a:rPr lang="en" sz="1800"/>
              <a:t>Design will help you order and parallelize your work so you aren’t surprised</a:t>
            </a:r>
            <a:endParaRP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9">
                                            <p:txEl>
                                              <p:pRg st="0" end="0"/>
                                            </p:txEl>
                                          </p:spTgt>
                                        </p:tgtEl>
                                        <p:attrNameLst>
                                          <p:attrName>style.visibility</p:attrName>
                                        </p:attrNameLst>
                                      </p:cBhvr>
                                      <p:to>
                                        <p:strVal val="visible"/>
                                      </p:to>
                                    </p:set>
                                    <p:animEffect transition="in" filter="fade">
                                      <p:cBhvr>
                                        <p:cTn id="7" dur="1"/>
                                        <p:tgtEl>
                                          <p:spTgt spid="12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9">
                                            <p:txEl>
                                              <p:pRg st="1" end="1"/>
                                            </p:txEl>
                                          </p:spTgt>
                                        </p:tgtEl>
                                        <p:attrNameLst>
                                          <p:attrName>style.visibility</p:attrName>
                                        </p:attrNameLst>
                                      </p:cBhvr>
                                      <p:to>
                                        <p:strVal val="visible"/>
                                      </p:to>
                                    </p:set>
                                    <p:animEffect transition="in" filter="fade">
                                      <p:cBhvr>
                                        <p:cTn id="12" dur="1"/>
                                        <p:tgtEl>
                                          <p:spTgt spid="12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9">
                                            <p:txEl>
                                              <p:pRg st="2" end="2"/>
                                            </p:txEl>
                                          </p:spTgt>
                                        </p:tgtEl>
                                        <p:attrNameLst>
                                          <p:attrName>style.visibility</p:attrName>
                                        </p:attrNameLst>
                                      </p:cBhvr>
                                      <p:to>
                                        <p:strVal val="visible"/>
                                      </p:to>
                                    </p:set>
                                    <p:animEffect transition="in" filter="fade">
                                      <p:cBhvr>
                                        <p:cTn id="17" dur="1"/>
                                        <p:tgtEl>
                                          <p:spTgt spid="12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29">
                                            <p:txEl>
                                              <p:pRg st="3" end="3"/>
                                            </p:txEl>
                                          </p:spTgt>
                                        </p:tgtEl>
                                        <p:attrNameLst>
                                          <p:attrName>style.visibility</p:attrName>
                                        </p:attrNameLst>
                                      </p:cBhvr>
                                      <p:to>
                                        <p:strVal val="visible"/>
                                      </p:to>
                                    </p:set>
                                    <p:animEffect transition="in" filter="fade">
                                      <p:cBhvr>
                                        <p:cTn id="22" dur="1"/>
                                        <p:tgtEl>
                                          <p:spTgt spid="12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9">
                                            <p:txEl>
                                              <p:pRg st="4" end="4"/>
                                            </p:txEl>
                                          </p:spTgt>
                                        </p:tgtEl>
                                        <p:attrNameLst>
                                          <p:attrName>style.visibility</p:attrName>
                                        </p:attrNameLst>
                                      </p:cBhvr>
                                      <p:to>
                                        <p:strVal val="visible"/>
                                      </p:to>
                                    </p:set>
                                    <p:animEffect transition="in" filter="fade">
                                      <p:cBhvr>
                                        <p:cTn id="27" dur="1"/>
                                        <p:tgtEl>
                                          <p:spTgt spid="12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9">
                                            <p:txEl>
                                              <p:pRg st="5" end="5"/>
                                            </p:txEl>
                                          </p:spTgt>
                                        </p:tgtEl>
                                        <p:attrNameLst>
                                          <p:attrName>style.visibility</p:attrName>
                                        </p:attrNameLst>
                                      </p:cBhvr>
                                      <p:to>
                                        <p:strVal val="visible"/>
                                      </p:to>
                                    </p:set>
                                    <p:animEffect transition="in" filter="fade">
                                      <p:cBhvr>
                                        <p:cTn id="32" dur="1"/>
                                        <p:tgtEl>
                                          <p:spTgt spid="12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9">
                                            <p:txEl>
                                              <p:pRg st="6" end="6"/>
                                            </p:txEl>
                                          </p:spTgt>
                                        </p:tgtEl>
                                        <p:attrNameLst>
                                          <p:attrName>style.visibility</p:attrName>
                                        </p:attrNameLst>
                                      </p:cBhvr>
                                      <p:to>
                                        <p:strVal val="visible"/>
                                      </p:to>
                                    </p:set>
                                    <p:animEffect transition="in" filter="fade">
                                      <p:cBhvr>
                                        <p:cTn id="37" dur="1"/>
                                        <p:tgtEl>
                                          <p:spTgt spid="12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29">
                                            <p:txEl>
                                              <p:pRg st="7" end="7"/>
                                            </p:txEl>
                                          </p:spTgt>
                                        </p:tgtEl>
                                        <p:attrNameLst>
                                          <p:attrName>style.visibility</p:attrName>
                                        </p:attrNameLst>
                                      </p:cBhvr>
                                      <p:to>
                                        <p:strVal val="visible"/>
                                      </p:to>
                                    </p:set>
                                    <p:animEffect transition="in" filter="fade">
                                      <p:cBhvr>
                                        <p:cTn id="42" dur="1"/>
                                        <p:tgtEl>
                                          <p:spTgt spid="12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9">
                                            <p:txEl>
                                              <p:pRg st="8" end="8"/>
                                            </p:txEl>
                                          </p:spTgt>
                                        </p:tgtEl>
                                        <p:attrNameLst>
                                          <p:attrName>style.visibility</p:attrName>
                                        </p:attrNameLst>
                                      </p:cBhvr>
                                      <p:to>
                                        <p:strVal val="visible"/>
                                      </p:to>
                                    </p:set>
                                    <p:animEffect transition="in" filter="fade">
                                      <p:cBhvr>
                                        <p:cTn id="47" dur="1"/>
                                        <p:tgtEl>
                                          <p:spTgt spid="12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Design Benefits</a:t>
            </a:r>
            <a:endParaRPr/>
          </a:p>
        </p:txBody>
      </p:sp>
      <p:sp>
        <p:nvSpPr>
          <p:cNvPr id="135" name="Google Shape;135;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Char char="●"/>
            </a:pPr>
            <a:r>
              <a:rPr lang="en" sz="2200"/>
              <a:t>Systematic approach to a complex problem</a:t>
            </a:r>
            <a:endParaRPr sz="2200"/>
          </a:p>
          <a:p>
            <a:pPr marL="457200" lvl="0" indent="-368300" algn="l" rtl="0">
              <a:spcBef>
                <a:spcPts val="0"/>
              </a:spcBef>
              <a:spcAft>
                <a:spcPts val="0"/>
              </a:spcAft>
              <a:buSzPts val="2200"/>
              <a:buChar char="●"/>
            </a:pPr>
            <a:r>
              <a:rPr lang="en" sz="2200"/>
              <a:t>Finds bugs before you code</a:t>
            </a:r>
            <a:endParaRPr sz="2200"/>
          </a:p>
          <a:p>
            <a:pPr marL="457200" lvl="0" indent="-368300" algn="l" rtl="0">
              <a:spcBef>
                <a:spcPts val="0"/>
              </a:spcBef>
              <a:spcAft>
                <a:spcPts val="0"/>
              </a:spcAft>
              <a:buSzPts val="2200"/>
              <a:buChar char="●"/>
            </a:pPr>
            <a:r>
              <a:rPr lang="en" sz="2200"/>
              <a:t>Enables parallel work</a:t>
            </a:r>
            <a:endParaRPr sz="2200"/>
          </a:p>
          <a:p>
            <a:pPr marL="457200" lvl="0" indent="-368300" algn="l" rtl="0">
              <a:spcBef>
                <a:spcPts val="0"/>
              </a:spcBef>
              <a:spcAft>
                <a:spcPts val="0"/>
              </a:spcAft>
              <a:buSzPts val="2200"/>
              <a:buChar char="●"/>
            </a:pPr>
            <a:r>
              <a:rPr lang="en" sz="2200"/>
              <a:t>Promotes testability</a:t>
            </a:r>
            <a:endParaRPr sz="2200"/>
          </a:p>
          <a:p>
            <a:pPr marL="457200" lvl="0" indent="-368300" algn="l" rtl="0">
              <a:spcBef>
                <a:spcPts val="0"/>
              </a:spcBef>
              <a:spcAft>
                <a:spcPts val="0"/>
              </a:spcAft>
              <a:buSzPts val="2200"/>
              <a:buChar char="●"/>
            </a:pPr>
            <a:r>
              <a:rPr lang="en" sz="2200"/>
              <a:t>Build an understandable, extendable, maintainable system</a:t>
            </a:r>
            <a:endParaRPr sz="2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Software Design Process (for this class)</a:t>
            </a:r>
            <a:endParaRPr/>
          </a:p>
        </p:txBody>
      </p:sp>
      <p:sp>
        <p:nvSpPr>
          <p:cNvPr id="141" name="Google Shape;141;p2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AutoNum type="arabicPeriod"/>
            </a:pPr>
            <a:r>
              <a:rPr lang="en" sz="2200"/>
              <a:t>Identify the users</a:t>
            </a:r>
            <a:endParaRPr sz="2200"/>
          </a:p>
          <a:p>
            <a:pPr marL="914400" lvl="1" indent="-342900" algn="l" rtl="0">
              <a:spcBef>
                <a:spcPts val="0"/>
              </a:spcBef>
              <a:spcAft>
                <a:spcPts val="0"/>
              </a:spcAft>
              <a:buSzPts val="1800"/>
              <a:buChar char="○"/>
            </a:pPr>
            <a:r>
              <a:rPr lang="en" sz="1800"/>
              <a:t>Who they are, what they want</a:t>
            </a:r>
            <a:endParaRPr sz="1800"/>
          </a:p>
          <a:p>
            <a:pPr marL="914400" lvl="1" indent="-342900" algn="l" rtl="0">
              <a:spcBef>
                <a:spcPts val="0"/>
              </a:spcBef>
              <a:spcAft>
                <a:spcPts val="0"/>
              </a:spcAft>
              <a:buSzPts val="1800"/>
              <a:buChar char="○"/>
            </a:pPr>
            <a:r>
              <a:rPr lang="en" sz="1800"/>
              <a:t>High level</a:t>
            </a:r>
            <a:endParaRPr sz="1800"/>
          </a:p>
          <a:p>
            <a:pPr marL="457200" lvl="0" indent="-368300" algn="l" rtl="0">
              <a:spcBef>
                <a:spcPts val="0"/>
              </a:spcBef>
              <a:spcAft>
                <a:spcPts val="0"/>
              </a:spcAft>
              <a:buSzPts val="2200"/>
              <a:buAutoNum type="arabicPeriod"/>
            </a:pPr>
            <a:r>
              <a:rPr lang="en" sz="2200"/>
              <a:t>Functional design</a:t>
            </a:r>
            <a:endParaRPr sz="2200"/>
          </a:p>
          <a:p>
            <a:pPr marL="914400" lvl="1" indent="-342900" algn="l" rtl="0">
              <a:spcBef>
                <a:spcPts val="0"/>
              </a:spcBef>
              <a:spcAft>
                <a:spcPts val="0"/>
              </a:spcAft>
              <a:buSzPts val="1800"/>
              <a:buChar char="○"/>
            </a:pPr>
            <a:r>
              <a:rPr lang="en" sz="1800"/>
              <a:t>What the system does</a:t>
            </a:r>
            <a:endParaRPr sz="1800"/>
          </a:p>
          <a:p>
            <a:pPr marL="914400" lvl="1" indent="-342900" algn="l" rtl="0">
              <a:spcBef>
                <a:spcPts val="0"/>
              </a:spcBef>
              <a:spcAft>
                <a:spcPts val="0"/>
              </a:spcAft>
              <a:buSzPts val="1800"/>
              <a:buChar char="○"/>
            </a:pPr>
            <a:r>
              <a:rPr lang="en" sz="1800"/>
              <a:t>Specification</a:t>
            </a:r>
            <a:endParaRPr sz="1800"/>
          </a:p>
          <a:p>
            <a:pPr marL="457200" lvl="0" indent="-368300" algn="l" rtl="0">
              <a:spcBef>
                <a:spcPts val="0"/>
              </a:spcBef>
              <a:spcAft>
                <a:spcPts val="0"/>
              </a:spcAft>
              <a:buSzPts val="2200"/>
              <a:buAutoNum type="arabicPeriod"/>
            </a:pPr>
            <a:r>
              <a:rPr lang="en" sz="2200"/>
              <a:t>Component design</a:t>
            </a:r>
            <a:endParaRPr sz="2200"/>
          </a:p>
          <a:p>
            <a:pPr marL="914400" lvl="1" indent="-342900" algn="l" rtl="0">
              <a:spcBef>
                <a:spcPts val="0"/>
              </a:spcBef>
              <a:spcAft>
                <a:spcPts val="0"/>
              </a:spcAft>
              <a:buSzPts val="1800"/>
              <a:buChar char="○"/>
            </a:pPr>
            <a:r>
              <a:rPr lang="en" sz="1800"/>
              <a:t>How the software will work</a:t>
            </a:r>
            <a:endParaRPr sz="1800"/>
          </a:p>
          <a:p>
            <a:pPr marL="914400" lvl="1" indent="-342900" algn="l" rtl="0">
              <a:spcBef>
                <a:spcPts val="0"/>
              </a:spcBef>
              <a:spcAft>
                <a:spcPts val="0"/>
              </a:spcAft>
              <a:buSzPts val="1800"/>
              <a:buChar char="○"/>
            </a:pPr>
            <a:r>
              <a:rPr lang="en" sz="1800"/>
              <a:t>Implementation</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25"/>
          <p:cNvPicPr preferRelativeResize="0"/>
          <p:nvPr/>
        </p:nvPicPr>
        <p:blipFill rotWithShape="1">
          <a:blip r:embed="rId3">
            <a:alphaModFix/>
          </a:blip>
          <a:srcRect l="7498" t="13751" r="7002" b="13100"/>
          <a:stretch/>
        </p:blipFill>
        <p:spPr>
          <a:xfrm>
            <a:off x="2968712" y="1017713"/>
            <a:ext cx="5863576" cy="3762426"/>
          </a:xfrm>
          <a:prstGeom prst="rect">
            <a:avLst/>
          </a:prstGeom>
          <a:noFill/>
          <a:ln>
            <a:noFill/>
          </a:ln>
        </p:spPr>
      </p:pic>
      <p:sp>
        <p:nvSpPr>
          <p:cNvPr id="147" name="Google Shape;147;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Running Example: Inventory Management</a:t>
            </a:r>
            <a:endParaRPr/>
          </a:p>
        </p:txBody>
      </p:sp>
      <p:sp>
        <p:nvSpPr>
          <p:cNvPr id="148" name="Google Shape;148;p25"/>
          <p:cNvSpPr txBox="1">
            <a:spLocks noGrp="1"/>
          </p:cNvSpPr>
          <p:nvPr>
            <p:ph type="body" idx="1"/>
          </p:nvPr>
        </p:nvSpPr>
        <p:spPr>
          <a:xfrm>
            <a:off x="311700" y="1152475"/>
            <a:ext cx="36888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r>
              <a:rPr lang="en" sz="2600"/>
              <a:t>Data: historical</a:t>
            </a:r>
            <a:br>
              <a:rPr lang="en" sz="2600"/>
            </a:br>
            <a:r>
              <a:rPr lang="en" sz="2600"/>
              <a:t>          product</a:t>
            </a:r>
            <a:br>
              <a:rPr lang="en" sz="2600"/>
            </a:br>
            <a:r>
              <a:rPr lang="en" sz="2600"/>
              <a:t>	     inventory</a:t>
            </a:r>
            <a:endParaRPr sz="2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6"/>
          <p:cNvSpPr txBox="1">
            <a:spLocks noGrp="1"/>
          </p:cNvSpPr>
          <p:nvPr>
            <p:ph type="title"/>
          </p:nvPr>
        </p:nvSpPr>
        <p:spPr>
          <a:xfrm>
            <a:off x="311700" y="2285400"/>
            <a:ext cx="8520600" cy="5727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User Stories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Start with your users</a:t>
            </a:r>
            <a:endParaRPr/>
          </a:p>
        </p:txBody>
      </p:sp>
      <p:sp>
        <p:nvSpPr>
          <p:cNvPr id="159" name="Google Shape;159;p27"/>
          <p:cNvSpPr txBox="1">
            <a:spLocks noGrp="1"/>
          </p:cNvSpPr>
          <p:nvPr>
            <p:ph type="body" idx="1"/>
          </p:nvPr>
        </p:nvSpPr>
        <p:spPr>
          <a:xfrm>
            <a:off x="311700" y="1152475"/>
            <a:ext cx="8520600" cy="37587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Char char="●"/>
            </a:pPr>
            <a:r>
              <a:rPr lang="en" sz="2200"/>
              <a:t>Who are your users?</a:t>
            </a:r>
            <a:endParaRPr sz="2200"/>
          </a:p>
          <a:p>
            <a:pPr marL="914400" lvl="1" indent="-342900" algn="l" rtl="0">
              <a:spcBef>
                <a:spcPts val="0"/>
              </a:spcBef>
              <a:spcAft>
                <a:spcPts val="0"/>
              </a:spcAft>
              <a:buSzPts val="1800"/>
              <a:buChar char="○"/>
            </a:pPr>
            <a:r>
              <a:rPr lang="en" sz="1800"/>
              <a:t>Researchers?</a:t>
            </a:r>
            <a:endParaRPr sz="1800"/>
          </a:p>
          <a:p>
            <a:pPr marL="914400" lvl="1" indent="-342900" algn="l" rtl="0">
              <a:spcBef>
                <a:spcPts val="0"/>
              </a:spcBef>
              <a:spcAft>
                <a:spcPts val="0"/>
              </a:spcAft>
              <a:buSzPts val="1800"/>
              <a:buChar char="○"/>
            </a:pPr>
            <a:r>
              <a:rPr lang="en" sz="1800"/>
              <a:t>Policy makers?</a:t>
            </a:r>
            <a:endParaRPr sz="1800"/>
          </a:p>
          <a:p>
            <a:pPr marL="914400" lvl="1" indent="-342900" algn="l" rtl="0">
              <a:spcBef>
                <a:spcPts val="0"/>
              </a:spcBef>
              <a:spcAft>
                <a:spcPts val="0"/>
              </a:spcAft>
              <a:buSzPts val="1800"/>
              <a:buChar char="○"/>
            </a:pPr>
            <a:r>
              <a:rPr lang="en" sz="1800"/>
              <a:t>Developers?</a:t>
            </a:r>
            <a:endParaRPr sz="1800"/>
          </a:p>
          <a:p>
            <a:pPr marL="914400" lvl="1" indent="-342900" algn="l" rtl="0">
              <a:spcBef>
                <a:spcPts val="0"/>
              </a:spcBef>
              <a:spcAft>
                <a:spcPts val="0"/>
              </a:spcAft>
              <a:buSzPts val="1800"/>
              <a:buChar char="○"/>
            </a:pPr>
            <a:r>
              <a:rPr lang="en" sz="1800"/>
              <a:t>Children?</a:t>
            </a:r>
            <a:endParaRPr sz="1800"/>
          </a:p>
          <a:p>
            <a:pPr marL="914400" lvl="1" indent="-342900" algn="l" rtl="0">
              <a:spcBef>
                <a:spcPts val="0"/>
              </a:spcBef>
              <a:spcAft>
                <a:spcPts val="0"/>
              </a:spcAft>
              <a:buSzPts val="1800"/>
              <a:buChar char="○"/>
            </a:pPr>
            <a:r>
              <a:rPr lang="en" sz="1800"/>
              <a:t>Trained monkeys?</a:t>
            </a:r>
            <a:endParaRPr sz="1800"/>
          </a:p>
          <a:p>
            <a:pPr marL="457200" lvl="0" indent="-368300" algn="l" rtl="0">
              <a:spcBef>
                <a:spcPts val="0"/>
              </a:spcBef>
              <a:spcAft>
                <a:spcPts val="0"/>
              </a:spcAft>
              <a:buSzPts val="2200"/>
              <a:buChar char="●"/>
            </a:pPr>
            <a:r>
              <a:rPr lang="en" sz="2200"/>
              <a:t>What do they want to do with your software?</a:t>
            </a:r>
            <a:endParaRPr sz="2200"/>
          </a:p>
          <a:p>
            <a:pPr marL="457200" lvl="0" indent="-368300" algn="l" rtl="0">
              <a:spcBef>
                <a:spcPts val="0"/>
              </a:spcBef>
              <a:spcAft>
                <a:spcPts val="0"/>
              </a:spcAft>
              <a:buSzPts val="2200"/>
              <a:buChar char="●"/>
            </a:pPr>
            <a:r>
              <a:rPr lang="en" sz="2200"/>
              <a:t>How are they interacting with it?</a:t>
            </a:r>
            <a:endParaRPr sz="2200"/>
          </a:p>
          <a:p>
            <a:pPr marL="457200" lvl="0" indent="-368300" algn="l" rtl="0">
              <a:spcBef>
                <a:spcPts val="0"/>
              </a:spcBef>
              <a:spcAft>
                <a:spcPts val="0"/>
              </a:spcAft>
              <a:buSzPts val="2200"/>
              <a:buChar char="●"/>
            </a:pPr>
            <a:r>
              <a:rPr lang="en" sz="2200"/>
              <a:t>What needs do they have?</a:t>
            </a:r>
            <a:endParaRPr sz="2200"/>
          </a:p>
          <a:p>
            <a:pPr marL="457200" lvl="0" indent="-368300" algn="l" rtl="0">
              <a:spcBef>
                <a:spcPts val="0"/>
              </a:spcBef>
              <a:spcAft>
                <a:spcPts val="0"/>
              </a:spcAft>
              <a:buSzPts val="2200"/>
              <a:buChar char="●"/>
            </a:pPr>
            <a:r>
              <a:rPr lang="en" sz="2200"/>
              <a:t>What skill levels do they have?</a:t>
            </a:r>
            <a:endParaRP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9">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59">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9">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9">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Ram</a:t>
            </a:r>
            <a:endParaRPr/>
          </a:p>
        </p:txBody>
      </p:sp>
      <p:sp>
        <p:nvSpPr>
          <p:cNvPr id="165" name="Google Shape;165;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a:t>Ram is a buyer for a store (he puts in orders to suppliers).</a:t>
            </a:r>
            <a:endParaRPr sz="2200"/>
          </a:p>
          <a:p>
            <a:pPr marL="0" lvl="0" indent="0" algn="l" rtl="0">
              <a:spcBef>
                <a:spcPts val="1200"/>
              </a:spcBef>
              <a:spcAft>
                <a:spcPts val="0"/>
              </a:spcAft>
              <a:buNone/>
            </a:pPr>
            <a:r>
              <a:rPr lang="en" sz="2200"/>
              <a:t>Ram wants to see current inventory of items.</a:t>
            </a:r>
            <a:endParaRPr sz="2200"/>
          </a:p>
          <a:p>
            <a:pPr marL="0" lvl="0" indent="0" algn="l" rtl="0">
              <a:spcBef>
                <a:spcPts val="1200"/>
              </a:spcBef>
              <a:spcAft>
                <a:spcPts val="0"/>
              </a:spcAft>
              <a:buNone/>
            </a:pPr>
            <a:r>
              <a:rPr lang="en" sz="2200"/>
              <a:t>Ram wants to see predictions of future purchase trends.</a:t>
            </a:r>
            <a:endParaRPr sz="2200"/>
          </a:p>
          <a:p>
            <a:pPr marL="0" lvl="0" indent="0" algn="l" rtl="0">
              <a:spcBef>
                <a:spcPts val="1200"/>
              </a:spcBef>
              <a:spcAft>
                <a:spcPts val="0"/>
              </a:spcAft>
              <a:buNone/>
            </a:pPr>
            <a:r>
              <a:rPr lang="en" sz="2200"/>
              <a:t>Ram needs to order items from suppliers.</a:t>
            </a:r>
            <a:endParaRPr sz="2200"/>
          </a:p>
          <a:p>
            <a:pPr marL="0" lvl="0" indent="0" algn="l" rtl="0">
              <a:spcBef>
                <a:spcPts val="1200"/>
              </a:spcBef>
              <a:spcAft>
                <a:spcPts val="1200"/>
              </a:spcAft>
              <a:buNone/>
            </a:pPr>
            <a:r>
              <a:rPr lang="en" sz="2200"/>
              <a:t>Ram’s job does not involve technical skills and he values a simple user interface.</a:t>
            </a:r>
            <a:endParaRP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5">
                                            <p:txEl>
                                              <p:pRg st="0" end="0"/>
                                            </p:txEl>
                                          </p:spTgt>
                                        </p:tgtEl>
                                        <p:attrNameLst>
                                          <p:attrName>style.visibility</p:attrName>
                                        </p:attrNameLst>
                                      </p:cBhvr>
                                      <p:to>
                                        <p:strVal val="visible"/>
                                      </p:to>
                                    </p:set>
                                    <p:animEffect transition="in" filter="fade">
                                      <p:cBhvr>
                                        <p:cTn id="7" dur="1"/>
                                        <p:tgtEl>
                                          <p:spTgt spid="16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5">
                                            <p:txEl>
                                              <p:pRg st="1" end="1"/>
                                            </p:txEl>
                                          </p:spTgt>
                                        </p:tgtEl>
                                        <p:attrNameLst>
                                          <p:attrName>style.visibility</p:attrName>
                                        </p:attrNameLst>
                                      </p:cBhvr>
                                      <p:to>
                                        <p:strVal val="visible"/>
                                      </p:to>
                                    </p:set>
                                    <p:animEffect transition="in" filter="fade">
                                      <p:cBhvr>
                                        <p:cTn id="12" dur="1"/>
                                        <p:tgtEl>
                                          <p:spTgt spid="16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5">
                                            <p:txEl>
                                              <p:pRg st="2" end="2"/>
                                            </p:txEl>
                                          </p:spTgt>
                                        </p:tgtEl>
                                        <p:attrNameLst>
                                          <p:attrName>style.visibility</p:attrName>
                                        </p:attrNameLst>
                                      </p:cBhvr>
                                      <p:to>
                                        <p:strVal val="visible"/>
                                      </p:to>
                                    </p:set>
                                    <p:animEffect transition="in" filter="fade">
                                      <p:cBhvr>
                                        <p:cTn id="17" dur="1"/>
                                        <p:tgtEl>
                                          <p:spTgt spid="16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5">
                                            <p:txEl>
                                              <p:pRg st="3" end="3"/>
                                            </p:txEl>
                                          </p:spTgt>
                                        </p:tgtEl>
                                        <p:attrNameLst>
                                          <p:attrName>style.visibility</p:attrName>
                                        </p:attrNameLst>
                                      </p:cBhvr>
                                      <p:to>
                                        <p:strVal val="visible"/>
                                      </p:to>
                                    </p:set>
                                    <p:animEffect transition="in" filter="fade">
                                      <p:cBhvr>
                                        <p:cTn id="22" dur="1"/>
                                        <p:tgtEl>
                                          <p:spTgt spid="16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5">
                                            <p:txEl>
                                              <p:pRg st="4" end="4"/>
                                            </p:txEl>
                                          </p:spTgt>
                                        </p:tgtEl>
                                        <p:attrNameLst>
                                          <p:attrName>style.visibility</p:attrName>
                                        </p:attrNameLst>
                                      </p:cBhvr>
                                      <p:to>
                                        <p:strVal val="visible"/>
                                      </p:to>
                                    </p:set>
                                    <p:animEffect transition="in" filter="fade">
                                      <p:cBhvr>
                                        <p:cTn id="27" dur="1"/>
                                        <p:tgtEl>
                                          <p:spTgt spid="16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a:t>
            </a:r>
            <a:endParaRPr/>
          </a:p>
        </p:txBody>
      </p:sp>
      <p:sp>
        <p:nvSpPr>
          <p:cNvPr id="171" name="Google Shape;171;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t>What might be another user story?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Valentina</a:t>
            </a:r>
            <a:endParaRPr/>
          </a:p>
        </p:txBody>
      </p:sp>
      <p:sp>
        <p:nvSpPr>
          <p:cNvPr id="177" name="Google Shape;177;p30"/>
          <p:cNvSpPr txBox="1">
            <a:spLocks noGrp="1"/>
          </p:cNvSpPr>
          <p:nvPr>
            <p:ph type="body" idx="1"/>
          </p:nvPr>
        </p:nvSpPr>
        <p:spPr>
          <a:xfrm>
            <a:off x="311700" y="1152475"/>
            <a:ext cx="8520600" cy="3651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a:t>Valentina is a data scientist.</a:t>
            </a:r>
            <a:endParaRPr sz="2200"/>
          </a:p>
          <a:p>
            <a:pPr marL="0" lvl="0" indent="0" algn="l" rtl="0">
              <a:spcBef>
                <a:spcPts val="1200"/>
              </a:spcBef>
              <a:spcAft>
                <a:spcPts val="0"/>
              </a:spcAft>
              <a:buNone/>
            </a:pPr>
            <a:r>
              <a:rPr lang="en" sz="2200"/>
              <a:t>She keeps the software running and responds to bug reports.</a:t>
            </a:r>
            <a:endParaRPr sz="2200"/>
          </a:p>
          <a:p>
            <a:pPr marL="0" lvl="0" indent="0" algn="l" rtl="0">
              <a:spcBef>
                <a:spcPts val="1200"/>
              </a:spcBef>
              <a:spcAft>
                <a:spcPts val="0"/>
              </a:spcAft>
              <a:buNone/>
            </a:pPr>
            <a:r>
              <a:rPr lang="en" sz="2200"/>
              <a:t>She needs to update the inventory periodically.</a:t>
            </a:r>
            <a:endParaRPr sz="2200"/>
          </a:p>
          <a:p>
            <a:pPr marL="0" lvl="0" indent="0" algn="l" rtl="0">
              <a:spcBef>
                <a:spcPts val="1200"/>
              </a:spcBef>
              <a:spcAft>
                <a:spcPts val="0"/>
              </a:spcAft>
              <a:buNone/>
            </a:pPr>
            <a:r>
              <a:rPr lang="en" sz="2200"/>
              <a:t>She needs to iterate on the prediction model to improve accuracy.</a:t>
            </a:r>
            <a:endParaRPr sz="2200"/>
          </a:p>
          <a:p>
            <a:pPr marL="0" lvl="0" indent="0" algn="l" rtl="0">
              <a:spcBef>
                <a:spcPts val="1200"/>
              </a:spcBef>
              <a:spcAft>
                <a:spcPts val="1200"/>
              </a:spcAft>
              <a:buNone/>
            </a:pPr>
            <a:r>
              <a:rPr lang="en" sz="2200"/>
              <a:t>Valentina is highly technical and knows basic programming skills.</a:t>
            </a:r>
            <a:endParaRP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7">
                                            <p:txEl>
                                              <p:pRg st="0" end="0"/>
                                            </p:txEl>
                                          </p:spTgt>
                                        </p:tgtEl>
                                        <p:attrNameLst>
                                          <p:attrName>style.visibility</p:attrName>
                                        </p:attrNameLst>
                                      </p:cBhvr>
                                      <p:to>
                                        <p:strVal val="visible"/>
                                      </p:to>
                                    </p:set>
                                    <p:animEffect transition="in" filter="fade">
                                      <p:cBhvr>
                                        <p:cTn id="7" dur="1"/>
                                        <p:tgtEl>
                                          <p:spTgt spid="17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7">
                                            <p:txEl>
                                              <p:pRg st="1" end="1"/>
                                            </p:txEl>
                                          </p:spTgt>
                                        </p:tgtEl>
                                        <p:attrNameLst>
                                          <p:attrName>style.visibility</p:attrName>
                                        </p:attrNameLst>
                                      </p:cBhvr>
                                      <p:to>
                                        <p:strVal val="visible"/>
                                      </p:to>
                                    </p:set>
                                    <p:animEffect transition="in" filter="fade">
                                      <p:cBhvr>
                                        <p:cTn id="12" dur="1"/>
                                        <p:tgtEl>
                                          <p:spTgt spid="17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7">
                                            <p:txEl>
                                              <p:pRg st="2" end="2"/>
                                            </p:txEl>
                                          </p:spTgt>
                                        </p:tgtEl>
                                        <p:attrNameLst>
                                          <p:attrName>style.visibility</p:attrName>
                                        </p:attrNameLst>
                                      </p:cBhvr>
                                      <p:to>
                                        <p:strVal val="visible"/>
                                      </p:to>
                                    </p:set>
                                    <p:animEffect transition="in" filter="fade">
                                      <p:cBhvr>
                                        <p:cTn id="17" dur="1"/>
                                        <p:tgtEl>
                                          <p:spTgt spid="17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77">
                                            <p:txEl>
                                              <p:pRg st="3" end="3"/>
                                            </p:txEl>
                                          </p:spTgt>
                                        </p:tgtEl>
                                        <p:attrNameLst>
                                          <p:attrName>style.visibility</p:attrName>
                                        </p:attrNameLst>
                                      </p:cBhvr>
                                      <p:to>
                                        <p:strVal val="visible"/>
                                      </p:to>
                                    </p:set>
                                    <p:animEffect transition="in" filter="fade">
                                      <p:cBhvr>
                                        <p:cTn id="22" dur="1"/>
                                        <p:tgtEl>
                                          <p:spTgt spid="17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77">
                                            <p:txEl>
                                              <p:pRg st="4" end="4"/>
                                            </p:txEl>
                                          </p:spTgt>
                                        </p:tgtEl>
                                        <p:attrNameLst>
                                          <p:attrName>style.visibility</p:attrName>
                                        </p:attrNameLst>
                                      </p:cBhvr>
                                      <p:to>
                                        <p:strVal val="visible"/>
                                      </p:to>
                                    </p:set>
                                    <p:animEffect transition="in" filter="fade">
                                      <p:cBhvr>
                                        <p:cTn id="27" dur="1"/>
                                        <p:tgtEl>
                                          <p:spTgt spid="17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Taylor</a:t>
            </a:r>
            <a:endParaRPr/>
          </a:p>
        </p:txBody>
      </p:sp>
      <p:sp>
        <p:nvSpPr>
          <p:cNvPr id="183" name="Google Shape;183;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2200"/>
              <a:t>Taylor is the store manager.</a:t>
            </a:r>
            <a:endParaRPr sz="2200"/>
          </a:p>
          <a:p>
            <a:pPr marL="0" lvl="0" indent="0" algn="l" rtl="0">
              <a:spcBef>
                <a:spcPts val="1200"/>
              </a:spcBef>
              <a:spcAft>
                <a:spcPts val="0"/>
              </a:spcAft>
              <a:buNone/>
            </a:pPr>
            <a:r>
              <a:rPr lang="en" sz="2200"/>
              <a:t>She needs to see current inventory and predictions.</a:t>
            </a:r>
            <a:endParaRPr sz="2200"/>
          </a:p>
          <a:p>
            <a:pPr marL="0" lvl="0" indent="0" algn="l" rtl="0">
              <a:spcBef>
                <a:spcPts val="1200"/>
              </a:spcBef>
              <a:spcAft>
                <a:spcPts val="0"/>
              </a:spcAft>
              <a:buNone/>
            </a:pPr>
            <a:r>
              <a:rPr lang="en" sz="2200"/>
              <a:t>She wants to see orders that have been placed.</a:t>
            </a:r>
            <a:endParaRPr sz="2200"/>
          </a:p>
          <a:p>
            <a:pPr marL="0" lvl="0" indent="0" algn="l" rtl="0">
              <a:spcBef>
                <a:spcPts val="1200"/>
              </a:spcBef>
              <a:spcAft>
                <a:spcPts val="0"/>
              </a:spcAft>
              <a:buClr>
                <a:schemeClr val="dk1"/>
              </a:buClr>
              <a:buSzPts val="1100"/>
              <a:buFont typeface="Arial"/>
              <a:buNone/>
            </a:pPr>
            <a:r>
              <a:rPr lang="en" sz="2200"/>
              <a:t>She wants to see current purchase trends.</a:t>
            </a:r>
            <a:endParaRPr sz="2200"/>
          </a:p>
          <a:p>
            <a:pPr marL="0" lvl="0" indent="0" algn="l" rtl="0">
              <a:spcBef>
                <a:spcPts val="1200"/>
              </a:spcBef>
              <a:spcAft>
                <a:spcPts val="1200"/>
              </a:spcAft>
              <a:buNone/>
            </a:pPr>
            <a:r>
              <a:rPr lang="en" sz="2200"/>
              <a:t>Taylor’s job does not involve technical skills and she values a simple user interface.</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Exercise: Your User Stories</a:t>
            </a:r>
            <a:endParaRPr/>
          </a:p>
        </p:txBody>
      </p:sp>
      <p:sp>
        <p:nvSpPr>
          <p:cNvPr id="189" name="Google Shape;189;p32"/>
          <p:cNvSpPr txBox="1">
            <a:spLocks noGrp="1"/>
          </p:cNvSpPr>
          <p:nvPr>
            <p:ph type="body" idx="1"/>
          </p:nvPr>
        </p:nvSpPr>
        <p:spPr>
          <a:xfrm>
            <a:off x="311700" y="1152475"/>
            <a:ext cx="8520600" cy="3729600"/>
          </a:xfrm>
          <a:prstGeom prst="rect">
            <a:avLst/>
          </a:prstGeom>
        </p:spPr>
        <p:txBody>
          <a:bodyPr spcFirstLastPara="1" wrap="square" lIns="91425" tIns="91425" rIns="91425" bIns="91425" anchor="t" anchorCtr="0">
            <a:normAutofit fontScale="92500" lnSpcReduction="10000"/>
          </a:bodyPr>
          <a:lstStyle/>
          <a:p>
            <a:pPr marL="457200" lvl="0" indent="-368300" algn="l" rtl="0">
              <a:spcBef>
                <a:spcPts val="0"/>
              </a:spcBef>
              <a:spcAft>
                <a:spcPts val="0"/>
              </a:spcAft>
              <a:buSzPts val="2200"/>
              <a:buChar char="●"/>
            </a:pPr>
            <a:r>
              <a:rPr lang="en" sz="2200"/>
              <a:t>You will probably have several different kinds of “users” and a “technician” or two.</a:t>
            </a:r>
            <a:endParaRPr sz="2200"/>
          </a:p>
          <a:p>
            <a:pPr marL="914400" lvl="1" indent="-342900" algn="l" rtl="0">
              <a:spcBef>
                <a:spcPts val="0"/>
              </a:spcBef>
              <a:spcAft>
                <a:spcPts val="0"/>
              </a:spcAft>
              <a:buSzPts val="1800"/>
              <a:buChar char="○"/>
            </a:pPr>
            <a:r>
              <a:rPr lang="en" sz="1800"/>
              <a:t>If you have a machine learning model backing your tool, don’t forget the “technician” who will train the machine learning model or update it.</a:t>
            </a:r>
            <a:endParaRPr sz="1800"/>
          </a:p>
          <a:p>
            <a:pPr marL="457200" lvl="0" indent="-368300" algn="l" rtl="0">
              <a:spcBef>
                <a:spcPts val="0"/>
              </a:spcBef>
              <a:spcAft>
                <a:spcPts val="0"/>
              </a:spcAft>
              <a:buSzPts val="2200"/>
              <a:buChar char="●"/>
            </a:pPr>
            <a:r>
              <a:rPr lang="en" sz="2200"/>
              <a:t>Take 10 minutes to write at least 2-3 user stories.</a:t>
            </a:r>
            <a:endParaRPr sz="2200"/>
          </a:p>
          <a:p>
            <a:pPr marL="457200" lvl="0" indent="-342900" algn="l" rtl="0">
              <a:spcBef>
                <a:spcPts val="0"/>
              </a:spcBef>
              <a:spcAft>
                <a:spcPts val="0"/>
              </a:spcAft>
              <a:buSzPts val="1800"/>
              <a:buChar char="●"/>
            </a:pPr>
            <a:r>
              <a:rPr lang="en" sz="2200"/>
              <a:t>Use a Markdown file in the </a:t>
            </a:r>
            <a:r>
              <a:rPr lang="en" sz="2200">
                <a:highlight>
                  <a:srgbClr val="F3F3F3"/>
                </a:highlight>
                <a:latin typeface="Courier New"/>
                <a:ea typeface="Courier New"/>
                <a:cs typeface="Courier New"/>
                <a:sym typeface="Courier New"/>
              </a:rPr>
              <a:t>docs</a:t>
            </a:r>
            <a:r>
              <a:rPr lang="en" sz="2200"/>
              <a:t> directory</a:t>
            </a:r>
            <a:endParaRPr/>
          </a:p>
          <a:p>
            <a:pPr marL="457200" lvl="0" indent="-368300" algn="l" rtl="0">
              <a:spcBef>
                <a:spcPts val="0"/>
              </a:spcBef>
              <a:spcAft>
                <a:spcPts val="0"/>
              </a:spcAft>
              <a:buSzPts val="2200"/>
              <a:buChar char="●"/>
            </a:pPr>
            <a:r>
              <a:rPr lang="en" sz="2200"/>
              <a:t>Remember</a:t>
            </a:r>
            <a:endParaRPr sz="2200"/>
          </a:p>
          <a:p>
            <a:pPr marL="914400" lvl="1" indent="-342900" algn="l" rtl="0">
              <a:spcBef>
                <a:spcPts val="0"/>
              </a:spcBef>
              <a:spcAft>
                <a:spcPts val="0"/>
              </a:spcAft>
              <a:buSzPts val="1800"/>
              <a:buChar char="○"/>
            </a:pPr>
            <a:r>
              <a:rPr lang="en" sz="1800"/>
              <a:t>Who</a:t>
            </a:r>
            <a:endParaRPr sz="1800"/>
          </a:p>
          <a:p>
            <a:pPr marL="914400" lvl="1" indent="-342900" algn="l" rtl="0">
              <a:spcBef>
                <a:spcPts val="0"/>
              </a:spcBef>
              <a:spcAft>
                <a:spcPts val="0"/>
              </a:spcAft>
              <a:buSzPts val="1800"/>
              <a:buChar char="○"/>
            </a:pPr>
            <a:r>
              <a:rPr lang="en" sz="1800"/>
              <a:t>Wants</a:t>
            </a:r>
            <a:endParaRPr sz="1800"/>
          </a:p>
          <a:p>
            <a:pPr marL="914400" lvl="1" indent="-342900" algn="l" rtl="0">
              <a:spcBef>
                <a:spcPts val="0"/>
              </a:spcBef>
              <a:spcAft>
                <a:spcPts val="0"/>
              </a:spcAft>
              <a:buSzPts val="1800"/>
              <a:buChar char="○"/>
            </a:pPr>
            <a:r>
              <a:rPr lang="en" sz="1800"/>
              <a:t>Interaction methods</a:t>
            </a:r>
            <a:endParaRPr sz="1800"/>
          </a:p>
          <a:p>
            <a:pPr marL="914400" lvl="1" indent="-342900" algn="l" rtl="0">
              <a:spcBef>
                <a:spcPts val="0"/>
              </a:spcBef>
              <a:spcAft>
                <a:spcPts val="0"/>
              </a:spcAft>
              <a:buSzPts val="1800"/>
              <a:buChar char="○"/>
            </a:pPr>
            <a:r>
              <a:rPr lang="en" sz="1800"/>
              <a:t>Needs</a:t>
            </a:r>
            <a:endParaRPr sz="1800"/>
          </a:p>
          <a:p>
            <a:pPr marL="914400" lvl="1" indent="-342900" algn="l" rtl="0">
              <a:spcBef>
                <a:spcPts val="0"/>
              </a:spcBef>
              <a:spcAft>
                <a:spcPts val="0"/>
              </a:spcAft>
              <a:buSzPts val="1800"/>
              <a:buChar char="○"/>
            </a:pPr>
            <a:r>
              <a:rPr lang="en" sz="1800"/>
              <a:t>Skills</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3"/>
          <p:cNvSpPr txBox="1">
            <a:spLocks noGrp="1"/>
          </p:cNvSpPr>
          <p:nvPr>
            <p:ph type="title"/>
          </p:nvPr>
        </p:nvSpPr>
        <p:spPr>
          <a:xfrm>
            <a:off x="311700" y="2285400"/>
            <a:ext cx="8520600" cy="5727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Functional Design</a:t>
            </a:r>
            <a:endParaRPr/>
          </a:p>
          <a:p>
            <a:pPr marL="0" lvl="0" indent="0" algn="ctr" rtl="0">
              <a:spcBef>
                <a:spcPts val="0"/>
              </a:spcBef>
              <a:spcAft>
                <a:spcPts val="0"/>
              </a:spcAft>
              <a:buNone/>
            </a:pPr>
            <a:r>
              <a:rPr lang="en"/>
              <a:t>(Use Cases)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Ram</a:t>
            </a:r>
            <a:endParaRPr/>
          </a:p>
        </p:txBody>
      </p:sp>
      <p:sp>
        <p:nvSpPr>
          <p:cNvPr id="200" name="Google Shape;200;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a:t>Ram is a buyer for a store. Ram wants to see current inventory of items. Ram wants to see predictions of future purchase trends. Ram needs to order items from suppliers. Ram’s job does not involve technical skills and he values a simple user interface.</a:t>
            </a:r>
            <a:endParaRPr sz="2200"/>
          </a:p>
          <a:p>
            <a:pPr marL="914400" lvl="0" indent="-368300" algn="l" rtl="0">
              <a:spcBef>
                <a:spcPts val="1200"/>
              </a:spcBef>
              <a:spcAft>
                <a:spcPts val="0"/>
              </a:spcAft>
              <a:buSzPts val="2200"/>
              <a:buChar char="●"/>
            </a:pPr>
            <a:r>
              <a:rPr lang="en" sz="2200"/>
              <a:t>View inventory</a:t>
            </a:r>
            <a:endParaRPr sz="2200"/>
          </a:p>
          <a:p>
            <a:pPr marL="914400" lvl="0" indent="-368300" algn="l" rtl="0">
              <a:spcBef>
                <a:spcPts val="0"/>
              </a:spcBef>
              <a:spcAft>
                <a:spcPts val="0"/>
              </a:spcAft>
              <a:buSzPts val="2200"/>
              <a:buChar char="●"/>
            </a:pPr>
            <a:r>
              <a:rPr lang="en" sz="2200"/>
              <a:t>View predictions for an item</a:t>
            </a:r>
            <a:endParaRPr sz="2200"/>
          </a:p>
          <a:p>
            <a:pPr marL="914400" lvl="0" indent="-368300" algn="l" rtl="0">
              <a:spcBef>
                <a:spcPts val="0"/>
              </a:spcBef>
              <a:spcAft>
                <a:spcPts val="0"/>
              </a:spcAft>
              <a:buSzPts val="2200"/>
              <a:buChar char="●"/>
            </a:pPr>
            <a:r>
              <a:rPr lang="en" sz="2200"/>
              <a:t>Make order</a:t>
            </a:r>
            <a:endParaRP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0">
                                            <p:txEl>
                                              <p:pRg st="0" end="0"/>
                                            </p:txEl>
                                          </p:spTgt>
                                        </p:tgtEl>
                                        <p:attrNameLst>
                                          <p:attrName>style.visibility</p:attrName>
                                        </p:attrNameLst>
                                      </p:cBhvr>
                                      <p:to>
                                        <p:strVal val="visible"/>
                                      </p:to>
                                    </p:set>
                                    <p:animEffect transition="in" filter="fade">
                                      <p:cBhvr>
                                        <p:cTn id="7" dur="1"/>
                                        <p:tgtEl>
                                          <p:spTgt spid="2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0">
                                            <p:txEl>
                                              <p:pRg st="1" end="1"/>
                                            </p:txEl>
                                          </p:spTgt>
                                        </p:tgtEl>
                                        <p:attrNameLst>
                                          <p:attrName>style.visibility</p:attrName>
                                        </p:attrNameLst>
                                      </p:cBhvr>
                                      <p:to>
                                        <p:strVal val="visible"/>
                                      </p:to>
                                    </p:set>
                                    <p:animEffect transition="in" filter="fade">
                                      <p:cBhvr>
                                        <p:cTn id="12" dur="1"/>
                                        <p:tgtEl>
                                          <p:spTgt spid="20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0">
                                            <p:txEl>
                                              <p:pRg st="2" end="2"/>
                                            </p:txEl>
                                          </p:spTgt>
                                        </p:tgtEl>
                                        <p:attrNameLst>
                                          <p:attrName>style.visibility</p:attrName>
                                        </p:attrNameLst>
                                      </p:cBhvr>
                                      <p:to>
                                        <p:strVal val="visible"/>
                                      </p:to>
                                    </p:set>
                                    <p:animEffect transition="in" filter="fade">
                                      <p:cBhvr>
                                        <p:cTn id="17" dur="1"/>
                                        <p:tgtEl>
                                          <p:spTgt spid="20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00">
                                            <p:txEl>
                                              <p:pRg st="3" end="3"/>
                                            </p:txEl>
                                          </p:spTgt>
                                        </p:tgtEl>
                                        <p:attrNameLst>
                                          <p:attrName>style.visibility</p:attrName>
                                        </p:attrNameLst>
                                      </p:cBhvr>
                                      <p:to>
                                        <p:strVal val="visible"/>
                                      </p:to>
                                    </p:set>
                                    <p:animEffect transition="in" filter="fade">
                                      <p:cBhvr>
                                        <p:cTn id="22" dur="1"/>
                                        <p:tgtEl>
                                          <p:spTgt spid="20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do we do with inventory management systems?</a:t>
            </a:r>
            <a:endParaRPr/>
          </a:p>
        </p:txBody>
      </p:sp>
      <p:sp>
        <p:nvSpPr>
          <p:cNvPr id="206" name="Google Shape;206;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Char char="●"/>
            </a:pPr>
            <a:r>
              <a:rPr lang="en" sz="2200"/>
              <a:t>View inventory</a:t>
            </a:r>
            <a:endParaRPr sz="2200"/>
          </a:p>
          <a:p>
            <a:pPr marL="457200" lvl="0" indent="-368300" algn="l" rtl="0">
              <a:spcBef>
                <a:spcPts val="0"/>
              </a:spcBef>
              <a:spcAft>
                <a:spcPts val="0"/>
              </a:spcAft>
              <a:buSzPts val="2200"/>
              <a:buChar char="●"/>
            </a:pPr>
            <a:r>
              <a:rPr lang="en" sz="2200"/>
              <a:t>View predictions for an item</a:t>
            </a:r>
            <a:endParaRPr sz="2200"/>
          </a:p>
          <a:p>
            <a:pPr marL="457200" lvl="0" indent="-368300" algn="l" rtl="0">
              <a:spcBef>
                <a:spcPts val="0"/>
              </a:spcBef>
              <a:spcAft>
                <a:spcPts val="0"/>
              </a:spcAft>
              <a:buSzPts val="2200"/>
              <a:buChar char="●"/>
            </a:pPr>
            <a:r>
              <a:rPr lang="en" sz="2200"/>
              <a:t>Make order</a:t>
            </a:r>
            <a:endParaRPr sz="2200"/>
          </a:p>
          <a:p>
            <a:pPr marL="457200" lvl="0" indent="-368300" algn="l" rtl="0">
              <a:spcBef>
                <a:spcPts val="0"/>
              </a:spcBef>
              <a:spcAft>
                <a:spcPts val="0"/>
              </a:spcAft>
              <a:buSzPts val="2200"/>
              <a:buChar char="●"/>
            </a:pPr>
            <a:r>
              <a:rPr lang="en" sz="2200"/>
              <a:t>View purchase history graph</a:t>
            </a:r>
            <a:endParaRPr sz="2200"/>
          </a:p>
          <a:p>
            <a:pPr marL="0" lvl="0" indent="0" algn="l" rtl="0">
              <a:spcBef>
                <a:spcPts val="1200"/>
              </a:spcBef>
              <a:spcAft>
                <a:spcPts val="0"/>
              </a:spcAft>
              <a:buNone/>
            </a:pPr>
            <a:endParaRPr sz="2200"/>
          </a:p>
          <a:p>
            <a:pPr marL="0" lvl="0" indent="0" algn="l" rtl="0">
              <a:spcBef>
                <a:spcPts val="1200"/>
              </a:spcBef>
              <a:spcAft>
                <a:spcPts val="1200"/>
              </a:spcAft>
              <a:buNone/>
            </a:pPr>
            <a:r>
              <a:rPr lang="en" sz="2200"/>
              <a:t>These are </a:t>
            </a:r>
            <a:r>
              <a:rPr lang="en" sz="2200" u="sng"/>
              <a:t>use cases</a:t>
            </a:r>
            <a:r>
              <a:rPr lang="en" sz="2200"/>
              <a:t> - from the point of view of a user, how will they use your system?</a:t>
            </a:r>
            <a:endParaRPr sz="22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Implicit use cases</a:t>
            </a:r>
            <a:endParaRPr/>
          </a:p>
        </p:txBody>
      </p:sp>
      <p:sp>
        <p:nvSpPr>
          <p:cNvPr id="212" name="Google Shape;212;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a:t>There are a few additional </a:t>
            </a:r>
            <a:r>
              <a:rPr lang="en" sz="2200" u="sng"/>
              <a:t>implicit</a:t>
            </a:r>
            <a:r>
              <a:rPr lang="en" sz="2200"/>
              <a:t> use case in Ram’s example (not explicitly stated but understood to be the case).</a:t>
            </a:r>
            <a:endParaRPr sz="2200"/>
          </a:p>
          <a:p>
            <a:pPr marL="457200" lvl="0" indent="-368300" algn="l" rtl="0">
              <a:spcBef>
                <a:spcPts val="1200"/>
              </a:spcBef>
              <a:spcAft>
                <a:spcPts val="0"/>
              </a:spcAft>
              <a:buSzPts val="2200"/>
              <a:buChar char="●"/>
            </a:pPr>
            <a:r>
              <a:rPr lang="en" sz="2200"/>
              <a:t>User authentication!</a:t>
            </a:r>
            <a:endParaRP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2">
                                            <p:txEl>
                                              <p:pRg st="0" end="0"/>
                                            </p:txEl>
                                          </p:spTgt>
                                        </p:tgtEl>
                                        <p:attrNameLst>
                                          <p:attrName>style.visibility</p:attrName>
                                        </p:attrNameLst>
                                      </p:cBhvr>
                                      <p:to>
                                        <p:strVal val="visible"/>
                                      </p:to>
                                    </p:set>
                                    <p:animEffect transition="in" filter="fade">
                                      <p:cBhvr>
                                        <p:cTn id="7" dur="1"/>
                                        <p:tgtEl>
                                          <p:spTgt spid="21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2">
                                            <p:txEl>
                                              <p:pRg st="1" end="1"/>
                                            </p:txEl>
                                          </p:spTgt>
                                        </p:tgtEl>
                                        <p:attrNameLst>
                                          <p:attrName>style.visibility</p:attrName>
                                        </p:attrNameLst>
                                      </p:cBhvr>
                                      <p:to>
                                        <p:strVal val="visible"/>
                                      </p:to>
                                    </p:set>
                                    <p:animEffect transition="in" filter="fade">
                                      <p:cBhvr>
                                        <p:cTn id="12" dur="1"/>
                                        <p:tgtEl>
                                          <p:spTgt spid="2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Describing a use case</a:t>
            </a:r>
            <a:endParaRPr/>
          </a:p>
        </p:txBody>
      </p:sp>
      <p:sp>
        <p:nvSpPr>
          <p:cNvPr id="218" name="Google Shape;218;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AutoNum type="arabicPeriod"/>
            </a:pPr>
            <a:r>
              <a:rPr lang="en" sz="2200"/>
              <a:t>Objective of the user interaction</a:t>
            </a:r>
            <a:endParaRPr sz="2200"/>
          </a:p>
          <a:p>
            <a:pPr marL="457200" lvl="0" indent="-368300" algn="l" rtl="0">
              <a:spcBef>
                <a:spcPts val="0"/>
              </a:spcBef>
              <a:spcAft>
                <a:spcPts val="0"/>
              </a:spcAft>
              <a:buSzPts val="2200"/>
              <a:buAutoNum type="arabicPeriod"/>
            </a:pPr>
            <a:r>
              <a:rPr lang="en" sz="2200"/>
              <a:t>What information does the user provide?</a:t>
            </a:r>
            <a:endParaRPr sz="2200"/>
          </a:p>
          <a:p>
            <a:pPr marL="457200" lvl="0" indent="-368300" algn="l" rtl="0">
              <a:spcBef>
                <a:spcPts val="0"/>
              </a:spcBef>
              <a:spcAft>
                <a:spcPts val="0"/>
              </a:spcAft>
              <a:buSzPts val="2200"/>
              <a:buAutoNum type="arabicPeriod"/>
            </a:pPr>
            <a:r>
              <a:rPr lang="en" sz="2200"/>
              <a:t>What response does the system provide?</a:t>
            </a:r>
            <a:endParaRPr sz="2200"/>
          </a:p>
          <a:p>
            <a:pPr marL="0" lvl="0" indent="0" algn="l" rtl="0">
              <a:spcBef>
                <a:spcPts val="1200"/>
              </a:spcBef>
              <a:spcAft>
                <a:spcPts val="0"/>
              </a:spcAft>
              <a:buNone/>
            </a:pPr>
            <a:r>
              <a:rPr lang="en" sz="2200"/>
              <a:t>Usually about 3-9 clearly written steps.</a:t>
            </a:r>
            <a:endParaRPr sz="2200"/>
          </a:p>
          <a:p>
            <a:pPr marL="0" lvl="0" indent="0" algn="l" rtl="0">
              <a:spcBef>
                <a:spcPts val="1200"/>
              </a:spcBef>
              <a:spcAft>
                <a:spcPts val="1200"/>
              </a:spcAft>
              <a:buNone/>
            </a:pPr>
            <a:r>
              <a:rPr lang="en" sz="2200"/>
              <a:t>This is not code!</a:t>
            </a:r>
            <a:endParaRPr sz="22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System user authentication use case</a:t>
            </a:r>
            <a:endParaRPr/>
          </a:p>
        </p:txBody>
      </p:sp>
      <p:sp>
        <p:nvSpPr>
          <p:cNvPr id="224" name="Google Shape;224;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Objective: System validates that the user is allowed to access an account</a:t>
            </a:r>
            <a:endParaRPr/>
          </a:p>
          <a:p>
            <a:pPr marL="0" lvl="0" indent="0" algn="l" rtl="0">
              <a:spcBef>
                <a:spcPts val="1200"/>
              </a:spcBef>
              <a:spcAft>
                <a:spcPts val="0"/>
              </a:spcAft>
              <a:buNone/>
            </a:pPr>
            <a:r>
              <a:rPr lang="en" b="1"/>
              <a:t>User:</a:t>
            </a:r>
            <a:r>
              <a:rPr lang="en"/>
              <a:t> access login page</a:t>
            </a:r>
            <a:endParaRPr/>
          </a:p>
          <a:p>
            <a:pPr marL="0" lvl="0" indent="0" algn="l" rtl="0">
              <a:spcBef>
                <a:spcPts val="1200"/>
              </a:spcBef>
              <a:spcAft>
                <a:spcPts val="0"/>
              </a:spcAft>
              <a:buNone/>
            </a:pPr>
            <a:r>
              <a:rPr lang="en" b="1"/>
              <a:t>System:</a:t>
            </a:r>
            <a:r>
              <a:rPr lang="en"/>
              <a:t> display “enter username and password”</a:t>
            </a:r>
            <a:endParaRPr/>
          </a:p>
          <a:p>
            <a:pPr marL="0" lvl="0" indent="0" algn="l" rtl="0">
              <a:spcBef>
                <a:spcPts val="1200"/>
              </a:spcBef>
              <a:spcAft>
                <a:spcPts val="0"/>
              </a:spcAft>
              <a:buNone/>
            </a:pPr>
            <a:r>
              <a:rPr lang="en" b="1"/>
              <a:t>User:</a:t>
            </a:r>
            <a:r>
              <a:rPr lang="en"/>
              <a:t> enter username and password on keypad</a:t>
            </a:r>
            <a:endParaRPr/>
          </a:p>
          <a:p>
            <a:pPr marL="0" lvl="0" indent="0" algn="l" rtl="0">
              <a:spcBef>
                <a:spcPts val="1200"/>
              </a:spcBef>
              <a:spcAft>
                <a:spcPts val="0"/>
              </a:spcAft>
              <a:buNone/>
            </a:pPr>
            <a:r>
              <a:rPr lang="en" b="1"/>
              <a:t>System:</a:t>
            </a:r>
            <a:r>
              <a:rPr lang="en"/>
              <a:t> [if correct] show inventory screen</a:t>
            </a:r>
            <a:endParaRPr/>
          </a:p>
          <a:p>
            <a:pPr marL="0" lvl="0" indent="0" algn="l" rtl="0">
              <a:spcBef>
                <a:spcPts val="1200"/>
              </a:spcBef>
              <a:spcAft>
                <a:spcPts val="1200"/>
              </a:spcAft>
              <a:buNone/>
            </a:pPr>
            <a:r>
              <a:rPr lang="en"/>
              <a:t>	   [if incorrect] display “incorrect username or password, please try again”</a:t>
            </a:r>
            <a:endParaRPr/>
          </a:p>
        </p:txBody>
      </p:sp>
      <p:grpSp>
        <p:nvGrpSpPr>
          <p:cNvPr id="225" name="Google Shape;225;p38"/>
          <p:cNvGrpSpPr/>
          <p:nvPr/>
        </p:nvGrpSpPr>
        <p:grpSpPr>
          <a:xfrm>
            <a:off x="1973775" y="3975775"/>
            <a:ext cx="3081000" cy="593100"/>
            <a:chOff x="1973775" y="3975775"/>
            <a:chExt cx="3081000" cy="593100"/>
          </a:xfrm>
        </p:grpSpPr>
        <p:sp>
          <p:nvSpPr>
            <p:cNvPr id="226" name="Google Shape;226;p38"/>
            <p:cNvSpPr txBox="1"/>
            <p:nvPr/>
          </p:nvSpPr>
          <p:spPr>
            <a:xfrm>
              <a:off x="2385375" y="4168675"/>
              <a:ext cx="2669400" cy="4002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a:t>Think about edge cases!</a:t>
              </a:r>
              <a:endParaRPr/>
            </a:p>
          </p:txBody>
        </p:sp>
        <p:cxnSp>
          <p:nvCxnSpPr>
            <p:cNvPr id="227" name="Google Shape;227;p38"/>
            <p:cNvCxnSpPr>
              <a:stCxn id="226" idx="1"/>
            </p:cNvCxnSpPr>
            <p:nvPr/>
          </p:nvCxnSpPr>
          <p:spPr>
            <a:xfrm rot="10800000">
              <a:off x="1973775" y="3975775"/>
              <a:ext cx="411600" cy="393000"/>
            </a:xfrm>
            <a:prstGeom prst="straightConnector1">
              <a:avLst/>
            </a:prstGeom>
            <a:noFill/>
            <a:ln w="19050" cap="flat" cmpd="sng">
              <a:solidFill>
                <a:srgbClr val="FF0000"/>
              </a:solidFill>
              <a:prstDash val="solid"/>
              <a:round/>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5"/>
                                        </p:tgtEl>
                                        <p:attrNameLst>
                                          <p:attrName>style.visibility</p:attrName>
                                        </p:attrNameLst>
                                      </p:cBhvr>
                                      <p:to>
                                        <p:strVal val="visible"/>
                                      </p:to>
                                    </p:set>
                                    <p:animEffect transition="in" filter="fade">
                                      <p:cBhvr>
                                        <p:cTn id="7" dur="1"/>
                                        <p:tgtEl>
                                          <p:spTgt spid="2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View inventory</a:t>
            </a:r>
            <a:endParaRPr/>
          </a:p>
        </p:txBody>
      </p:sp>
      <p:sp>
        <p:nvSpPr>
          <p:cNvPr id="233" name="Google Shape;233;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a:t>Objective: System displays accurate inventory information that the user needs</a:t>
            </a:r>
            <a:endParaRPr/>
          </a:p>
          <a:p>
            <a:pPr marL="0" lvl="0" indent="0" algn="l" rtl="0">
              <a:spcBef>
                <a:spcPts val="1200"/>
              </a:spcBef>
              <a:spcAft>
                <a:spcPts val="0"/>
              </a:spcAft>
              <a:buNone/>
            </a:pPr>
            <a:r>
              <a:rPr lang="en" b="1"/>
              <a:t>User:</a:t>
            </a:r>
            <a:r>
              <a:rPr lang="en"/>
              <a:t> access inventory page</a:t>
            </a:r>
            <a:endParaRPr/>
          </a:p>
          <a:p>
            <a:pPr marL="0" lvl="0" indent="0" algn="l" rtl="0">
              <a:spcBef>
                <a:spcPts val="1200"/>
              </a:spcBef>
              <a:spcAft>
                <a:spcPts val="0"/>
              </a:spcAft>
              <a:buNone/>
            </a:pPr>
            <a:r>
              <a:rPr lang="en" b="1"/>
              <a:t>System:</a:t>
            </a:r>
            <a:r>
              <a:rPr lang="en"/>
              <a:t> display first 100 items with inventory quantity</a:t>
            </a:r>
            <a:endParaRPr/>
          </a:p>
          <a:p>
            <a:pPr marL="0" lvl="0" indent="0" algn="l" rtl="0">
              <a:spcBef>
                <a:spcPts val="1200"/>
              </a:spcBef>
              <a:spcAft>
                <a:spcPts val="0"/>
              </a:spcAft>
              <a:buNone/>
            </a:pPr>
            <a:r>
              <a:rPr lang="en" b="1"/>
              <a:t>User:</a:t>
            </a:r>
            <a:r>
              <a:rPr lang="en"/>
              <a:t> selects a filter on product category, quantity, or name</a:t>
            </a:r>
            <a:endParaRPr/>
          </a:p>
          <a:p>
            <a:pPr marL="0" lvl="0" indent="0" algn="l" rtl="0">
              <a:spcBef>
                <a:spcPts val="1200"/>
              </a:spcBef>
              <a:spcAft>
                <a:spcPts val="0"/>
              </a:spcAft>
              <a:buNone/>
            </a:pPr>
            <a:r>
              <a:rPr lang="en" b="1"/>
              <a:t>System:</a:t>
            </a:r>
            <a:r>
              <a:rPr lang="en"/>
              <a:t> shows subset of items</a:t>
            </a:r>
            <a:endParaRPr/>
          </a:p>
          <a:p>
            <a:pPr marL="0" lvl="0" indent="0" algn="l" rtl="0">
              <a:spcBef>
                <a:spcPts val="1200"/>
              </a:spcBef>
              <a:spcAft>
                <a:spcPts val="0"/>
              </a:spcAft>
              <a:buNone/>
            </a:pPr>
            <a:r>
              <a:rPr lang="en" b="1"/>
              <a:t>User:</a:t>
            </a:r>
            <a:r>
              <a:rPr lang="en"/>
              <a:t> selects “next page”</a:t>
            </a:r>
            <a:endParaRPr/>
          </a:p>
          <a:p>
            <a:pPr marL="0" lvl="0" indent="0" algn="l" rtl="0">
              <a:spcBef>
                <a:spcPts val="1200"/>
              </a:spcBef>
              <a:spcAft>
                <a:spcPts val="1200"/>
              </a:spcAft>
              <a:buNone/>
            </a:pPr>
            <a:r>
              <a:rPr lang="en" b="1"/>
              <a:t>System:</a:t>
            </a:r>
            <a:r>
              <a:rPr lang="en"/>
              <a:t> shows next 100 filtered items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3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620"/>
              <a:t>Exercise: Your Use Cases</a:t>
            </a:r>
            <a:endParaRPr sz="2620"/>
          </a:p>
        </p:txBody>
      </p:sp>
      <p:sp>
        <p:nvSpPr>
          <p:cNvPr id="239" name="Google Shape;239;p40"/>
          <p:cNvSpPr txBox="1">
            <a:spLocks noGrp="1"/>
          </p:cNvSpPr>
          <p:nvPr>
            <p:ph type="body" idx="1"/>
          </p:nvPr>
        </p:nvSpPr>
        <p:spPr>
          <a:xfrm>
            <a:off x="311700" y="1152475"/>
            <a:ext cx="8520600" cy="3729600"/>
          </a:xfrm>
          <a:prstGeom prst="rect">
            <a:avLst/>
          </a:prstGeom>
        </p:spPr>
        <p:txBody>
          <a:bodyPr spcFirstLastPara="1" wrap="square" lIns="91425" tIns="91425" rIns="91425" bIns="91425" anchor="t" anchorCtr="0">
            <a:normAutofit/>
          </a:bodyPr>
          <a:lstStyle/>
          <a:p>
            <a:pPr marL="457200" lvl="0" indent="-393700" algn="l" rtl="0">
              <a:spcBef>
                <a:spcPts val="0"/>
              </a:spcBef>
              <a:spcAft>
                <a:spcPts val="0"/>
              </a:spcAft>
              <a:buSzPts val="2600"/>
              <a:buChar char="●"/>
            </a:pPr>
            <a:r>
              <a:rPr lang="en" sz="2600"/>
              <a:t>Translate your user stories into use cases (functional designs)</a:t>
            </a:r>
            <a:endParaRPr sz="2600"/>
          </a:p>
          <a:p>
            <a:pPr marL="457200" lvl="0" indent="-393700" algn="l" rtl="0">
              <a:spcBef>
                <a:spcPts val="0"/>
              </a:spcBef>
              <a:spcAft>
                <a:spcPts val="0"/>
              </a:spcAft>
              <a:buSzPts val="2600"/>
              <a:buChar char="●"/>
            </a:pPr>
            <a:r>
              <a:rPr lang="en" sz="2600"/>
              <a:t>Use a Markdown file in the </a:t>
            </a:r>
            <a:r>
              <a:rPr lang="en" sz="2600">
                <a:highlight>
                  <a:srgbClr val="F3F3F3"/>
                </a:highlight>
                <a:latin typeface="Courier New"/>
                <a:ea typeface="Courier New"/>
                <a:cs typeface="Courier New"/>
                <a:sym typeface="Courier New"/>
              </a:rPr>
              <a:t>docs</a:t>
            </a:r>
            <a:r>
              <a:rPr lang="en" sz="2600"/>
              <a:t> directory </a:t>
            </a:r>
            <a:endParaRPr sz="2600"/>
          </a:p>
          <a:p>
            <a:pPr marL="457200" lvl="0" indent="-393700" algn="l" rtl="0">
              <a:spcBef>
                <a:spcPts val="0"/>
              </a:spcBef>
              <a:spcAft>
                <a:spcPts val="0"/>
              </a:spcAft>
              <a:buSzPts val="2600"/>
              <a:buChar char="●"/>
            </a:pPr>
            <a:r>
              <a:rPr lang="en" sz="2600"/>
              <a:t>Remember</a:t>
            </a:r>
            <a:endParaRPr sz="2600"/>
          </a:p>
          <a:p>
            <a:pPr marL="914400" lvl="1" indent="-368300" algn="l" rtl="0">
              <a:spcBef>
                <a:spcPts val="0"/>
              </a:spcBef>
              <a:spcAft>
                <a:spcPts val="0"/>
              </a:spcAft>
              <a:buSzPts val="2200"/>
              <a:buChar char="○"/>
            </a:pPr>
            <a:r>
              <a:rPr lang="en" sz="2200"/>
              <a:t>Explicit use cases</a:t>
            </a:r>
            <a:endParaRPr sz="2200"/>
          </a:p>
          <a:p>
            <a:pPr marL="914400" lvl="1" indent="-368300" algn="l" rtl="0">
              <a:spcBef>
                <a:spcPts val="0"/>
              </a:spcBef>
              <a:spcAft>
                <a:spcPts val="0"/>
              </a:spcAft>
              <a:buSzPts val="2200"/>
              <a:buChar char="○"/>
            </a:pPr>
            <a:r>
              <a:rPr lang="en" sz="2200"/>
              <a:t>Implicit use cases</a:t>
            </a:r>
            <a:endParaRPr sz="22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1"/>
          <p:cNvSpPr txBox="1">
            <a:spLocks noGrp="1"/>
          </p:cNvSpPr>
          <p:nvPr>
            <p:ph type="title"/>
          </p:nvPr>
        </p:nvSpPr>
        <p:spPr>
          <a:xfrm>
            <a:off x="311700" y="2285400"/>
            <a:ext cx="8520600" cy="5727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Component Design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What is a component?</a:t>
            </a:r>
            <a:endParaRPr/>
          </a:p>
        </p:txBody>
      </p:sp>
      <p:sp>
        <p:nvSpPr>
          <p:cNvPr id="250" name="Google Shape;250;p4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400" i="1"/>
              <a:t>“An individual software component is a </a:t>
            </a:r>
            <a:r>
              <a:rPr lang="en" sz="2400" i="1" u="sng"/>
              <a:t>software package</a:t>
            </a:r>
            <a:r>
              <a:rPr lang="en" sz="2400" i="1"/>
              <a:t>, a </a:t>
            </a:r>
            <a:r>
              <a:rPr lang="en" sz="2400" i="1" u="sng"/>
              <a:t>web service</a:t>
            </a:r>
            <a:r>
              <a:rPr lang="en" sz="2400" i="1"/>
              <a:t>, a </a:t>
            </a:r>
            <a:r>
              <a:rPr lang="en" sz="2400" i="1" u="sng"/>
              <a:t>web resource</a:t>
            </a:r>
            <a:r>
              <a:rPr lang="en" sz="2400" i="1"/>
              <a:t>, or a </a:t>
            </a:r>
            <a:r>
              <a:rPr lang="en" sz="2400" i="1" u="sng"/>
              <a:t>module</a:t>
            </a:r>
            <a:r>
              <a:rPr lang="en" sz="2400" i="1"/>
              <a:t> that encapsulates a </a:t>
            </a:r>
            <a:r>
              <a:rPr lang="en" sz="2400" i="1" u="sng"/>
              <a:t>set of related functions</a:t>
            </a:r>
            <a:r>
              <a:rPr lang="en" sz="2400" i="1"/>
              <a:t> (or </a:t>
            </a:r>
            <a:r>
              <a:rPr lang="en" sz="2400" i="1" u="sng"/>
              <a:t>data</a:t>
            </a:r>
            <a:r>
              <a:rPr lang="en" sz="2400" i="1"/>
              <a:t>).”</a:t>
            </a:r>
            <a:endParaRPr sz="2400" i="1"/>
          </a:p>
          <a:p>
            <a:pPr marL="5486400" lvl="0" indent="-381000" algn="l" rtl="0">
              <a:spcBef>
                <a:spcPts val="1200"/>
              </a:spcBef>
              <a:spcAft>
                <a:spcPts val="0"/>
              </a:spcAft>
              <a:buSzPts val="2400"/>
              <a:buChar char="-"/>
            </a:pPr>
            <a:r>
              <a:rPr lang="en" sz="2400"/>
              <a:t>Wikipedia</a:t>
            </a:r>
            <a:endParaRPr sz="2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Specifying components</a:t>
            </a:r>
            <a:endParaRPr/>
          </a:p>
        </p:txBody>
      </p:sp>
      <p:sp>
        <p:nvSpPr>
          <p:cNvPr id="256" name="Google Shape;256;p4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 sz="2000"/>
              <a:t>Describe components with sufficient detail so that someone with modest knowledge of the project can implement the code for the component.</a:t>
            </a:r>
            <a:endParaRPr sz="2000"/>
          </a:p>
          <a:p>
            <a:pPr marL="457200" lvl="0" indent="-355600" algn="l" rtl="0">
              <a:spcBef>
                <a:spcPts val="1200"/>
              </a:spcBef>
              <a:spcAft>
                <a:spcPts val="0"/>
              </a:spcAft>
              <a:buSzPts val="2000"/>
              <a:buChar char="●"/>
            </a:pPr>
            <a:r>
              <a:rPr lang="en" sz="2000"/>
              <a:t>Name</a:t>
            </a:r>
            <a:endParaRPr sz="2000"/>
          </a:p>
          <a:p>
            <a:pPr marL="457200" lvl="0" indent="-355600" algn="l" rtl="0">
              <a:spcBef>
                <a:spcPts val="0"/>
              </a:spcBef>
              <a:spcAft>
                <a:spcPts val="0"/>
              </a:spcAft>
              <a:buSzPts val="2000"/>
              <a:buChar char="●"/>
            </a:pPr>
            <a:r>
              <a:rPr lang="en" sz="2000"/>
              <a:t>What it does</a:t>
            </a:r>
            <a:endParaRPr sz="2000"/>
          </a:p>
          <a:p>
            <a:pPr marL="457200" lvl="0" indent="-355600" algn="l" rtl="0">
              <a:spcBef>
                <a:spcPts val="0"/>
              </a:spcBef>
              <a:spcAft>
                <a:spcPts val="0"/>
              </a:spcAft>
              <a:buSzPts val="2000"/>
              <a:buChar char="●"/>
            </a:pPr>
            <a:r>
              <a:rPr lang="en" sz="2000"/>
              <a:t>Inputs (with type information)</a:t>
            </a:r>
            <a:endParaRPr sz="2000"/>
          </a:p>
          <a:p>
            <a:pPr marL="457200" lvl="0" indent="-355600" algn="l" rtl="0">
              <a:spcBef>
                <a:spcPts val="0"/>
              </a:spcBef>
              <a:spcAft>
                <a:spcPts val="0"/>
              </a:spcAft>
              <a:buSzPts val="2000"/>
              <a:buChar char="●"/>
            </a:pPr>
            <a:r>
              <a:rPr lang="en" sz="2000"/>
              <a:t>Outputs (with type information)</a:t>
            </a:r>
            <a:endParaRPr sz="2000"/>
          </a:p>
          <a:p>
            <a:pPr marL="457200" lvl="0" indent="-355600" algn="l" rtl="0">
              <a:spcBef>
                <a:spcPts val="0"/>
              </a:spcBef>
              <a:spcAft>
                <a:spcPts val="0"/>
              </a:spcAft>
              <a:buSzPts val="2000"/>
              <a:buChar char="●"/>
            </a:pPr>
            <a:r>
              <a:rPr lang="en" sz="2000"/>
              <a:t>Assumptions</a:t>
            </a:r>
            <a:endParaRPr sz="2000"/>
          </a:p>
          <a:p>
            <a:pPr marL="457200" lvl="0" indent="-355600" algn="l" rtl="0">
              <a:spcBef>
                <a:spcPts val="0"/>
              </a:spcBef>
              <a:spcAft>
                <a:spcPts val="0"/>
              </a:spcAft>
              <a:buSzPts val="2000"/>
              <a:buChar char="●"/>
            </a:pPr>
            <a:r>
              <a:rPr lang="en" sz="2000"/>
              <a:t>How it uses other components</a:t>
            </a:r>
            <a:endParaRPr sz="2000"/>
          </a:p>
        </p:txBody>
      </p:sp>
      <p:sp>
        <p:nvSpPr>
          <p:cNvPr id="257" name="Google Shape;257;p43"/>
          <p:cNvSpPr txBox="1"/>
          <p:nvPr/>
        </p:nvSpPr>
        <p:spPr>
          <a:xfrm>
            <a:off x="1008150" y="4353275"/>
            <a:ext cx="7127700" cy="461700"/>
          </a:xfrm>
          <a:prstGeom prst="rect">
            <a:avLst/>
          </a:prstGeom>
          <a:noFill/>
          <a:ln w="9525" cap="flat" cmpd="sng">
            <a:solidFill>
              <a:srgbClr val="98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800" dirty="0"/>
              <a:t>Sound familiar? </a:t>
            </a:r>
            <a:r>
              <a:rPr lang="en" sz="1800" u="sng" dirty="0">
                <a:solidFill>
                  <a:schemeClr val="hlink"/>
                </a:solidFill>
                <a:hlinkClick r:id="rId3"/>
              </a:rPr>
              <a:t>Check out Lecture 3 on Interface Specifications!</a:t>
            </a:r>
            <a:endParaRP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7"/>
                                        </p:tgtEl>
                                        <p:attrNameLst>
                                          <p:attrName>style.visibility</p:attrName>
                                        </p:attrNameLst>
                                      </p:cBhvr>
                                      <p:to>
                                        <p:strVal val="visible"/>
                                      </p:to>
                                    </p:set>
                                    <p:animEffect transition="in" filter="fade">
                                      <p:cBhvr>
                                        <p:cTn id="7" dur="1"/>
                                        <p:tgtEl>
                                          <p:spTgt spid="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Developing Component Specifications</a:t>
            </a:r>
            <a:endParaRPr/>
          </a:p>
        </p:txBody>
      </p:sp>
      <p:sp>
        <p:nvSpPr>
          <p:cNvPr id="263" name="Google Shape;263;p44"/>
          <p:cNvSpPr txBox="1">
            <a:spLocks noGrp="1"/>
          </p:cNvSpPr>
          <p:nvPr>
            <p:ph type="body" idx="1"/>
          </p:nvPr>
        </p:nvSpPr>
        <p:spPr>
          <a:xfrm>
            <a:off x="311700" y="1152475"/>
            <a:ext cx="8520600" cy="3760200"/>
          </a:xfrm>
          <a:prstGeom prst="rect">
            <a:avLst/>
          </a:prstGeom>
        </p:spPr>
        <p:txBody>
          <a:bodyPr spcFirstLastPara="1" wrap="square" lIns="91425" tIns="91425" rIns="91425" bIns="91425" anchor="t" anchorCtr="0">
            <a:normAutofit fontScale="92500" lnSpcReduction="10000"/>
          </a:bodyPr>
          <a:lstStyle/>
          <a:p>
            <a:pPr marL="457200" lvl="0" indent="-368300" algn="l" rtl="0">
              <a:spcBef>
                <a:spcPts val="0"/>
              </a:spcBef>
              <a:spcAft>
                <a:spcPts val="0"/>
              </a:spcAft>
              <a:buSzPts val="2200"/>
              <a:buAutoNum type="arabicPeriod"/>
            </a:pPr>
            <a:r>
              <a:rPr lang="en" sz="2200" dirty="0"/>
              <a:t>What are the components in the use cases?</a:t>
            </a:r>
            <a:endParaRPr sz="2200" dirty="0"/>
          </a:p>
          <a:p>
            <a:pPr marL="914400" lvl="1" indent="-368300" algn="l" rtl="0">
              <a:spcBef>
                <a:spcPts val="0"/>
              </a:spcBef>
              <a:spcAft>
                <a:spcPts val="0"/>
              </a:spcAft>
              <a:buSzPts val="2200"/>
              <a:buAutoNum type="alphaLcPeriod"/>
            </a:pPr>
            <a:r>
              <a:rPr lang="en" sz="2200" dirty="0"/>
              <a:t>Packages</a:t>
            </a:r>
            <a:endParaRPr sz="2200" dirty="0"/>
          </a:p>
          <a:p>
            <a:pPr marL="914400" lvl="1" indent="-368300" algn="l" rtl="0">
              <a:spcBef>
                <a:spcPts val="0"/>
              </a:spcBef>
              <a:spcAft>
                <a:spcPts val="0"/>
              </a:spcAft>
              <a:buSzPts val="2200"/>
              <a:buAutoNum type="alphaLcPeriod"/>
            </a:pPr>
            <a:r>
              <a:rPr lang="en" sz="2200" dirty="0"/>
              <a:t>Modules</a:t>
            </a:r>
            <a:endParaRPr sz="2200" dirty="0"/>
          </a:p>
          <a:p>
            <a:pPr marL="914400" lvl="1" indent="-368300" algn="l" rtl="0">
              <a:spcBef>
                <a:spcPts val="0"/>
              </a:spcBef>
              <a:spcAft>
                <a:spcPts val="0"/>
              </a:spcAft>
              <a:buSzPts val="2200"/>
              <a:buAutoNum type="alphaLcPeriod"/>
            </a:pPr>
            <a:r>
              <a:rPr lang="en" sz="2200" dirty="0"/>
              <a:t>Resources</a:t>
            </a:r>
            <a:endParaRPr sz="2200" dirty="0"/>
          </a:p>
          <a:p>
            <a:pPr marL="914400" lvl="1" indent="-368300" algn="l" rtl="0">
              <a:spcBef>
                <a:spcPts val="0"/>
              </a:spcBef>
              <a:spcAft>
                <a:spcPts val="0"/>
              </a:spcAft>
              <a:buSzPts val="2200"/>
              <a:buAutoNum type="alphaLcPeriod"/>
            </a:pPr>
            <a:r>
              <a:rPr lang="en" sz="2200" dirty="0"/>
              <a:t>Data</a:t>
            </a:r>
            <a:endParaRPr sz="2200" dirty="0"/>
          </a:p>
          <a:p>
            <a:pPr marL="914400" lvl="1" indent="-368300" algn="l" rtl="0">
              <a:spcBef>
                <a:spcPts val="0"/>
              </a:spcBef>
              <a:spcAft>
                <a:spcPts val="0"/>
              </a:spcAft>
              <a:buSzPts val="2200"/>
              <a:buAutoNum type="alphaLcPeriod"/>
            </a:pPr>
            <a:r>
              <a:rPr lang="en" sz="2200" dirty="0"/>
              <a:t>Functions</a:t>
            </a:r>
            <a:endParaRPr sz="2200" dirty="0"/>
          </a:p>
          <a:p>
            <a:pPr marL="457200" lvl="0" indent="-368300" algn="l" rtl="0">
              <a:spcBef>
                <a:spcPts val="0"/>
              </a:spcBef>
              <a:spcAft>
                <a:spcPts val="0"/>
              </a:spcAft>
              <a:buSzPts val="2200"/>
              <a:buAutoNum type="arabicPeriod"/>
            </a:pPr>
            <a:r>
              <a:rPr lang="en" sz="2200" dirty="0"/>
              <a:t>What components are </a:t>
            </a:r>
            <a:r>
              <a:rPr lang="en" sz="2200" b="1"/>
              <a:t>already externally available</a:t>
            </a:r>
            <a:r>
              <a:rPr lang="en" sz="2200" dirty="0"/>
              <a:t>?</a:t>
            </a:r>
            <a:endParaRPr sz="2200" dirty="0"/>
          </a:p>
          <a:p>
            <a:pPr marL="457200" lvl="0" indent="-368300" algn="l" rtl="0">
              <a:spcBef>
                <a:spcPts val="0"/>
              </a:spcBef>
              <a:spcAft>
                <a:spcPts val="0"/>
              </a:spcAft>
              <a:buSzPts val="2200"/>
              <a:buAutoNum type="arabicPeriod"/>
            </a:pPr>
            <a:r>
              <a:rPr lang="en" sz="2200" dirty="0"/>
              <a:t>What are the sub-components needed to implement those components that aren't already available?</a:t>
            </a:r>
            <a:endParaRPr sz="2200" dirty="0"/>
          </a:p>
          <a:p>
            <a:pPr marL="457200" lvl="0" indent="457200" algn="l" rtl="0">
              <a:spcBef>
                <a:spcPts val="1200"/>
              </a:spcBef>
              <a:spcAft>
                <a:spcPts val="1200"/>
              </a:spcAft>
              <a:buNone/>
            </a:pPr>
            <a:r>
              <a:rPr lang="en" sz="2200" dirty="0"/>
              <a:t>Do 1-2 for each such component</a:t>
            </a:r>
            <a:endParaRPr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3">
                                            <p:txEl>
                                              <p:pRg st="0" end="0"/>
                                            </p:txEl>
                                          </p:spTgt>
                                        </p:tgtEl>
                                        <p:attrNameLst>
                                          <p:attrName>style.visibility</p:attrName>
                                        </p:attrNameLst>
                                      </p:cBhvr>
                                      <p:to>
                                        <p:strVal val="visible"/>
                                      </p:to>
                                    </p:set>
                                    <p:animEffect transition="in" filter="fade">
                                      <p:cBhvr>
                                        <p:cTn id="7" dur="1"/>
                                        <p:tgtEl>
                                          <p:spTgt spid="2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3">
                                            <p:txEl>
                                              <p:pRg st="1" end="1"/>
                                            </p:txEl>
                                          </p:spTgt>
                                        </p:tgtEl>
                                        <p:attrNameLst>
                                          <p:attrName>style.visibility</p:attrName>
                                        </p:attrNameLst>
                                      </p:cBhvr>
                                      <p:to>
                                        <p:strVal val="visible"/>
                                      </p:to>
                                    </p:set>
                                    <p:animEffect transition="in" filter="fade">
                                      <p:cBhvr>
                                        <p:cTn id="12" dur="1"/>
                                        <p:tgtEl>
                                          <p:spTgt spid="2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3">
                                            <p:txEl>
                                              <p:pRg st="2" end="2"/>
                                            </p:txEl>
                                          </p:spTgt>
                                        </p:tgtEl>
                                        <p:attrNameLst>
                                          <p:attrName>style.visibility</p:attrName>
                                        </p:attrNameLst>
                                      </p:cBhvr>
                                      <p:to>
                                        <p:strVal val="visible"/>
                                      </p:to>
                                    </p:set>
                                    <p:animEffect transition="in" filter="fade">
                                      <p:cBhvr>
                                        <p:cTn id="17" dur="1"/>
                                        <p:tgtEl>
                                          <p:spTgt spid="2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3">
                                            <p:txEl>
                                              <p:pRg st="3" end="3"/>
                                            </p:txEl>
                                          </p:spTgt>
                                        </p:tgtEl>
                                        <p:attrNameLst>
                                          <p:attrName>style.visibility</p:attrName>
                                        </p:attrNameLst>
                                      </p:cBhvr>
                                      <p:to>
                                        <p:strVal val="visible"/>
                                      </p:to>
                                    </p:set>
                                    <p:animEffect transition="in" filter="fade">
                                      <p:cBhvr>
                                        <p:cTn id="22" dur="1"/>
                                        <p:tgtEl>
                                          <p:spTgt spid="2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63">
                                            <p:txEl>
                                              <p:pRg st="4" end="4"/>
                                            </p:txEl>
                                          </p:spTgt>
                                        </p:tgtEl>
                                        <p:attrNameLst>
                                          <p:attrName>style.visibility</p:attrName>
                                        </p:attrNameLst>
                                      </p:cBhvr>
                                      <p:to>
                                        <p:strVal val="visible"/>
                                      </p:to>
                                    </p:set>
                                    <p:animEffect transition="in" filter="fade">
                                      <p:cBhvr>
                                        <p:cTn id="27" dur="1"/>
                                        <p:tgtEl>
                                          <p:spTgt spid="26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63">
                                            <p:txEl>
                                              <p:pRg st="5" end="5"/>
                                            </p:txEl>
                                          </p:spTgt>
                                        </p:tgtEl>
                                        <p:attrNameLst>
                                          <p:attrName>style.visibility</p:attrName>
                                        </p:attrNameLst>
                                      </p:cBhvr>
                                      <p:to>
                                        <p:strVal val="visible"/>
                                      </p:to>
                                    </p:set>
                                    <p:animEffect transition="in" filter="fade">
                                      <p:cBhvr>
                                        <p:cTn id="32" dur="1"/>
                                        <p:tgtEl>
                                          <p:spTgt spid="26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63">
                                            <p:txEl>
                                              <p:pRg st="6" end="6"/>
                                            </p:txEl>
                                          </p:spTgt>
                                        </p:tgtEl>
                                        <p:attrNameLst>
                                          <p:attrName>style.visibility</p:attrName>
                                        </p:attrNameLst>
                                      </p:cBhvr>
                                      <p:to>
                                        <p:strVal val="visible"/>
                                      </p:to>
                                    </p:set>
                                    <p:animEffect transition="in" filter="fade">
                                      <p:cBhvr>
                                        <p:cTn id="37" dur="1"/>
                                        <p:tgtEl>
                                          <p:spTgt spid="26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63">
                                            <p:txEl>
                                              <p:pRg st="7" end="7"/>
                                            </p:txEl>
                                          </p:spTgt>
                                        </p:tgtEl>
                                        <p:attrNameLst>
                                          <p:attrName>style.visibility</p:attrName>
                                        </p:attrNameLst>
                                      </p:cBhvr>
                                      <p:to>
                                        <p:strVal val="visible"/>
                                      </p:to>
                                    </p:set>
                                    <p:animEffect transition="in" filter="fade">
                                      <p:cBhvr>
                                        <p:cTn id="42" dur="1"/>
                                        <p:tgtEl>
                                          <p:spTgt spid="26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63">
                                            <p:txEl>
                                              <p:pRg st="8" end="8"/>
                                            </p:txEl>
                                          </p:spTgt>
                                        </p:tgtEl>
                                        <p:attrNameLst>
                                          <p:attrName>style.visibility</p:attrName>
                                        </p:attrNameLst>
                                      </p:cBhvr>
                                      <p:to>
                                        <p:strVal val="visible"/>
                                      </p:to>
                                    </p:set>
                                    <p:animEffect transition="in" filter="fade">
                                      <p:cBhvr>
                                        <p:cTn id="47" dur="1"/>
                                        <p:tgtEl>
                                          <p:spTgt spid="26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System authentication use case</a:t>
            </a:r>
            <a:endParaRPr/>
          </a:p>
        </p:txBody>
      </p:sp>
      <p:sp>
        <p:nvSpPr>
          <p:cNvPr id="269" name="Google Shape;269;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a:t>Components:</a:t>
            </a:r>
            <a:endParaRPr sz="2200"/>
          </a:p>
          <a:p>
            <a:pPr marL="457200" lvl="0" indent="-368300" algn="l" rtl="0">
              <a:spcBef>
                <a:spcPts val="1200"/>
              </a:spcBef>
              <a:spcAft>
                <a:spcPts val="0"/>
              </a:spcAft>
              <a:buSzPts val="2200"/>
              <a:buChar char="●"/>
            </a:pPr>
            <a:r>
              <a:rPr lang="en" sz="2200"/>
              <a:t>Database with username =&gt; password data</a:t>
            </a:r>
            <a:endParaRPr sz="2200"/>
          </a:p>
          <a:p>
            <a:pPr marL="457200" lvl="0" indent="-368300" algn="l" rtl="0">
              <a:spcBef>
                <a:spcPts val="0"/>
              </a:spcBef>
              <a:spcAft>
                <a:spcPts val="0"/>
              </a:spcAft>
              <a:buSzPts val="2200"/>
              <a:buChar char="●"/>
            </a:pPr>
            <a:r>
              <a:rPr lang="en" sz="2200"/>
              <a:t>User interface to prompt for a username/password</a:t>
            </a:r>
            <a:endParaRPr sz="2200"/>
          </a:p>
          <a:p>
            <a:pPr marL="457200" lvl="0" indent="-368300" algn="l" rtl="0">
              <a:spcBef>
                <a:spcPts val="0"/>
              </a:spcBef>
              <a:spcAft>
                <a:spcPts val="0"/>
              </a:spcAft>
              <a:buSzPts val="2200"/>
              <a:buChar char="●"/>
            </a:pPr>
            <a:r>
              <a:rPr lang="en" sz="2200"/>
              <a:t>Control logic</a:t>
            </a:r>
            <a:endParaRP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9">
                                            <p:txEl>
                                              <p:pRg st="0" end="0"/>
                                            </p:txEl>
                                          </p:spTgt>
                                        </p:tgtEl>
                                        <p:attrNameLst>
                                          <p:attrName>style.visibility</p:attrName>
                                        </p:attrNameLst>
                                      </p:cBhvr>
                                      <p:to>
                                        <p:strVal val="visible"/>
                                      </p:to>
                                    </p:set>
                                    <p:animEffect transition="in" filter="fade">
                                      <p:cBhvr>
                                        <p:cTn id="7" dur="1"/>
                                        <p:tgtEl>
                                          <p:spTgt spid="26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9">
                                            <p:txEl>
                                              <p:pRg st="1" end="1"/>
                                            </p:txEl>
                                          </p:spTgt>
                                        </p:tgtEl>
                                        <p:attrNameLst>
                                          <p:attrName>style.visibility</p:attrName>
                                        </p:attrNameLst>
                                      </p:cBhvr>
                                      <p:to>
                                        <p:strVal val="visible"/>
                                      </p:to>
                                    </p:set>
                                    <p:animEffect transition="in" filter="fade">
                                      <p:cBhvr>
                                        <p:cTn id="12" dur="1"/>
                                        <p:tgtEl>
                                          <p:spTgt spid="26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9">
                                            <p:txEl>
                                              <p:pRg st="2" end="2"/>
                                            </p:txEl>
                                          </p:spTgt>
                                        </p:tgtEl>
                                        <p:attrNameLst>
                                          <p:attrName>style.visibility</p:attrName>
                                        </p:attrNameLst>
                                      </p:cBhvr>
                                      <p:to>
                                        <p:strVal val="visible"/>
                                      </p:to>
                                    </p:set>
                                    <p:animEffect transition="in" filter="fade">
                                      <p:cBhvr>
                                        <p:cTn id="17" dur="1"/>
                                        <p:tgtEl>
                                          <p:spTgt spid="26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9">
                                            <p:txEl>
                                              <p:pRg st="3" end="3"/>
                                            </p:txEl>
                                          </p:spTgt>
                                        </p:tgtEl>
                                        <p:attrNameLst>
                                          <p:attrName>style.visibility</p:attrName>
                                        </p:attrNameLst>
                                      </p:cBhvr>
                                      <p:to>
                                        <p:strVal val="visible"/>
                                      </p:to>
                                    </p:set>
                                    <p:animEffect transition="in" filter="fade">
                                      <p:cBhvr>
                                        <p:cTn id="22" dur="1"/>
                                        <p:tgtEl>
                                          <p:spTgt spid="26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System authentication control logic</a:t>
            </a:r>
            <a:endParaRPr/>
          </a:p>
        </p:txBody>
      </p:sp>
      <p:sp>
        <p:nvSpPr>
          <p:cNvPr id="275" name="Google Shape;275;p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68300" algn="l" rtl="0">
              <a:spcBef>
                <a:spcPts val="0"/>
              </a:spcBef>
              <a:spcAft>
                <a:spcPts val="0"/>
              </a:spcAft>
              <a:buSzPts val="2200"/>
              <a:buChar char="●"/>
            </a:pPr>
            <a:r>
              <a:rPr lang="en" sz="2200"/>
              <a:t>Name</a:t>
            </a:r>
            <a:endParaRPr sz="2200"/>
          </a:p>
          <a:p>
            <a:pPr marL="914400" lvl="1" indent="-342900" algn="l" rtl="0">
              <a:spcBef>
                <a:spcPts val="0"/>
              </a:spcBef>
              <a:spcAft>
                <a:spcPts val="0"/>
              </a:spcAft>
              <a:buSzPts val="1800"/>
              <a:buFont typeface="Courier New"/>
              <a:buChar char="○"/>
            </a:pPr>
            <a:r>
              <a:rPr lang="en" sz="1800">
                <a:latin typeface="Courier New"/>
                <a:ea typeface="Courier New"/>
                <a:cs typeface="Courier New"/>
                <a:sym typeface="Courier New"/>
              </a:rPr>
              <a:t>authenticate</a:t>
            </a:r>
            <a:endParaRPr sz="1800">
              <a:latin typeface="Courier New"/>
              <a:ea typeface="Courier New"/>
              <a:cs typeface="Courier New"/>
              <a:sym typeface="Courier New"/>
            </a:endParaRPr>
          </a:p>
          <a:p>
            <a:pPr marL="457200" lvl="0" indent="-368300" algn="l" rtl="0">
              <a:spcBef>
                <a:spcPts val="0"/>
              </a:spcBef>
              <a:spcAft>
                <a:spcPts val="0"/>
              </a:spcAft>
              <a:buSzPts val="2200"/>
              <a:buChar char="●"/>
            </a:pPr>
            <a:r>
              <a:rPr lang="en" sz="2200"/>
              <a:t>What it does:</a:t>
            </a:r>
            <a:endParaRPr sz="2200"/>
          </a:p>
          <a:p>
            <a:pPr marL="914400" lvl="1" indent="-342900" algn="l" rtl="0">
              <a:spcBef>
                <a:spcPts val="0"/>
              </a:spcBef>
              <a:spcAft>
                <a:spcPts val="0"/>
              </a:spcAft>
              <a:buSzPts val="1800"/>
              <a:buChar char="○"/>
            </a:pPr>
            <a:r>
              <a:rPr lang="en" sz="1800"/>
              <a:t>Verifies a user is known &amp; the password supplied by the user is correct</a:t>
            </a:r>
            <a:endParaRPr sz="1800"/>
          </a:p>
          <a:p>
            <a:pPr marL="457200" lvl="0" indent="-368300" algn="l" rtl="0">
              <a:spcBef>
                <a:spcPts val="0"/>
              </a:spcBef>
              <a:spcAft>
                <a:spcPts val="0"/>
              </a:spcAft>
              <a:buSzPts val="2200"/>
              <a:buChar char="●"/>
            </a:pPr>
            <a:r>
              <a:rPr lang="en" sz="2200"/>
              <a:t>Inputs (with type information)</a:t>
            </a:r>
            <a:endParaRPr sz="2200"/>
          </a:p>
          <a:p>
            <a:pPr marL="914400" lvl="1" indent="-342900" algn="l" rtl="0">
              <a:spcBef>
                <a:spcPts val="0"/>
              </a:spcBef>
              <a:spcAft>
                <a:spcPts val="0"/>
              </a:spcAft>
              <a:buSzPts val="1800"/>
              <a:buChar char="○"/>
            </a:pPr>
            <a:r>
              <a:rPr lang="en" sz="1800" i="1"/>
              <a:t>Username</a:t>
            </a:r>
            <a:r>
              <a:rPr lang="en" sz="1800"/>
              <a:t>, a string that is the user’s account identifier</a:t>
            </a:r>
            <a:endParaRPr sz="1800"/>
          </a:p>
          <a:p>
            <a:pPr marL="914400" lvl="1" indent="-342900" algn="l" rtl="0">
              <a:spcBef>
                <a:spcPts val="0"/>
              </a:spcBef>
              <a:spcAft>
                <a:spcPts val="0"/>
              </a:spcAft>
              <a:buSzPts val="1800"/>
              <a:buChar char="○"/>
            </a:pPr>
            <a:r>
              <a:rPr lang="en" sz="1800" i="1"/>
              <a:t>Password</a:t>
            </a:r>
            <a:r>
              <a:rPr lang="en" sz="1800"/>
              <a:t>, a string</a:t>
            </a:r>
            <a:endParaRPr sz="2200"/>
          </a:p>
          <a:p>
            <a:pPr marL="457200" lvl="0" indent="-368300" algn="l" rtl="0">
              <a:spcBef>
                <a:spcPts val="0"/>
              </a:spcBef>
              <a:spcAft>
                <a:spcPts val="0"/>
              </a:spcAft>
              <a:buSzPts val="2200"/>
              <a:buChar char="●"/>
            </a:pPr>
            <a:r>
              <a:rPr lang="en" sz="2200"/>
              <a:t>Outputs (with type information)</a:t>
            </a:r>
            <a:endParaRPr sz="2200"/>
          </a:p>
          <a:p>
            <a:pPr marL="914400" lvl="1" indent="-342900" algn="l" rtl="0">
              <a:spcBef>
                <a:spcPts val="0"/>
              </a:spcBef>
              <a:spcAft>
                <a:spcPts val="0"/>
              </a:spcAft>
              <a:buSzPts val="1800"/>
              <a:buChar char="○"/>
            </a:pPr>
            <a:r>
              <a:rPr lang="en" sz="1800"/>
              <a:t>Boolean: True if success, False if failure</a:t>
            </a:r>
            <a:endParaRPr sz="1800"/>
          </a:p>
          <a:p>
            <a:pPr marL="457200" lvl="0" indent="-368300" algn="l" rtl="0">
              <a:spcBef>
                <a:spcPts val="0"/>
              </a:spcBef>
              <a:spcAft>
                <a:spcPts val="0"/>
              </a:spcAft>
              <a:buSzPts val="2200"/>
              <a:buChar char="●"/>
            </a:pPr>
            <a:r>
              <a:rPr lang="en" sz="2200"/>
              <a:t>Assumptions: none</a:t>
            </a:r>
            <a:endParaRPr sz="22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View inventory use case</a:t>
            </a:r>
            <a:endParaRPr/>
          </a:p>
        </p:txBody>
      </p:sp>
      <p:sp>
        <p:nvSpPr>
          <p:cNvPr id="281" name="Google Shape;281;p4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a:t>Components:</a:t>
            </a:r>
            <a:endParaRPr sz="2200"/>
          </a:p>
          <a:p>
            <a:pPr marL="457200" lvl="0" indent="-368300" algn="l" rtl="0">
              <a:spcBef>
                <a:spcPts val="1200"/>
              </a:spcBef>
              <a:spcAft>
                <a:spcPts val="0"/>
              </a:spcAft>
              <a:buSzPts val="2200"/>
              <a:buChar char="●"/>
            </a:pPr>
            <a:r>
              <a:rPr lang="en" sz="2200"/>
              <a:t>Inventory data store</a:t>
            </a:r>
            <a:endParaRPr sz="2200"/>
          </a:p>
          <a:p>
            <a:pPr marL="457200" lvl="0" indent="-368300" algn="l" rtl="0">
              <a:spcBef>
                <a:spcPts val="0"/>
              </a:spcBef>
              <a:spcAft>
                <a:spcPts val="0"/>
              </a:spcAft>
              <a:buSzPts val="2200"/>
              <a:buChar char="●"/>
            </a:pPr>
            <a:r>
              <a:rPr lang="en" sz="2200"/>
              <a:t>Data manager</a:t>
            </a:r>
            <a:endParaRPr sz="2200"/>
          </a:p>
          <a:p>
            <a:pPr marL="457200" lvl="0" indent="-368300" algn="l" rtl="0">
              <a:spcBef>
                <a:spcPts val="0"/>
              </a:spcBef>
              <a:spcAft>
                <a:spcPts val="0"/>
              </a:spcAft>
              <a:buSzPts val="2200"/>
              <a:buChar char="●"/>
            </a:pPr>
            <a:r>
              <a:rPr lang="en" sz="2200"/>
              <a:t>User interface with filters and inventory display</a:t>
            </a:r>
            <a:endParaRPr sz="2200"/>
          </a:p>
          <a:p>
            <a:pPr marL="457200" lvl="0" indent="-368300" algn="l" rtl="0">
              <a:spcBef>
                <a:spcPts val="0"/>
              </a:spcBef>
              <a:spcAft>
                <a:spcPts val="0"/>
              </a:spcAft>
              <a:buSzPts val="2200"/>
              <a:buChar char="●"/>
            </a:pPr>
            <a:r>
              <a:rPr lang="en" sz="2200"/>
              <a:t>Control logic</a:t>
            </a:r>
            <a:endParaRP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1">
                                            <p:txEl>
                                              <p:pRg st="0" end="0"/>
                                            </p:txEl>
                                          </p:spTgt>
                                        </p:tgtEl>
                                        <p:attrNameLst>
                                          <p:attrName>style.visibility</p:attrName>
                                        </p:attrNameLst>
                                      </p:cBhvr>
                                      <p:to>
                                        <p:strVal val="visible"/>
                                      </p:to>
                                    </p:set>
                                    <p:animEffect transition="in" filter="fade">
                                      <p:cBhvr>
                                        <p:cTn id="7" dur="1"/>
                                        <p:tgtEl>
                                          <p:spTgt spid="28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1">
                                            <p:txEl>
                                              <p:pRg st="1" end="1"/>
                                            </p:txEl>
                                          </p:spTgt>
                                        </p:tgtEl>
                                        <p:attrNameLst>
                                          <p:attrName>style.visibility</p:attrName>
                                        </p:attrNameLst>
                                      </p:cBhvr>
                                      <p:to>
                                        <p:strVal val="visible"/>
                                      </p:to>
                                    </p:set>
                                    <p:animEffect transition="in" filter="fade">
                                      <p:cBhvr>
                                        <p:cTn id="12" dur="1"/>
                                        <p:tgtEl>
                                          <p:spTgt spid="28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1">
                                            <p:txEl>
                                              <p:pRg st="2" end="2"/>
                                            </p:txEl>
                                          </p:spTgt>
                                        </p:tgtEl>
                                        <p:attrNameLst>
                                          <p:attrName>style.visibility</p:attrName>
                                        </p:attrNameLst>
                                      </p:cBhvr>
                                      <p:to>
                                        <p:strVal val="visible"/>
                                      </p:to>
                                    </p:set>
                                    <p:animEffect transition="in" filter="fade">
                                      <p:cBhvr>
                                        <p:cTn id="17" dur="1"/>
                                        <p:tgtEl>
                                          <p:spTgt spid="28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1">
                                            <p:txEl>
                                              <p:pRg st="3" end="3"/>
                                            </p:txEl>
                                          </p:spTgt>
                                        </p:tgtEl>
                                        <p:attrNameLst>
                                          <p:attrName>style.visibility</p:attrName>
                                        </p:attrNameLst>
                                      </p:cBhvr>
                                      <p:to>
                                        <p:strVal val="visible"/>
                                      </p:to>
                                    </p:set>
                                    <p:animEffect transition="in" filter="fade">
                                      <p:cBhvr>
                                        <p:cTn id="22" dur="1"/>
                                        <p:tgtEl>
                                          <p:spTgt spid="28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1">
                                            <p:txEl>
                                              <p:pRg st="4" end="4"/>
                                            </p:txEl>
                                          </p:spTgt>
                                        </p:tgtEl>
                                        <p:attrNameLst>
                                          <p:attrName>style.visibility</p:attrName>
                                        </p:attrNameLst>
                                      </p:cBhvr>
                                      <p:to>
                                        <p:strVal val="visible"/>
                                      </p:to>
                                    </p:set>
                                    <p:animEffect transition="in" filter="fade">
                                      <p:cBhvr>
                                        <p:cTn id="27" dur="1"/>
                                        <p:tgtEl>
                                          <p:spTgt spid="28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View inventory control logic</a:t>
            </a:r>
            <a:endParaRPr/>
          </a:p>
        </p:txBody>
      </p:sp>
      <p:sp>
        <p:nvSpPr>
          <p:cNvPr id="287" name="Google Shape;287;p48"/>
          <p:cNvSpPr txBox="1">
            <a:spLocks noGrp="1"/>
          </p:cNvSpPr>
          <p:nvPr>
            <p:ph type="body" idx="1"/>
          </p:nvPr>
        </p:nvSpPr>
        <p:spPr>
          <a:xfrm>
            <a:off x="311700" y="1152475"/>
            <a:ext cx="8520600" cy="3788700"/>
          </a:xfrm>
          <a:prstGeom prst="rect">
            <a:avLst/>
          </a:prstGeom>
        </p:spPr>
        <p:txBody>
          <a:bodyPr spcFirstLastPara="1" wrap="square" lIns="91425" tIns="91425" rIns="91425" bIns="91425" anchor="t" anchorCtr="0">
            <a:noAutofit/>
          </a:bodyPr>
          <a:lstStyle/>
          <a:p>
            <a:pPr marL="457200" lvl="0" indent="-372745" algn="l" rtl="0">
              <a:lnSpc>
                <a:spcPct val="95000"/>
              </a:lnSpc>
              <a:spcBef>
                <a:spcPts val="0"/>
              </a:spcBef>
              <a:spcAft>
                <a:spcPts val="0"/>
              </a:spcAft>
              <a:buSzPts val="2270"/>
              <a:buChar char="●"/>
            </a:pPr>
            <a:r>
              <a:rPr lang="en" sz="2270"/>
              <a:t>Name</a:t>
            </a:r>
            <a:endParaRPr sz="2270"/>
          </a:p>
          <a:p>
            <a:pPr marL="914400" lvl="1" indent="-351155" algn="l" rtl="0">
              <a:lnSpc>
                <a:spcPct val="95000"/>
              </a:lnSpc>
              <a:spcBef>
                <a:spcPts val="0"/>
              </a:spcBef>
              <a:spcAft>
                <a:spcPts val="0"/>
              </a:spcAft>
              <a:buSzPts val="1930"/>
              <a:buFont typeface="Courier New"/>
              <a:buChar char="○"/>
            </a:pPr>
            <a:r>
              <a:rPr lang="en" sz="1929">
                <a:latin typeface="Courier New"/>
                <a:ea typeface="Courier New"/>
                <a:cs typeface="Courier New"/>
                <a:sym typeface="Courier New"/>
              </a:rPr>
              <a:t>viewInventory</a:t>
            </a:r>
            <a:endParaRPr sz="1929">
              <a:latin typeface="Courier New"/>
              <a:ea typeface="Courier New"/>
              <a:cs typeface="Courier New"/>
              <a:sym typeface="Courier New"/>
            </a:endParaRPr>
          </a:p>
          <a:p>
            <a:pPr marL="457200" lvl="0" indent="-372745" algn="l" rtl="0">
              <a:lnSpc>
                <a:spcPct val="95000"/>
              </a:lnSpc>
              <a:spcBef>
                <a:spcPts val="0"/>
              </a:spcBef>
              <a:spcAft>
                <a:spcPts val="0"/>
              </a:spcAft>
              <a:buSzPts val="2270"/>
              <a:buChar char="●"/>
            </a:pPr>
            <a:r>
              <a:rPr lang="en" sz="2270"/>
              <a:t>What it does:</a:t>
            </a:r>
            <a:endParaRPr sz="2270"/>
          </a:p>
          <a:p>
            <a:pPr marL="914400" lvl="1" indent="-351155" algn="l" rtl="0">
              <a:lnSpc>
                <a:spcPct val="95000"/>
              </a:lnSpc>
              <a:spcBef>
                <a:spcPts val="0"/>
              </a:spcBef>
              <a:spcAft>
                <a:spcPts val="0"/>
              </a:spcAft>
              <a:buSzPts val="1930"/>
              <a:buChar char="○"/>
            </a:pPr>
            <a:r>
              <a:rPr lang="en" sz="1929"/>
              <a:t>Returns current inventory (product information and current count)</a:t>
            </a:r>
            <a:endParaRPr sz="1929"/>
          </a:p>
          <a:p>
            <a:pPr marL="457200" lvl="0" indent="-372745" algn="l" rtl="0">
              <a:lnSpc>
                <a:spcPct val="95000"/>
              </a:lnSpc>
              <a:spcBef>
                <a:spcPts val="0"/>
              </a:spcBef>
              <a:spcAft>
                <a:spcPts val="0"/>
              </a:spcAft>
              <a:buSzPts val="2270"/>
              <a:buChar char="●"/>
            </a:pPr>
            <a:r>
              <a:rPr lang="en" sz="2270"/>
              <a:t>Inputs (with type information)</a:t>
            </a:r>
            <a:endParaRPr sz="2270"/>
          </a:p>
          <a:p>
            <a:pPr marL="914400" lvl="1" indent="-351155" algn="l" rtl="0">
              <a:lnSpc>
                <a:spcPct val="95000"/>
              </a:lnSpc>
              <a:spcBef>
                <a:spcPts val="0"/>
              </a:spcBef>
              <a:spcAft>
                <a:spcPts val="0"/>
              </a:spcAft>
              <a:buSzPts val="1930"/>
              <a:buChar char="○"/>
            </a:pPr>
            <a:r>
              <a:rPr lang="en" sz="1929" i="1"/>
              <a:t>Page</a:t>
            </a:r>
            <a:r>
              <a:rPr lang="en" sz="1929"/>
              <a:t>, which set of 100 items the user is viewing</a:t>
            </a:r>
            <a:endParaRPr sz="1929"/>
          </a:p>
          <a:p>
            <a:pPr marL="914400" lvl="1" indent="-351155" algn="l" rtl="0">
              <a:lnSpc>
                <a:spcPct val="95000"/>
              </a:lnSpc>
              <a:spcBef>
                <a:spcPts val="0"/>
              </a:spcBef>
              <a:spcAft>
                <a:spcPts val="0"/>
              </a:spcAft>
              <a:buSzPts val="1930"/>
              <a:buChar char="○"/>
            </a:pPr>
            <a:r>
              <a:rPr lang="en" sz="1929" i="1"/>
              <a:t>Filters</a:t>
            </a:r>
            <a:r>
              <a:rPr lang="en" sz="1929"/>
              <a:t>, a dictionary of </a:t>
            </a:r>
            <a:r>
              <a:rPr lang="en" sz="1929">
                <a:highlight>
                  <a:srgbClr val="F3F3F3"/>
                </a:highlight>
                <a:latin typeface="Courier New"/>
                <a:ea typeface="Courier New"/>
                <a:cs typeface="Courier New"/>
                <a:sym typeface="Courier New"/>
              </a:rPr>
              <a:t>{ filterName: filterValue }</a:t>
            </a:r>
            <a:endParaRPr sz="1929">
              <a:highlight>
                <a:srgbClr val="F3F3F3"/>
              </a:highlight>
              <a:latin typeface="Courier New"/>
              <a:ea typeface="Courier New"/>
              <a:cs typeface="Courier New"/>
              <a:sym typeface="Courier New"/>
            </a:endParaRPr>
          </a:p>
          <a:p>
            <a:pPr marL="457200" lvl="0" indent="-372745" algn="l" rtl="0">
              <a:lnSpc>
                <a:spcPct val="95000"/>
              </a:lnSpc>
              <a:spcBef>
                <a:spcPts val="0"/>
              </a:spcBef>
              <a:spcAft>
                <a:spcPts val="0"/>
              </a:spcAft>
              <a:buSzPts val="2270"/>
              <a:buChar char="●"/>
            </a:pPr>
            <a:r>
              <a:rPr lang="en" sz="2270"/>
              <a:t>Outputs (with type information)</a:t>
            </a:r>
            <a:endParaRPr sz="2270"/>
          </a:p>
          <a:p>
            <a:pPr marL="914400" lvl="1" indent="-351155" algn="l" rtl="0">
              <a:lnSpc>
                <a:spcPct val="95000"/>
              </a:lnSpc>
              <a:spcBef>
                <a:spcPts val="0"/>
              </a:spcBef>
              <a:spcAft>
                <a:spcPts val="0"/>
              </a:spcAft>
              <a:buSzPts val="1930"/>
              <a:buChar char="○"/>
            </a:pPr>
            <a:r>
              <a:rPr lang="en" sz="1929"/>
              <a:t>List of inventory items, which are dictionaries of product info</a:t>
            </a:r>
            <a:endParaRPr sz="1929"/>
          </a:p>
          <a:p>
            <a:pPr marL="457200" lvl="0" indent="-370046" algn="l" rtl="0">
              <a:lnSpc>
                <a:spcPct val="95000"/>
              </a:lnSpc>
              <a:spcBef>
                <a:spcPts val="0"/>
              </a:spcBef>
              <a:spcAft>
                <a:spcPts val="0"/>
              </a:spcAft>
              <a:buSzPts val="2228"/>
              <a:buChar char="●"/>
            </a:pPr>
            <a:r>
              <a:rPr lang="en" sz="2227"/>
              <a:t>Assumptions</a:t>
            </a:r>
            <a:endParaRPr sz="2227"/>
          </a:p>
          <a:p>
            <a:pPr marL="914400" lvl="1" indent="-348456" algn="l" rtl="0">
              <a:lnSpc>
                <a:spcPct val="95000"/>
              </a:lnSpc>
              <a:spcBef>
                <a:spcPts val="0"/>
              </a:spcBef>
              <a:spcAft>
                <a:spcPts val="0"/>
              </a:spcAft>
              <a:buSzPts val="1888"/>
              <a:buChar char="○"/>
            </a:pPr>
            <a:r>
              <a:rPr lang="en" sz="1887"/>
              <a:t>User is already authenticated</a:t>
            </a:r>
            <a:endParaRPr sz="1929"/>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Pseudocode</a:t>
            </a:r>
            <a:endParaRPr/>
          </a:p>
        </p:txBody>
      </p:sp>
      <p:sp>
        <p:nvSpPr>
          <p:cNvPr id="293" name="Google Shape;293;p49"/>
          <p:cNvSpPr txBox="1">
            <a:spLocks noGrp="1"/>
          </p:cNvSpPr>
          <p:nvPr>
            <p:ph type="body" idx="1"/>
          </p:nvPr>
        </p:nvSpPr>
        <p:spPr>
          <a:xfrm>
            <a:off x="311700" y="1152475"/>
            <a:ext cx="8520600" cy="37320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Helpful to gain insight into how components interact</a:t>
            </a:r>
            <a:endParaRPr/>
          </a:p>
          <a:p>
            <a:pPr marL="457200" lvl="0" indent="-342900" algn="l" rtl="0">
              <a:spcBef>
                <a:spcPts val="0"/>
              </a:spcBef>
              <a:spcAft>
                <a:spcPts val="0"/>
              </a:spcAft>
              <a:buSzPts val="1800"/>
              <a:buChar char="●"/>
            </a:pPr>
            <a:r>
              <a:rPr lang="en"/>
              <a:t>Not really code - mostly readable English with some flow control &amp; variables</a:t>
            </a:r>
            <a:endParaRPr/>
          </a:p>
          <a:p>
            <a:pPr marL="0" lvl="0" indent="0" algn="l" rtl="0">
              <a:spcBef>
                <a:spcPts val="1200"/>
              </a:spcBef>
              <a:spcAft>
                <a:spcPts val="0"/>
              </a:spcAft>
              <a:buNone/>
            </a:pPr>
            <a:endParaRPr/>
          </a:p>
          <a:p>
            <a:pPr marL="0" lvl="0" indent="0" algn="l" rtl="0">
              <a:spcBef>
                <a:spcPts val="0"/>
              </a:spcBef>
              <a:spcAft>
                <a:spcPts val="0"/>
              </a:spcAft>
              <a:buNone/>
            </a:pPr>
            <a:r>
              <a:rPr lang="en">
                <a:latin typeface="Courier New"/>
                <a:ea typeface="Courier New"/>
                <a:cs typeface="Courier New"/>
                <a:sym typeface="Courier New"/>
              </a:rPr>
              <a:t>viewInventory(page=0, filters=None):</a:t>
            </a:r>
            <a:endParaRPr>
              <a:latin typeface="Courier New"/>
              <a:ea typeface="Courier New"/>
              <a:cs typeface="Courier New"/>
              <a:sym typeface="Courier New"/>
            </a:endParaRPr>
          </a:p>
          <a:p>
            <a:pPr marL="0" lvl="0" indent="457200" algn="l" rtl="0">
              <a:spcBef>
                <a:spcPts val="0"/>
              </a:spcBef>
              <a:spcAft>
                <a:spcPts val="0"/>
              </a:spcAft>
              <a:buNone/>
            </a:pPr>
            <a:r>
              <a:rPr lang="en">
                <a:latin typeface="Courier New"/>
                <a:ea typeface="Courier New"/>
                <a:cs typeface="Courier New"/>
                <a:sym typeface="Courier New"/>
              </a:rPr>
              <a:t>translate filters into data model equivalents</a:t>
            </a:r>
            <a:endParaRPr>
              <a:latin typeface="Courier New"/>
              <a:ea typeface="Courier New"/>
              <a:cs typeface="Courier New"/>
              <a:sym typeface="Courier New"/>
            </a:endParaRPr>
          </a:p>
          <a:p>
            <a:pPr marL="0" lvl="0" indent="0" algn="l" rtl="0">
              <a:spcBef>
                <a:spcPts val="0"/>
              </a:spcBef>
              <a:spcAft>
                <a:spcPts val="0"/>
              </a:spcAft>
              <a:buNone/>
            </a:pPr>
            <a:endParaRPr>
              <a:latin typeface="Courier New"/>
              <a:ea typeface="Courier New"/>
              <a:cs typeface="Courier New"/>
              <a:sym typeface="Courier New"/>
            </a:endParaRPr>
          </a:p>
          <a:p>
            <a:pPr marL="0" lvl="0" indent="457200" algn="l" rtl="0">
              <a:spcBef>
                <a:spcPts val="0"/>
              </a:spcBef>
              <a:spcAft>
                <a:spcPts val="0"/>
              </a:spcAft>
              <a:buNone/>
            </a:pPr>
            <a:r>
              <a:rPr lang="en">
                <a:latin typeface="Courier New"/>
                <a:ea typeface="Courier New"/>
                <a:cs typeface="Courier New"/>
                <a:sym typeface="Courier New"/>
              </a:rPr>
              <a:t>select item and quantity from data manager</a:t>
            </a:r>
            <a:endParaRPr>
              <a:latin typeface="Courier New"/>
              <a:ea typeface="Courier New"/>
              <a:cs typeface="Courier New"/>
              <a:sym typeface="Courier New"/>
            </a:endParaRPr>
          </a:p>
          <a:p>
            <a:pPr marL="0" lvl="0" indent="0" algn="l" rtl="0">
              <a:spcBef>
                <a:spcPts val="0"/>
              </a:spcBef>
              <a:spcAft>
                <a:spcPts val="0"/>
              </a:spcAft>
              <a:buNone/>
            </a:pPr>
            <a:r>
              <a:rPr lang="en">
                <a:latin typeface="Courier New"/>
                <a:ea typeface="Courier New"/>
                <a:cs typeface="Courier New"/>
                <a:sym typeface="Courier New"/>
              </a:rPr>
              <a:t>	where filters match</a:t>
            </a:r>
            <a:endParaRPr>
              <a:latin typeface="Courier New"/>
              <a:ea typeface="Courier New"/>
              <a:cs typeface="Courier New"/>
              <a:sym typeface="Courier New"/>
            </a:endParaRPr>
          </a:p>
          <a:p>
            <a:pPr marL="0" lvl="0" indent="457200" algn="l" rtl="0">
              <a:spcBef>
                <a:spcPts val="0"/>
              </a:spcBef>
              <a:spcAft>
                <a:spcPts val="0"/>
              </a:spcAft>
              <a:buNone/>
            </a:pPr>
            <a:r>
              <a:rPr lang="en">
                <a:latin typeface="Courier New"/>
                <a:ea typeface="Courier New"/>
                <a:cs typeface="Courier New"/>
                <a:sym typeface="Courier New"/>
              </a:rPr>
              <a:t>skip the first 100*page</a:t>
            </a:r>
            <a:endParaRPr>
              <a:latin typeface="Courier New"/>
              <a:ea typeface="Courier New"/>
              <a:cs typeface="Courier New"/>
              <a:sym typeface="Courier New"/>
            </a:endParaRPr>
          </a:p>
          <a:p>
            <a:pPr marL="0" lvl="0" indent="457200" algn="l" rtl="0">
              <a:spcBef>
                <a:spcPts val="0"/>
              </a:spcBef>
              <a:spcAft>
                <a:spcPts val="0"/>
              </a:spcAft>
              <a:buNone/>
            </a:pPr>
            <a:r>
              <a:rPr lang="en">
                <a:latin typeface="Courier New"/>
                <a:ea typeface="Courier New"/>
                <a:cs typeface="Courier New"/>
                <a:sym typeface="Courier New"/>
              </a:rPr>
              <a:t>maximum 100</a:t>
            </a:r>
            <a:endParaRPr>
              <a:latin typeface="Courier New"/>
              <a:ea typeface="Courier New"/>
              <a:cs typeface="Courier New"/>
              <a:sym typeface="Courier New"/>
            </a:endParaRPr>
          </a:p>
        </p:txBody>
      </p:sp>
      <p:grpSp>
        <p:nvGrpSpPr>
          <p:cNvPr id="294" name="Google Shape;294;p49"/>
          <p:cNvGrpSpPr/>
          <p:nvPr/>
        </p:nvGrpSpPr>
        <p:grpSpPr>
          <a:xfrm>
            <a:off x="4888572" y="3061350"/>
            <a:ext cx="4255423" cy="579050"/>
            <a:chOff x="4554210" y="2189175"/>
            <a:chExt cx="3950815" cy="579050"/>
          </a:xfrm>
        </p:grpSpPr>
        <p:sp>
          <p:nvSpPr>
            <p:cNvPr id="295" name="Google Shape;295;p49"/>
            <p:cNvSpPr/>
            <p:nvPr/>
          </p:nvSpPr>
          <p:spPr>
            <a:xfrm>
              <a:off x="4554210" y="2342225"/>
              <a:ext cx="1662000" cy="4260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49"/>
            <p:cNvSpPr txBox="1"/>
            <p:nvPr/>
          </p:nvSpPr>
          <p:spPr>
            <a:xfrm>
              <a:off x="6432025" y="2189175"/>
              <a:ext cx="20730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FF0000"/>
                  </a:solidFill>
                </a:rPr>
                <a:t>Another component!</a:t>
              </a:r>
              <a:endParaRPr sz="1600">
                <a:solidFill>
                  <a:srgbClr val="FF0000"/>
                </a:solidFill>
              </a:endParaRPr>
            </a:p>
          </p:txBody>
        </p:sp>
        <p:cxnSp>
          <p:nvCxnSpPr>
            <p:cNvPr id="297" name="Google Shape;297;p49"/>
            <p:cNvCxnSpPr>
              <a:stCxn id="296" idx="1"/>
              <a:endCxn id="295" idx="3"/>
            </p:cNvCxnSpPr>
            <p:nvPr/>
          </p:nvCxnSpPr>
          <p:spPr>
            <a:xfrm flipH="1">
              <a:off x="6216325" y="2404725"/>
              <a:ext cx="215700" cy="150600"/>
            </a:xfrm>
            <a:prstGeom prst="straightConnector1">
              <a:avLst/>
            </a:prstGeom>
            <a:noFill/>
            <a:ln w="19050" cap="flat" cmpd="sng">
              <a:solidFill>
                <a:srgbClr val="FF0000"/>
              </a:solidFill>
              <a:prstDash val="solid"/>
              <a:round/>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4"/>
                                        </p:tgtEl>
                                        <p:attrNameLst>
                                          <p:attrName>style.visibility</p:attrName>
                                        </p:attrNameLst>
                                      </p:cBhvr>
                                      <p:to>
                                        <p:strVal val="visible"/>
                                      </p:to>
                                    </p:set>
                                    <p:animEffect transition="in" filter="fade">
                                      <p:cBhvr>
                                        <p:cTn id="7" dur="1"/>
                                        <p:tgtEl>
                                          <p:spTgt spid="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Specifying component interactions</a:t>
            </a:r>
            <a:endParaRPr/>
          </a:p>
        </p:txBody>
      </p:sp>
      <p:sp>
        <p:nvSpPr>
          <p:cNvPr id="303" name="Google Shape;303;p5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a:t>Diagrams are very helpful!</a:t>
            </a:r>
            <a:endParaRPr sz="2200"/>
          </a:p>
          <a:p>
            <a:pPr marL="0" lvl="0" indent="0" algn="l" rtl="0">
              <a:spcBef>
                <a:spcPts val="1200"/>
              </a:spcBef>
              <a:spcAft>
                <a:spcPts val="0"/>
              </a:spcAft>
              <a:buNone/>
            </a:pPr>
            <a:endParaRPr sz="2200"/>
          </a:p>
          <a:p>
            <a:pPr marL="0" lvl="0" indent="0" algn="l" rtl="0">
              <a:spcBef>
                <a:spcPts val="1200"/>
              </a:spcBef>
              <a:spcAft>
                <a:spcPts val="0"/>
              </a:spcAft>
              <a:buNone/>
            </a:pPr>
            <a:r>
              <a:rPr lang="en" sz="2200"/>
              <a:t>Web tool for making these:</a:t>
            </a:r>
            <a:endParaRPr sz="2200"/>
          </a:p>
          <a:p>
            <a:pPr marL="0" lvl="0" indent="457200" algn="l" rtl="0">
              <a:spcBef>
                <a:spcPts val="0"/>
              </a:spcBef>
              <a:spcAft>
                <a:spcPts val="1200"/>
              </a:spcAft>
              <a:buNone/>
            </a:pPr>
            <a:r>
              <a:rPr lang="en" sz="2200" u="sng">
                <a:solidFill>
                  <a:schemeClr val="hlink"/>
                </a:solidFill>
                <a:hlinkClick r:id="rId3"/>
              </a:rPr>
              <a:t>https://www.websequencediagrams.com/</a:t>
            </a:r>
            <a:endParaRPr sz="2200"/>
          </a:p>
        </p:txBody>
      </p:sp>
      <p:pic>
        <p:nvPicPr>
          <p:cNvPr id="304" name="Google Shape;304;p50"/>
          <p:cNvPicPr preferRelativeResize="0"/>
          <p:nvPr/>
        </p:nvPicPr>
        <p:blipFill>
          <a:blip r:embed="rId4">
            <a:alphaModFix/>
          </a:blip>
          <a:stretch>
            <a:fillRect/>
          </a:stretch>
        </p:blipFill>
        <p:spPr>
          <a:xfrm>
            <a:off x="6139025" y="354975"/>
            <a:ext cx="2693275" cy="443354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5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user authentication component interactions</a:t>
            </a:r>
            <a:endParaRPr/>
          </a:p>
        </p:txBody>
      </p:sp>
      <p:sp>
        <p:nvSpPr>
          <p:cNvPr id="310" name="Google Shape;310;p5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11" name="Google Shape;311;p51"/>
          <p:cNvPicPr preferRelativeResize="0"/>
          <p:nvPr/>
        </p:nvPicPr>
        <p:blipFill>
          <a:blip r:embed="rId3">
            <a:alphaModFix/>
          </a:blip>
          <a:stretch>
            <a:fillRect/>
          </a:stretch>
        </p:blipFill>
        <p:spPr>
          <a:xfrm>
            <a:off x="1071550" y="1155700"/>
            <a:ext cx="7000875" cy="34099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user authentication component interactions</a:t>
            </a:r>
            <a:endParaRPr/>
          </a:p>
        </p:txBody>
      </p:sp>
      <p:sp>
        <p:nvSpPr>
          <p:cNvPr id="317" name="Google Shape;317;p52"/>
          <p:cNvSpPr txBox="1">
            <a:spLocks noGrp="1"/>
          </p:cNvSpPr>
          <p:nvPr>
            <p:ph type="body" idx="1"/>
          </p:nvPr>
        </p:nvSpPr>
        <p:spPr>
          <a:xfrm>
            <a:off x="311700" y="1152475"/>
            <a:ext cx="8520600" cy="3416400"/>
          </a:xfrm>
          <a:prstGeom prst="rect">
            <a:avLst/>
          </a:prstGeom>
          <a:solidFill>
            <a:schemeClr val="dk1"/>
          </a:solidFill>
        </p:spPr>
        <p:txBody>
          <a:bodyPr spcFirstLastPara="1" wrap="square" lIns="91425" tIns="91425" rIns="91425" bIns="91425" anchor="t" anchorCtr="0">
            <a:normAutofit lnSpcReduction="10000"/>
          </a:bodyPr>
          <a:lstStyle/>
          <a:p>
            <a:pPr marL="0" lvl="0" indent="457200" algn="l" rtl="0">
              <a:spcBef>
                <a:spcPts val="0"/>
              </a:spcBef>
              <a:spcAft>
                <a:spcPts val="0"/>
              </a:spcAft>
              <a:buClr>
                <a:schemeClr val="dk1"/>
              </a:buClr>
              <a:buSzPts val="1100"/>
              <a:buFont typeface="Arial"/>
              <a:buNone/>
            </a:pPr>
            <a:r>
              <a:rPr lang="en" b="1">
                <a:solidFill>
                  <a:srgbClr val="F1C232"/>
                </a:solidFill>
                <a:latin typeface="Courier New"/>
                <a:ea typeface="Courier New"/>
                <a:cs typeface="Courier New"/>
                <a:sym typeface="Courier New"/>
              </a:rPr>
              <a:t>title</a:t>
            </a:r>
            <a:r>
              <a:rPr lang="en">
                <a:solidFill>
                  <a:schemeClr val="lt1"/>
                </a:solidFill>
                <a:latin typeface="Courier New"/>
                <a:ea typeface="Courier New"/>
                <a:cs typeface="Courier New"/>
                <a:sym typeface="Courier New"/>
              </a:rPr>
              <a:t> User Authentication</a:t>
            </a:r>
            <a:endParaRPr>
              <a:solidFill>
                <a:schemeClr val="lt1"/>
              </a:solidFill>
              <a:latin typeface="Courier New"/>
              <a:ea typeface="Courier New"/>
              <a:cs typeface="Courier New"/>
              <a:sym typeface="Courier New"/>
            </a:endParaRPr>
          </a:p>
          <a:p>
            <a:pPr marL="0" lvl="0" indent="0" algn="l" rtl="0">
              <a:spcBef>
                <a:spcPts val="1200"/>
              </a:spcBef>
              <a:spcAft>
                <a:spcPts val="0"/>
              </a:spcAft>
              <a:buClr>
                <a:schemeClr val="dk1"/>
              </a:buClr>
              <a:buSzPts val="1100"/>
              <a:buFont typeface="Arial"/>
              <a:buNone/>
            </a:pPr>
            <a:endParaRPr>
              <a:solidFill>
                <a:schemeClr val="lt1"/>
              </a:solidFill>
              <a:latin typeface="Courier New"/>
              <a:ea typeface="Courier New"/>
              <a:cs typeface="Courier New"/>
              <a:sym typeface="Courier New"/>
            </a:endParaRPr>
          </a:p>
          <a:p>
            <a:pPr marL="0" lvl="0" indent="457200" algn="l" rtl="0">
              <a:spcBef>
                <a:spcPts val="1200"/>
              </a:spcBef>
              <a:spcAft>
                <a:spcPts val="0"/>
              </a:spcAft>
              <a:buClr>
                <a:schemeClr val="dk1"/>
              </a:buClr>
              <a:buSzPts val="1100"/>
              <a:buFont typeface="Arial"/>
              <a:buNone/>
            </a:pPr>
            <a:r>
              <a:rPr lang="en" b="1">
                <a:solidFill>
                  <a:srgbClr val="00FFFF"/>
                </a:solidFill>
                <a:latin typeface="Courier New"/>
                <a:ea typeface="Courier New"/>
                <a:cs typeface="Courier New"/>
                <a:sym typeface="Courier New"/>
              </a:rPr>
              <a:t>user</a:t>
            </a:r>
            <a:r>
              <a:rPr lang="en" b="1">
                <a:solidFill>
                  <a:srgbClr val="F1C232"/>
                </a:solidFill>
                <a:latin typeface="Courier New"/>
                <a:ea typeface="Courier New"/>
                <a:cs typeface="Courier New"/>
                <a:sym typeface="Courier New"/>
              </a:rPr>
              <a:t>-&gt;</a:t>
            </a:r>
            <a:r>
              <a:rPr lang="en" b="1">
                <a:solidFill>
                  <a:srgbClr val="00FFFF"/>
                </a:solidFill>
                <a:latin typeface="Courier New"/>
                <a:ea typeface="Courier New"/>
                <a:cs typeface="Courier New"/>
                <a:sym typeface="Courier New"/>
              </a:rPr>
              <a:t>System</a:t>
            </a:r>
            <a:r>
              <a:rPr lang="en" b="1">
                <a:solidFill>
                  <a:schemeClr val="lt1"/>
                </a:solidFill>
                <a:latin typeface="Courier New"/>
                <a:ea typeface="Courier New"/>
                <a:cs typeface="Courier New"/>
                <a:sym typeface="Courier New"/>
              </a:rPr>
              <a:t>:</a:t>
            </a:r>
            <a:r>
              <a:rPr lang="en">
                <a:solidFill>
                  <a:schemeClr val="lt1"/>
                </a:solidFill>
                <a:latin typeface="Courier New"/>
                <a:ea typeface="Courier New"/>
                <a:cs typeface="Courier New"/>
                <a:sym typeface="Courier New"/>
              </a:rPr>
              <a:t> authentication request (username &amp; pwd)</a:t>
            </a:r>
            <a:endParaRPr>
              <a:solidFill>
                <a:schemeClr val="lt1"/>
              </a:solidFill>
              <a:latin typeface="Courier New"/>
              <a:ea typeface="Courier New"/>
              <a:cs typeface="Courier New"/>
              <a:sym typeface="Courier New"/>
            </a:endParaRPr>
          </a:p>
          <a:p>
            <a:pPr marL="0" lvl="0" indent="457200" algn="l" rtl="0">
              <a:spcBef>
                <a:spcPts val="1200"/>
              </a:spcBef>
              <a:spcAft>
                <a:spcPts val="0"/>
              </a:spcAft>
              <a:buClr>
                <a:schemeClr val="dk1"/>
              </a:buClr>
              <a:buSzPts val="1100"/>
              <a:buFont typeface="Arial"/>
              <a:buNone/>
            </a:pPr>
            <a:r>
              <a:rPr lang="en" b="1">
                <a:solidFill>
                  <a:srgbClr val="00FFFF"/>
                </a:solidFill>
                <a:latin typeface="Courier New"/>
                <a:ea typeface="Courier New"/>
                <a:cs typeface="Courier New"/>
                <a:sym typeface="Courier New"/>
              </a:rPr>
              <a:t>System</a:t>
            </a:r>
            <a:r>
              <a:rPr lang="en" b="1">
                <a:solidFill>
                  <a:srgbClr val="F1C232"/>
                </a:solidFill>
                <a:latin typeface="Courier New"/>
                <a:ea typeface="Courier New"/>
                <a:cs typeface="Courier New"/>
                <a:sym typeface="Courier New"/>
              </a:rPr>
              <a:t>-&gt;</a:t>
            </a:r>
            <a:r>
              <a:rPr lang="en" b="1">
                <a:solidFill>
                  <a:srgbClr val="00FFFF"/>
                </a:solidFill>
                <a:latin typeface="Courier New"/>
                <a:ea typeface="Courier New"/>
                <a:cs typeface="Courier New"/>
                <a:sym typeface="Courier New"/>
              </a:rPr>
              <a:t>Database</a:t>
            </a:r>
            <a:r>
              <a:rPr lang="en" b="1">
                <a:solidFill>
                  <a:schemeClr val="lt1"/>
                </a:solidFill>
                <a:latin typeface="Courier New"/>
                <a:ea typeface="Courier New"/>
                <a:cs typeface="Courier New"/>
                <a:sym typeface="Courier New"/>
              </a:rPr>
              <a:t>:</a:t>
            </a:r>
            <a:r>
              <a:rPr lang="en">
                <a:solidFill>
                  <a:schemeClr val="lt1"/>
                </a:solidFill>
                <a:latin typeface="Courier New"/>
                <a:ea typeface="Courier New"/>
                <a:cs typeface="Courier New"/>
                <a:sym typeface="Courier New"/>
              </a:rPr>
              <a:t> does username/pwd combo exist?</a:t>
            </a:r>
            <a:endParaRPr>
              <a:solidFill>
                <a:schemeClr val="lt1"/>
              </a:solidFill>
              <a:latin typeface="Courier New"/>
              <a:ea typeface="Courier New"/>
              <a:cs typeface="Courier New"/>
              <a:sym typeface="Courier New"/>
            </a:endParaRPr>
          </a:p>
          <a:p>
            <a:pPr marL="0" lvl="0" indent="457200" algn="l" rtl="0">
              <a:spcBef>
                <a:spcPts val="1200"/>
              </a:spcBef>
              <a:spcAft>
                <a:spcPts val="0"/>
              </a:spcAft>
              <a:buClr>
                <a:schemeClr val="dk1"/>
              </a:buClr>
              <a:buSzPts val="1100"/>
              <a:buFont typeface="Arial"/>
              <a:buNone/>
            </a:pPr>
            <a:r>
              <a:rPr lang="en" b="1">
                <a:solidFill>
                  <a:srgbClr val="F1C232"/>
                </a:solidFill>
                <a:latin typeface="Courier New"/>
                <a:ea typeface="Courier New"/>
                <a:cs typeface="Courier New"/>
                <a:sym typeface="Courier New"/>
              </a:rPr>
              <a:t>note right of </a:t>
            </a:r>
            <a:r>
              <a:rPr lang="en" b="1">
                <a:solidFill>
                  <a:srgbClr val="00FFFF"/>
                </a:solidFill>
                <a:latin typeface="Courier New"/>
                <a:ea typeface="Courier New"/>
                <a:cs typeface="Courier New"/>
                <a:sym typeface="Courier New"/>
              </a:rPr>
              <a:t>Database</a:t>
            </a:r>
            <a:r>
              <a:rPr lang="en" b="1">
                <a:solidFill>
                  <a:schemeClr val="lt1"/>
                </a:solidFill>
                <a:latin typeface="Courier New"/>
                <a:ea typeface="Courier New"/>
                <a:cs typeface="Courier New"/>
                <a:sym typeface="Courier New"/>
              </a:rPr>
              <a:t>:</a:t>
            </a:r>
            <a:r>
              <a:rPr lang="en">
                <a:solidFill>
                  <a:schemeClr val="lt1"/>
                </a:solidFill>
                <a:latin typeface="Courier New"/>
                <a:ea typeface="Courier New"/>
                <a:cs typeface="Courier New"/>
                <a:sym typeface="Courier New"/>
              </a:rPr>
              <a:t> search using username &amp; pwd</a:t>
            </a:r>
            <a:endParaRPr>
              <a:solidFill>
                <a:schemeClr val="lt1"/>
              </a:solidFill>
              <a:latin typeface="Courier New"/>
              <a:ea typeface="Courier New"/>
              <a:cs typeface="Courier New"/>
              <a:sym typeface="Courier New"/>
            </a:endParaRPr>
          </a:p>
          <a:p>
            <a:pPr marL="0" lvl="0" indent="457200" algn="l" rtl="0">
              <a:spcBef>
                <a:spcPts val="1200"/>
              </a:spcBef>
              <a:spcAft>
                <a:spcPts val="0"/>
              </a:spcAft>
              <a:buClr>
                <a:schemeClr val="dk1"/>
              </a:buClr>
              <a:buSzPts val="1100"/>
              <a:buFont typeface="Arial"/>
              <a:buNone/>
            </a:pPr>
            <a:r>
              <a:rPr lang="en" b="1">
                <a:solidFill>
                  <a:srgbClr val="00FFFF"/>
                </a:solidFill>
                <a:latin typeface="Courier New"/>
                <a:ea typeface="Courier New"/>
                <a:cs typeface="Courier New"/>
                <a:sym typeface="Courier New"/>
              </a:rPr>
              <a:t>Database</a:t>
            </a:r>
            <a:r>
              <a:rPr lang="en" b="1">
                <a:solidFill>
                  <a:srgbClr val="F1C232"/>
                </a:solidFill>
                <a:latin typeface="Courier New"/>
                <a:ea typeface="Courier New"/>
                <a:cs typeface="Courier New"/>
                <a:sym typeface="Courier New"/>
              </a:rPr>
              <a:t>-&gt;</a:t>
            </a:r>
            <a:r>
              <a:rPr lang="en" b="1">
                <a:solidFill>
                  <a:srgbClr val="00FFFF"/>
                </a:solidFill>
                <a:latin typeface="Courier New"/>
                <a:ea typeface="Courier New"/>
                <a:cs typeface="Courier New"/>
                <a:sym typeface="Courier New"/>
              </a:rPr>
              <a:t>System</a:t>
            </a:r>
            <a:r>
              <a:rPr lang="en" b="1">
                <a:solidFill>
                  <a:schemeClr val="lt1"/>
                </a:solidFill>
                <a:latin typeface="Courier New"/>
                <a:ea typeface="Courier New"/>
                <a:cs typeface="Courier New"/>
                <a:sym typeface="Courier New"/>
              </a:rPr>
              <a:t>:</a:t>
            </a:r>
            <a:r>
              <a:rPr lang="en">
                <a:solidFill>
                  <a:schemeClr val="lt1"/>
                </a:solidFill>
                <a:latin typeface="Courier New"/>
                <a:ea typeface="Courier New"/>
                <a:cs typeface="Courier New"/>
                <a:sym typeface="Courier New"/>
              </a:rPr>
              <a:t> username &amp; password valid or not</a:t>
            </a:r>
            <a:endParaRPr>
              <a:solidFill>
                <a:schemeClr val="lt1"/>
              </a:solidFill>
              <a:latin typeface="Courier New"/>
              <a:ea typeface="Courier New"/>
              <a:cs typeface="Courier New"/>
              <a:sym typeface="Courier New"/>
            </a:endParaRPr>
          </a:p>
          <a:p>
            <a:pPr marL="0" lvl="0" indent="457200" algn="l" rtl="0">
              <a:spcBef>
                <a:spcPts val="1200"/>
              </a:spcBef>
              <a:spcAft>
                <a:spcPts val="1200"/>
              </a:spcAft>
              <a:buNone/>
            </a:pPr>
            <a:r>
              <a:rPr lang="en" b="1">
                <a:solidFill>
                  <a:srgbClr val="00FFFF"/>
                </a:solidFill>
                <a:latin typeface="Courier New"/>
                <a:ea typeface="Courier New"/>
                <a:cs typeface="Courier New"/>
                <a:sym typeface="Courier New"/>
              </a:rPr>
              <a:t>System</a:t>
            </a:r>
            <a:r>
              <a:rPr lang="en" b="1">
                <a:solidFill>
                  <a:srgbClr val="F1C232"/>
                </a:solidFill>
                <a:latin typeface="Courier New"/>
                <a:ea typeface="Courier New"/>
                <a:cs typeface="Courier New"/>
                <a:sym typeface="Courier New"/>
              </a:rPr>
              <a:t>-&gt;</a:t>
            </a:r>
            <a:r>
              <a:rPr lang="en" b="1">
                <a:solidFill>
                  <a:srgbClr val="00FFFF"/>
                </a:solidFill>
                <a:latin typeface="Courier New"/>
                <a:ea typeface="Courier New"/>
                <a:cs typeface="Courier New"/>
                <a:sym typeface="Courier New"/>
              </a:rPr>
              <a:t>user</a:t>
            </a:r>
            <a:r>
              <a:rPr lang="en" b="1">
                <a:solidFill>
                  <a:schemeClr val="lt1"/>
                </a:solidFill>
                <a:latin typeface="Courier New"/>
                <a:ea typeface="Courier New"/>
                <a:cs typeface="Courier New"/>
                <a:sym typeface="Courier New"/>
              </a:rPr>
              <a:t>:</a:t>
            </a:r>
            <a:r>
              <a:rPr lang="en">
                <a:solidFill>
                  <a:schemeClr val="lt1"/>
                </a:solidFill>
                <a:latin typeface="Courier New"/>
                <a:ea typeface="Courier New"/>
                <a:cs typeface="Courier New"/>
                <a:sym typeface="Courier New"/>
              </a:rPr>
              <a:t> authentication response (True/False)</a:t>
            </a:r>
            <a:endParaRPr>
              <a:solidFill>
                <a:schemeClr val="lt1"/>
              </a:solidFill>
              <a:latin typeface="Courier New"/>
              <a:ea typeface="Courier New"/>
              <a:cs typeface="Courier New"/>
              <a:sym typeface="Courier New"/>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5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Another diagram option: draw.io</a:t>
            </a:r>
            <a:endParaRPr/>
          </a:p>
        </p:txBody>
      </p:sp>
      <p:sp>
        <p:nvSpPr>
          <p:cNvPr id="323" name="Google Shape;323;p5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400" u="sng">
                <a:solidFill>
                  <a:schemeClr val="hlink"/>
                </a:solidFill>
                <a:hlinkClick r:id="rId3"/>
              </a:rPr>
              <a:t>https://app.diagrams.net/</a:t>
            </a:r>
            <a:endParaRPr sz="2400"/>
          </a:p>
          <a:p>
            <a:pPr marL="0" lvl="0" indent="0" algn="l" rtl="0">
              <a:spcBef>
                <a:spcPts val="1200"/>
              </a:spcBef>
              <a:spcAft>
                <a:spcPts val="0"/>
              </a:spcAft>
              <a:buNone/>
            </a:pPr>
            <a:endParaRPr sz="2400"/>
          </a:p>
          <a:p>
            <a:pPr marL="0" lvl="0" indent="0" algn="l" rtl="0">
              <a:spcBef>
                <a:spcPts val="1200"/>
              </a:spcBef>
              <a:spcAft>
                <a:spcPts val="0"/>
              </a:spcAft>
              <a:buNone/>
            </a:pPr>
            <a:endParaRPr sz="2400"/>
          </a:p>
          <a:p>
            <a:pPr marL="0" lvl="0" indent="0" algn="l" rtl="0">
              <a:spcBef>
                <a:spcPts val="1200"/>
              </a:spcBef>
              <a:spcAft>
                <a:spcPts val="0"/>
              </a:spcAft>
              <a:buNone/>
            </a:pPr>
            <a:r>
              <a:rPr lang="en" sz="2400"/>
              <a:t>We’re not picky on the format you use!</a:t>
            </a:r>
            <a:endParaRPr sz="2400"/>
          </a:p>
          <a:p>
            <a:pPr marL="0" lvl="0" indent="0" algn="l" rtl="0">
              <a:spcBef>
                <a:spcPts val="1200"/>
              </a:spcBef>
              <a:spcAft>
                <a:spcPts val="1200"/>
              </a:spcAft>
              <a:buNone/>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Component Design: Summary</a:t>
            </a:r>
            <a:endParaRPr/>
          </a:p>
        </p:txBody>
      </p:sp>
      <p:sp>
        <p:nvSpPr>
          <p:cNvPr id="329" name="Google Shape;329;p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SzPts val="2400"/>
              <a:buAutoNum type="arabicPeriod"/>
            </a:pPr>
            <a:r>
              <a:rPr lang="en" sz="2400"/>
              <a:t>Identify components</a:t>
            </a:r>
            <a:endParaRPr sz="2400"/>
          </a:p>
          <a:p>
            <a:pPr marL="457200" lvl="0" indent="-381000" algn="l" rtl="0">
              <a:spcBef>
                <a:spcPts val="0"/>
              </a:spcBef>
              <a:spcAft>
                <a:spcPts val="0"/>
              </a:spcAft>
              <a:buSzPts val="2400"/>
              <a:buAutoNum type="arabicPeriod"/>
            </a:pPr>
            <a:r>
              <a:rPr lang="en" sz="2400"/>
              <a:t>Specify each component</a:t>
            </a:r>
            <a:endParaRPr sz="2400"/>
          </a:p>
          <a:p>
            <a:pPr marL="457200" lvl="0" indent="-381000" algn="l" rtl="0">
              <a:spcBef>
                <a:spcPts val="0"/>
              </a:spcBef>
              <a:spcAft>
                <a:spcPts val="0"/>
              </a:spcAft>
              <a:buSzPts val="2400"/>
              <a:buAutoNum type="arabicPeriod"/>
            </a:pPr>
            <a:r>
              <a:rPr lang="en" sz="2400"/>
              <a:t>Specify component interactions</a:t>
            </a:r>
            <a:endParaRPr sz="24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5"/>
          <p:cNvSpPr txBox="1">
            <a:spLocks noGrp="1"/>
          </p:cNvSpPr>
          <p:nvPr>
            <p:ph type="title"/>
          </p:nvPr>
        </p:nvSpPr>
        <p:spPr>
          <a:xfrm>
            <a:off x="311700" y="2285400"/>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b="0" i="1"/>
              <a:t>In a future week: architecture &amp; common patterns</a:t>
            </a:r>
            <a:endParaRPr b="0" i="1"/>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56"/>
          <p:cNvSpPr txBox="1">
            <a:spLocks noGrp="1"/>
          </p:cNvSpPr>
          <p:nvPr>
            <p:ph type="title"/>
          </p:nvPr>
        </p:nvSpPr>
        <p:spPr>
          <a:xfrm>
            <a:off x="311700" y="2285400"/>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From Design Onwards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5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Milestones</a:t>
            </a:r>
            <a:endParaRPr/>
          </a:p>
        </p:txBody>
      </p:sp>
      <p:sp>
        <p:nvSpPr>
          <p:cNvPr id="345" name="Google Shape;345;p5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81000" algn="l" rtl="0">
              <a:spcBef>
                <a:spcPts val="0"/>
              </a:spcBef>
              <a:spcAft>
                <a:spcPts val="0"/>
              </a:spcAft>
              <a:buSzPts val="2400"/>
              <a:buChar char="●"/>
            </a:pPr>
            <a:r>
              <a:rPr lang="en" sz="2400"/>
              <a:t>What are you actually going to </a:t>
            </a:r>
            <a:r>
              <a:rPr lang="en" sz="2400" i="1" u="sng"/>
              <a:t>do</a:t>
            </a:r>
            <a:r>
              <a:rPr lang="en" sz="2400"/>
              <a:t> and in what </a:t>
            </a:r>
            <a:r>
              <a:rPr lang="en" sz="2400" i="1" u="sng"/>
              <a:t>order</a:t>
            </a:r>
            <a:r>
              <a:rPr lang="en" sz="2400"/>
              <a:t>?</a:t>
            </a:r>
            <a:endParaRPr sz="2400"/>
          </a:p>
          <a:p>
            <a:pPr marL="457200" lvl="0" indent="-381000" algn="l" rtl="0">
              <a:spcBef>
                <a:spcPts val="0"/>
              </a:spcBef>
              <a:spcAft>
                <a:spcPts val="0"/>
              </a:spcAft>
              <a:buSzPts val="2400"/>
              <a:buChar char="●"/>
            </a:pPr>
            <a:r>
              <a:rPr lang="en" sz="2400"/>
              <a:t>Are there any </a:t>
            </a:r>
            <a:r>
              <a:rPr lang="en" sz="2400" i="1" u="sng"/>
              <a:t>dependencies</a:t>
            </a:r>
            <a:r>
              <a:rPr lang="en" sz="2400"/>
              <a:t> between components such that you must build Component A before Component B?</a:t>
            </a:r>
            <a:endParaRPr sz="2400"/>
          </a:p>
          <a:p>
            <a:pPr marL="457200" lvl="0" indent="-381000" algn="l" rtl="0">
              <a:spcBef>
                <a:spcPts val="0"/>
              </a:spcBef>
              <a:spcAft>
                <a:spcPts val="0"/>
              </a:spcAft>
              <a:buSzPts val="2400"/>
              <a:buChar char="●"/>
            </a:pPr>
            <a:r>
              <a:rPr lang="en" sz="2400"/>
              <a:t>What will success look like?</a:t>
            </a:r>
            <a:endParaRPr sz="2400"/>
          </a:p>
          <a:p>
            <a:pPr marL="457200" lvl="0" indent="-381000" algn="l" rtl="0">
              <a:spcBef>
                <a:spcPts val="0"/>
              </a:spcBef>
              <a:spcAft>
                <a:spcPts val="0"/>
              </a:spcAft>
              <a:buSzPts val="2400"/>
              <a:buChar char="●"/>
            </a:pPr>
            <a:r>
              <a:rPr lang="en" sz="2400"/>
              <a:t>This is not specific tasks - these are broad strokes</a:t>
            </a: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5">
                                            <p:txEl>
                                              <p:pRg st="0" end="0"/>
                                            </p:txEl>
                                          </p:spTgt>
                                        </p:tgtEl>
                                        <p:attrNameLst>
                                          <p:attrName>style.visibility</p:attrName>
                                        </p:attrNameLst>
                                      </p:cBhvr>
                                      <p:to>
                                        <p:strVal val="visible"/>
                                      </p:to>
                                    </p:set>
                                    <p:animEffect transition="in" filter="fade">
                                      <p:cBhvr>
                                        <p:cTn id="7" dur="1"/>
                                        <p:tgtEl>
                                          <p:spTgt spid="34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5">
                                            <p:txEl>
                                              <p:pRg st="1" end="1"/>
                                            </p:txEl>
                                          </p:spTgt>
                                        </p:tgtEl>
                                        <p:attrNameLst>
                                          <p:attrName>style.visibility</p:attrName>
                                        </p:attrNameLst>
                                      </p:cBhvr>
                                      <p:to>
                                        <p:strVal val="visible"/>
                                      </p:to>
                                    </p:set>
                                    <p:animEffect transition="in" filter="fade">
                                      <p:cBhvr>
                                        <p:cTn id="12" dur="1"/>
                                        <p:tgtEl>
                                          <p:spTgt spid="34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5">
                                            <p:txEl>
                                              <p:pRg st="2" end="2"/>
                                            </p:txEl>
                                          </p:spTgt>
                                        </p:tgtEl>
                                        <p:attrNameLst>
                                          <p:attrName>style.visibility</p:attrName>
                                        </p:attrNameLst>
                                      </p:cBhvr>
                                      <p:to>
                                        <p:strVal val="visible"/>
                                      </p:to>
                                    </p:set>
                                    <p:animEffect transition="in" filter="fade">
                                      <p:cBhvr>
                                        <p:cTn id="17" dur="1"/>
                                        <p:tgtEl>
                                          <p:spTgt spid="34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5">
                                            <p:txEl>
                                              <p:pRg st="3" end="3"/>
                                            </p:txEl>
                                          </p:spTgt>
                                        </p:tgtEl>
                                        <p:attrNameLst>
                                          <p:attrName>style.visibility</p:attrName>
                                        </p:attrNameLst>
                                      </p:cBhvr>
                                      <p:to>
                                        <p:strVal val="visible"/>
                                      </p:to>
                                    </p:set>
                                    <p:animEffect transition="in" filter="fade">
                                      <p:cBhvr>
                                        <p:cTn id="22" dur="1"/>
                                        <p:tgtEl>
                                          <p:spTgt spid="34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5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Example: Inventory Management System milestones</a:t>
            </a:r>
            <a:endParaRPr/>
          </a:p>
        </p:txBody>
      </p:sp>
      <p:sp>
        <p:nvSpPr>
          <p:cNvPr id="351" name="Google Shape;351;p58"/>
          <p:cNvSpPr txBox="1">
            <a:spLocks noGrp="1"/>
          </p:cNvSpPr>
          <p:nvPr>
            <p:ph type="body" idx="1"/>
          </p:nvPr>
        </p:nvSpPr>
        <p:spPr>
          <a:xfrm>
            <a:off x="311700" y="1152475"/>
            <a:ext cx="8520600" cy="38166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en" b="1"/>
              <a:t>Build account infrastructure</a:t>
            </a:r>
            <a:br>
              <a:rPr lang="en"/>
            </a:br>
            <a:r>
              <a:rPr lang="en" b="1"/>
              <a:t>Success:</a:t>
            </a:r>
            <a:r>
              <a:rPr lang="en"/>
              <a:t> account database/middle control layer exist that can access an account</a:t>
            </a:r>
            <a:endParaRPr/>
          </a:p>
          <a:p>
            <a:pPr marL="457200" lvl="0" indent="-342900" algn="l" rtl="0">
              <a:spcBef>
                <a:spcPts val="0"/>
              </a:spcBef>
              <a:spcAft>
                <a:spcPts val="0"/>
              </a:spcAft>
              <a:buSzPts val="1800"/>
              <a:buAutoNum type="arabicPeriod"/>
            </a:pPr>
            <a:r>
              <a:rPr lang="en" b="1"/>
              <a:t>Build user authentication flow</a:t>
            </a:r>
            <a:br>
              <a:rPr lang="en" b="1"/>
            </a:br>
            <a:r>
              <a:rPr lang="en" b="1"/>
              <a:t>Success:</a:t>
            </a:r>
            <a:r>
              <a:rPr lang="en"/>
              <a:t> authenticate user/password by calling the Python functions directly</a:t>
            </a:r>
            <a:endParaRPr/>
          </a:p>
          <a:p>
            <a:pPr marL="457200" lvl="0" indent="-342900" algn="l" rtl="0">
              <a:spcBef>
                <a:spcPts val="0"/>
              </a:spcBef>
              <a:spcAft>
                <a:spcPts val="0"/>
              </a:spcAft>
              <a:buSzPts val="1800"/>
              <a:buAutoNum type="arabicPeriod"/>
            </a:pPr>
            <a:r>
              <a:rPr lang="en" b="1"/>
              <a:t>Build user interface</a:t>
            </a:r>
            <a:br>
              <a:rPr lang="en" b="1"/>
            </a:br>
            <a:r>
              <a:rPr lang="en" b="1"/>
              <a:t>Success:</a:t>
            </a:r>
            <a:r>
              <a:rPr lang="en"/>
              <a:t> user can log onto their account with their username and password</a:t>
            </a:r>
            <a:endParaRPr/>
          </a:p>
          <a:p>
            <a:pPr marL="457200" lvl="0" indent="-342900" algn="l" rtl="0">
              <a:spcBef>
                <a:spcPts val="0"/>
              </a:spcBef>
              <a:spcAft>
                <a:spcPts val="0"/>
              </a:spcAft>
              <a:buSzPts val="1800"/>
              <a:buAutoNum type="arabicPeriod"/>
            </a:pPr>
            <a:r>
              <a:rPr lang="en" b="1"/>
              <a:t>Build inventory view feature</a:t>
            </a:r>
            <a:br>
              <a:rPr lang="en" b="1"/>
            </a:br>
            <a:r>
              <a:rPr lang="en" b="1"/>
              <a:t>Success:</a:t>
            </a:r>
            <a:r>
              <a:rPr lang="en"/>
              <a:t> user can view current inventory (no filters or pages)</a:t>
            </a:r>
            <a:endParaRPr/>
          </a:p>
          <a:p>
            <a:pPr marL="457200" lvl="0" indent="-342900" algn="l" rtl="0">
              <a:spcBef>
                <a:spcPts val="0"/>
              </a:spcBef>
              <a:spcAft>
                <a:spcPts val="0"/>
              </a:spcAft>
              <a:buSzPts val="1800"/>
              <a:buAutoNum type="arabicPeriod"/>
            </a:pPr>
            <a:r>
              <a:rPr lang="en" b="1"/>
              <a:t>Build inventory view extra features</a:t>
            </a:r>
            <a:br>
              <a:rPr lang="en" b="1"/>
            </a:br>
            <a:r>
              <a:rPr lang="en" b="1"/>
              <a:t>Success:</a:t>
            </a:r>
            <a:r>
              <a:rPr lang="en"/>
              <a:t> user can filter and paginate through the current inventory</a:t>
            </a:r>
            <a:endParaRPr/>
          </a:p>
          <a:p>
            <a:pPr marL="0" lvl="0" indent="0" algn="l" rtl="0">
              <a:lnSpc>
                <a:spcPct val="100000"/>
              </a:lnSpc>
              <a:spcBef>
                <a:spcPts val="0"/>
              </a:spcBef>
              <a:spcAft>
                <a:spcPts val="1200"/>
              </a:spcAft>
              <a:buNone/>
            </a:pPr>
            <a:r>
              <a:rPr lang="en"/>
              <a: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1">
                                            <p:txEl>
                                              <p:pRg st="0" end="0"/>
                                            </p:txEl>
                                          </p:spTgt>
                                        </p:tgtEl>
                                        <p:attrNameLst>
                                          <p:attrName>style.visibility</p:attrName>
                                        </p:attrNameLst>
                                      </p:cBhvr>
                                      <p:to>
                                        <p:strVal val="visible"/>
                                      </p:to>
                                    </p:set>
                                    <p:animEffect transition="in" filter="fade">
                                      <p:cBhvr>
                                        <p:cTn id="7" dur="1"/>
                                        <p:tgtEl>
                                          <p:spTgt spid="3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1">
                                            <p:txEl>
                                              <p:pRg st="1" end="1"/>
                                            </p:txEl>
                                          </p:spTgt>
                                        </p:tgtEl>
                                        <p:attrNameLst>
                                          <p:attrName>style.visibility</p:attrName>
                                        </p:attrNameLst>
                                      </p:cBhvr>
                                      <p:to>
                                        <p:strVal val="visible"/>
                                      </p:to>
                                    </p:set>
                                    <p:animEffect transition="in" filter="fade">
                                      <p:cBhvr>
                                        <p:cTn id="12" dur="1"/>
                                        <p:tgtEl>
                                          <p:spTgt spid="3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51">
                                            <p:txEl>
                                              <p:pRg st="2" end="2"/>
                                            </p:txEl>
                                          </p:spTgt>
                                        </p:tgtEl>
                                        <p:attrNameLst>
                                          <p:attrName>style.visibility</p:attrName>
                                        </p:attrNameLst>
                                      </p:cBhvr>
                                      <p:to>
                                        <p:strVal val="visible"/>
                                      </p:to>
                                    </p:set>
                                    <p:animEffect transition="in" filter="fade">
                                      <p:cBhvr>
                                        <p:cTn id="17" dur="1"/>
                                        <p:tgtEl>
                                          <p:spTgt spid="35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51">
                                            <p:txEl>
                                              <p:pRg st="3" end="3"/>
                                            </p:txEl>
                                          </p:spTgt>
                                        </p:tgtEl>
                                        <p:attrNameLst>
                                          <p:attrName>style.visibility</p:attrName>
                                        </p:attrNameLst>
                                      </p:cBhvr>
                                      <p:to>
                                        <p:strVal val="visible"/>
                                      </p:to>
                                    </p:set>
                                    <p:animEffect transition="in" filter="fade">
                                      <p:cBhvr>
                                        <p:cTn id="22" dur="1"/>
                                        <p:tgtEl>
                                          <p:spTgt spid="35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1">
                                            <p:txEl>
                                              <p:pRg st="4" end="4"/>
                                            </p:txEl>
                                          </p:spTgt>
                                        </p:tgtEl>
                                        <p:attrNameLst>
                                          <p:attrName>style.visibility</p:attrName>
                                        </p:attrNameLst>
                                      </p:cBhvr>
                                      <p:to>
                                        <p:strVal val="visible"/>
                                      </p:to>
                                    </p:set>
                                    <p:animEffect transition="in" filter="fade">
                                      <p:cBhvr>
                                        <p:cTn id="27" dur="1"/>
                                        <p:tgtEl>
                                          <p:spTgt spid="35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1">
                                            <p:txEl>
                                              <p:pRg st="5" end="5"/>
                                            </p:txEl>
                                          </p:spTgt>
                                        </p:tgtEl>
                                        <p:attrNameLst>
                                          <p:attrName>style.visibility</p:attrName>
                                        </p:attrNameLst>
                                      </p:cBhvr>
                                      <p:to>
                                        <p:strVal val="visible"/>
                                      </p:to>
                                    </p:set>
                                    <p:animEffect transition="in" filter="fade">
                                      <p:cBhvr>
                                        <p:cTn id="32" dur="1"/>
                                        <p:tgtEl>
                                          <p:spTgt spid="3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Breaking down a milestone</a:t>
            </a:r>
            <a:endParaRPr/>
          </a:p>
        </p:txBody>
      </p:sp>
      <p:sp>
        <p:nvSpPr>
          <p:cNvPr id="357" name="Google Shape;357;p5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a:t>Once you have </a:t>
            </a:r>
            <a:r>
              <a:rPr lang="en" sz="2200" u="sng"/>
              <a:t>milestones</a:t>
            </a:r>
            <a:r>
              <a:rPr lang="en" sz="2200"/>
              <a:t>, you need to break them down into </a:t>
            </a:r>
            <a:r>
              <a:rPr lang="en" sz="2200" u="sng"/>
              <a:t>tasks</a:t>
            </a:r>
            <a:r>
              <a:rPr lang="en" sz="2200"/>
              <a:t>:</a:t>
            </a:r>
            <a:endParaRPr sz="2200"/>
          </a:p>
          <a:p>
            <a:pPr marL="457200" lvl="0" indent="-368300" algn="l" rtl="0">
              <a:spcBef>
                <a:spcPts val="1200"/>
              </a:spcBef>
              <a:spcAft>
                <a:spcPts val="0"/>
              </a:spcAft>
              <a:buSzPts val="2200"/>
              <a:buChar char="●"/>
            </a:pPr>
            <a:r>
              <a:rPr lang="en" sz="2200"/>
              <a:t>Which components do you need to implement?</a:t>
            </a:r>
            <a:endParaRPr sz="2200"/>
          </a:p>
          <a:p>
            <a:pPr marL="457200" lvl="0" indent="-368300" algn="l" rtl="0">
              <a:spcBef>
                <a:spcPts val="0"/>
              </a:spcBef>
              <a:spcAft>
                <a:spcPts val="0"/>
              </a:spcAft>
              <a:buSzPts val="2200"/>
              <a:buChar char="●"/>
            </a:pPr>
            <a:r>
              <a:rPr lang="en" sz="2200"/>
              <a:t>What packages do you need to incorporate?</a:t>
            </a:r>
            <a:endParaRPr sz="2200"/>
          </a:p>
          <a:p>
            <a:pPr marL="457200" lvl="0" indent="-368300" algn="l" rtl="0">
              <a:spcBef>
                <a:spcPts val="0"/>
              </a:spcBef>
              <a:spcAft>
                <a:spcPts val="0"/>
              </a:spcAft>
              <a:buSzPts val="2200"/>
              <a:buChar char="●"/>
            </a:pPr>
            <a:r>
              <a:rPr lang="en" sz="2200"/>
              <a:t>What tests or validation do you need to do?</a:t>
            </a:r>
            <a:endParaRPr sz="2200"/>
          </a:p>
          <a:p>
            <a:pPr marL="0" lvl="0" indent="0" algn="l" rtl="0">
              <a:spcBef>
                <a:spcPts val="1200"/>
              </a:spcBef>
              <a:spcAft>
                <a:spcPts val="1200"/>
              </a:spcAft>
              <a:buNone/>
            </a:pPr>
            <a:r>
              <a:rPr lang="en" sz="2200"/>
              <a:t>Suggestion: use GitHub Issues!</a:t>
            </a:r>
            <a:endParaRPr sz="22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6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Implementing a component</a:t>
            </a:r>
            <a:endParaRPr/>
          </a:p>
        </p:txBody>
      </p:sp>
      <p:sp>
        <p:nvSpPr>
          <p:cNvPr id="363" name="Google Shape;363;p6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200"/>
              <a:t>Recommended approach:</a:t>
            </a:r>
            <a:endParaRPr sz="2200"/>
          </a:p>
          <a:p>
            <a:pPr marL="457200" lvl="0" indent="-368300" algn="l" rtl="0">
              <a:spcBef>
                <a:spcPts val="1200"/>
              </a:spcBef>
              <a:spcAft>
                <a:spcPts val="0"/>
              </a:spcAft>
              <a:buSzPts val="2200"/>
              <a:buAutoNum type="arabicPeriod"/>
            </a:pPr>
            <a:r>
              <a:rPr lang="en" sz="2200"/>
              <a:t>Write the </a:t>
            </a:r>
            <a:r>
              <a:rPr lang="en" sz="2200" i="1"/>
              <a:t>interface</a:t>
            </a:r>
            <a:r>
              <a:rPr lang="en" sz="2200"/>
              <a:t> for the component.</a:t>
            </a:r>
            <a:endParaRPr sz="2200"/>
          </a:p>
          <a:p>
            <a:pPr marL="457200" lvl="0" indent="-368300" algn="l" rtl="0">
              <a:spcBef>
                <a:spcPts val="0"/>
              </a:spcBef>
              <a:spcAft>
                <a:spcPts val="0"/>
              </a:spcAft>
              <a:buSzPts val="2200"/>
              <a:buAutoNum type="arabicPeriod"/>
            </a:pPr>
            <a:r>
              <a:rPr lang="en" sz="2200"/>
              <a:t>Write some </a:t>
            </a:r>
            <a:r>
              <a:rPr lang="en" sz="2200" i="1"/>
              <a:t>tests</a:t>
            </a:r>
            <a:r>
              <a:rPr lang="en" sz="2200"/>
              <a:t> for the component (coming up in lecture!).</a:t>
            </a:r>
            <a:endParaRPr sz="2200"/>
          </a:p>
          <a:p>
            <a:pPr marL="457200" lvl="0" indent="-368300" algn="l" rtl="0">
              <a:spcBef>
                <a:spcPts val="0"/>
              </a:spcBef>
              <a:spcAft>
                <a:spcPts val="0"/>
              </a:spcAft>
              <a:buSzPts val="2200"/>
              <a:buAutoNum type="arabicPeriod"/>
            </a:pPr>
            <a:r>
              <a:rPr lang="en" sz="2200"/>
              <a:t>Write the </a:t>
            </a:r>
            <a:r>
              <a:rPr lang="en" sz="2200" i="1"/>
              <a:t>implementation</a:t>
            </a:r>
            <a:r>
              <a:rPr lang="en" sz="2200"/>
              <a:t> of the component.</a:t>
            </a:r>
            <a:endParaRPr sz="2200"/>
          </a:p>
          <a:p>
            <a:pPr marL="457200" lvl="0" indent="-368300" algn="l" rtl="0">
              <a:spcBef>
                <a:spcPts val="0"/>
              </a:spcBef>
              <a:spcAft>
                <a:spcPts val="0"/>
              </a:spcAft>
              <a:buSzPts val="2200"/>
              <a:buAutoNum type="arabicPeriod"/>
            </a:pPr>
            <a:r>
              <a:rPr lang="en" sz="2200"/>
              <a:t>Iterate on the tests as you identify more.</a:t>
            </a:r>
            <a:endParaRPr sz="22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63">
                                            <p:txEl>
                                              <p:pRg st="0" end="0"/>
                                            </p:txEl>
                                          </p:spTgt>
                                        </p:tgtEl>
                                        <p:attrNameLst>
                                          <p:attrName>style.visibility</p:attrName>
                                        </p:attrNameLst>
                                      </p:cBhvr>
                                      <p:to>
                                        <p:strVal val="visible"/>
                                      </p:to>
                                    </p:set>
                                    <p:animEffect transition="in" filter="fade">
                                      <p:cBhvr>
                                        <p:cTn id="7" dur="1"/>
                                        <p:tgtEl>
                                          <p:spTgt spid="36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63">
                                            <p:txEl>
                                              <p:pRg st="1" end="1"/>
                                            </p:txEl>
                                          </p:spTgt>
                                        </p:tgtEl>
                                        <p:attrNameLst>
                                          <p:attrName>style.visibility</p:attrName>
                                        </p:attrNameLst>
                                      </p:cBhvr>
                                      <p:to>
                                        <p:strVal val="visible"/>
                                      </p:to>
                                    </p:set>
                                    <p:animEffect transition="in" filter="fade">
                                      <p:cBhvr>
                                        <p:cTn id="12" dur="1"/>
                                        <p:tgtEl>
                                          <p:spTgt spid="36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63">
                                            <p:txEl>
                                              <p:pRg st="2" end="2"/>
                                            </p:txEl>
                                          </p:spTgt>
                                        </p:tgtEl>
                                        <p:attrNameLst>
                                          <p:attrName>style.visibility</p:attrName>
                                        </p:attrNameLst>
                                      </p:cBhvr>
                                      <p:to>
                                        <p:strVal val="visible"/>
                                      </p:to>
                                    </p:set>
                                    <p:animEffect transition="in" filter="fade">
                                      <p:cBhvr>
                                        <p:cTn id="17" dur="1"/>
                                        <p:tgtEl>
                                          <p:spTgt spid="36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3">
                                            <p:txEl>
                                              <p:pRg st="3" end="3"/>
                                            </p:txEl>
                                          </p:spTgt>
                                        </p:tgtEl>
                                        <p:attrNameLst>
                                          <p:attrName>style.visibility</p:attrName>
                                        </p:attrNameLst>
                                      </p:cBhvr>
                                      <p:to>
                                        <p:strVal val="visible"/>
                                      </p:to>
                                    </p:set>
                                    <p:animEffect transition="in" filter="fade">
                                      <p:cBhvr>
                                        <p:cTn id="22" dur="1"/>
                                        <p:tgtEl>
                                          <p:spTgt spid="36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63">
                                            <p:txEl>
                                              <p:pRg st="4" end="4"/>
                                            </p:txEl>
                                          </p:spTgt>
                                        </p:tgtEl>
                                        <p:attrNameLst>
                                          <p:attrName>style.visibility</p:attrName>
                                        </p:attrNameLst>
                                      </p:cBhvr>
                                      <p:to>
                                        <p:strVal val="visible"/>
                                      </p:to>
                                    </p:set>
                                    <p:animEffect transition="in" filter="fade">
                                      <p:cBhvr>
                                        <p:cTn id="27" dur="1"/>
                                        <p:tgtEl>
                                          <p:spTgt spid="36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6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Dividing up work</a:t>
            </a:r>
            <a:endParaRPr/>
          </a:p>
        </p:txBody>
      </p:sp>
      <p:sp>
        <p:nvSpPr>
          <p:cNvPr id="369" name="Google Shape;369;p6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Char char="●"/>
            </a:pPr>
            <a:r>
              <a:rPr lang="en" sz="2200"/>
              <a:t>Components can be a good natural division of work</a:t>
            </a:r>
            <a:endParaRPr sz="2200"/>
          </a:p>
          <a:p>
            <a:pPr marL="457200" lvl="0" indent="-368300" algn="l" rtl="0">
              <a:spcBef>
                <a:spcPts val="0"/>
              </a:spcBef>
              <a:spcAft>
                <a:spcPts val="0"/>
              </a:spcAft>
              <a:buSzPts val="2200"/>
              <a:buChar char="●"/>
            </a:pPr>
            <a:r>
              <a:rPr lang="en" sz="2200"/>
              <a:t>Example:</a:t>
            </a:r>
            <a:endParaRPr sz="2200"/>
          </a:p>
          <a:p>
            <a:pPr marL="914400" lvl="1" indent="-342900" algn="l" rtl="0">
              <a:spcBef>
                <a:spcPts val="0"/>
              </a:spcBef>
              <a:spcAft>
                <a:spcPts val="0"/>
              </a:spcAft>
              <a:buSzPts val="1800"/>
              <a:buChar char="○"/>
            </a:pPr>
            <a:r>
              <a:rPr lang="en" sz="1800"/>
              <a:t>Melissa builds the user interface components</a:t>
            </a:r>
            <a:endParaRPr sz="1800"/>
          </a:p>
          <a:p>
            <a:pPr marL="914400" lvl="1" indent="-342900" algn="l" rtl="0">
              <a:spcBef>
                <a:spcPts val="0"/>
              </a:spcBef>
              <a:spcAft>
                <a:spcPts val="0"/>
              </a:spcAft>
              <a:buSzPts val="1800"/>
              <a:buChar char="○"/>
            </a:pPr>
            <a:r>
              <a:rPr lang="en" sz="1800"/>
              <a:t>Baisakhi builds the machine learning model</a:t>
            </a:r>
            <a:endParaRPr sz="1800"/>
          </a:p>
          <a:p>
            <a:pPr marL="914400" lvl="1" indent="-342900" algn="l" rtl="0">
              <a:spcBef>
                <a:spcPts val="0"/>
              </a:spcBef>
              <a:spcAft>
                <a:spcPts val="0"/>
              </a:spcAft>
              <a:buSzPts val="1800"/>
              <a:buChar char="○"/>
            </a:pPr>
            <a:r>
              <a:rPr lang="en" sz="1800"/>
              <a:t>Jayson builds the control logic layer</a:t>
            </a:r>
            <a:endParaRPr sz="1800"/>
          </a:p>
          <a:p>
            <a:pPr marL="0" lvl="0" indent="0" algn="l" rtl="0">
              <a:spcBef>
                <a:spcPts val="1200"/>
              </a:spcBef>
              <a:spcAft>
                <a:spcPts val="0"/>
              </a:spcAft>
              <a:buNone/>
            </a:pPr>
            <a:endParaRPr sz="1800"/>
          </a:p>
          <a:p>
            <a:pPr marL="0" lvl="0" indent="0" algn="l" rtl="0">
              <a:spcBef>
                <a:spcPts val="1200"/>
              </a:spcBef>
              <a:spcAft>
                <a:spcPts val="1200"/>
              </a:spcAft>
              <a:buNone/>
            </a:pPr>
            <a:r>
              <a:rPr lang="en" i="1"/>
              <a:t>This is not the only way to divide up work!</a:t>
            </a:r>
            <a:endParaRPr sz="1800" i="1"/>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6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Dividing up responsibilities</a:t>
            </a:r>
            <a:endParaRPr/>
          </a:p>
        </p:txBody>
      </p:sp>
      <p:sp>
        <p:nvSpPr>
          <p:cNvPr id="375" name="Google Shape;375;p62"/>
          <p:cNvSpPr txBox="1">
            <a:spLocks noGrp="1"/>
          </p:cNvSpPr>
          <p:nvPr>
            <p:ph type="body" idx="1"/>
          </p:nvPr>
        </p:nvSpPr>
        <p:spPr>
          <a:xfrm>
            <a:off x="311700" y="1152475"/>
            <a:ext cx="8520600" cy="3802800"/>
          </a:xfrm>
          <a:prstGeom prst="rect">
            <a:avLst/>
          </a:prstGeom>
        </p:spPr>
        <p:txBody>
          <a:bodyPr spcFirstLastPara="1" wrap="square" lIns="91425" tIns="91425" rIns="91425" bIns="91425" anchor="t" anchorCtr="0">
            <a:noAutofit/>
          </a:bodyPr>
          <a:lstStyle/>
          <a:p>
            <a:pPr marL="0" lvl="0" indent="0" algn="l" rtl="0">
              <a:lnSpc>
                <a:spcPct val="105000"/>
              </a:lnSpc>
              <a:spcBef>
                <a:spcPts val="0"/>
              </a:spcBef>
              <a:spcAft>
                <a:spcPts val="0"/>
              </a:spcAft>
              <a:buNone/>
            </a:pPr>
            <a:r>
              <a:rPr lang="en"/>
              <a:t>Besides actual coding work, there are other responsibilities to divvy up. Everyone is encouraged to contribute to everything as they like, but dividing up who is ultimately accountable for making sure everyone does their part of the project is helpful. Common roles:</a:t>
            </a:r>
            <a:endParaRPr/>
          </a:p>
          <a:p>
            <a:pPr marL="457200" lvl="0" indent="-342900" algn="l" rtl="0">
              <a:lnSpc>
                <a:spcPct val="105000"/>
              </a:lnSpc>
              <a:spcBef>
                <a:spcPts val="1200"/>
              </a:spcBef>
              <a:spcAft>
                <a:spcPts val="0"/>
              </a:spcAft>
              <a:buSzPts val="1800"/>
              <a:buChar char="●"/>
            </a:pPr>
            <a:r>
              <a:rPr lang="en"/>
              <a:t>Designers (system design, documents, communication)</a:t>
            </a:r>
            <a:endParaRPr/>
          </a:p>
          <a:p>
            <a:pPr marL="914400" lvl="1" indent="-317500" algn="l" rtl="0">
              <a:lnSpc>
                <a:spcPct val="105000"/>
              </a:lnSpc>
              <a:spcBef>
                <a:spcPts val="0"/>
              </a:spcBef>
              <a:spcAft>
                <a:spcPts val="0"/>
              </a:spcAft>
              <a:buSzPts val="1400"/>
              <a:buChar char="○"/>
            </a:pPr>
            <a:r>
              <a:rPr lang="en"/>
              <a:t>Keep everyone accountable for documentation, design, &amp; communication with instructors</a:t>
            </a:r>
            <a:endParaRPr/>
          </a:p>
          <a:p>
            <a:pPr marL="457200" lvl="0" indent="-342900" algn="l" rtl="0">
              <a:lnSpc>
                <a:spcPct val="105000"/>
              </a:lnSpc>
              <a:spcBef>
                <a:spcPts val="0"/>
              </a:spcBef>
              <a:spcAft>
                <a:spcPts val="0"/>
              </a:spcAft>
              <a:buSzPts val="1800"/>
              <a:buChar char="●"/>
            </a:pPr>
            <a:r>
              <a:rPr lang="en"/>
              <a:t>Developers ("devs")</a:t>
            </a:r>
            <a:endParaRPr/>
          </a:p>
          <a:p>
            <a:pPr marL="914400" lvl="1" indent="-317500" algn="l" rtl="0">
              <a:lnSpc>
                <a:spcPct val="105000"/>
              </a:lnSpc>
              <a:spcBef>
                <a:spcPts val="0"/>
              </a:spcBef>
              <a:spcAft>
                <a:spcPts val="0"/>
              </a:spcAft>
              <a:buSzPts val="1400"/>
              <a:buChar char="○"/>
            </a:pPr>
            <a:r>
              <a:rPr lang="en"/>
              <a:t>Focus on making sure everyone makes good implementation decisions</a:t>
            </a:r>
            <a:endParaRPr/>
          </a:p>
          <a:p>
            <a:pPr marL="457200" lvl="0" indent="-342900" algn="l" rtl="0">
              <a:lnSpc>
                <a:spcPct val="105000"/>
              </a:lnSpc>
              <a:spcBef>
                <a:spcPts val="0"/>
              </a:spcBef>
              <a:spcAft>
                <a:spcPts val="0"/>
              </a:spcAft>
              <a:buSzPts val="1800"/>
              <a:buChar char="●"/>
            </a:pPr>
            <a:r>
              <a:rPr lang="en"/>
              <a:t>Testers</a:t>
            </a:r>
            <a:endParaRPr/>
          </a:p>
          <a:p>
            <a:pPr marL="914400" lvl="1" indent="-317500" algn="l" rtl="0">
              <a:lnSpc>
                <a:spcPct val="105000"/>
              </a:lnSpc>
              <a:spcBef>
                <a:spcPts val="0"/>
              </a:spcBef>
              <a:spcAft>
                <a:spcPts val="0"/>
              </a:spcAft>
              <a:buSzPts val="1400"/>
              <a:buChar char="○"/>
            </a:pPr>
            <a:r>
              <a:rPr lang="en"/>
              <a:t>Ensure everyone keeps up with good code testing and style practices</a:t>
            </a:r>
            <a:endParaRPr/>
          </a:p>
          <a:p>
            <a:pPr marL="457200" lvl="0" indent="-342900" algn="l" rtl="0">
              <a:lnSpc>
                <a:spcPct val="105000"/>
              </a:lnSpc>
              <a:spcBef>
                <a:spcPts val="0"/>
              </a:spcBef>
              <a:spcAft>
                <a:spcPts val="0"/>
              </a:spcAft>
              <a:buSzPts val="1800"/>
              <a:buChar char="●"/>
            </a:pPr>
            <a:r>
              <a:rPr lang="en"/>
              <a:t>A project manager a.k.a. "PM"</a:t>
            </a:r>
            <a:endParaRPr/>
          </a:p>
          <a:p>
            <a:pPr marL="914400" lvl="1" indent="-317500" algn="l" rtl="0">
              <a:lnSpc>
                <a:spcPct val="105000"/>
              </a:lnSpc>
              <a:spcBef>
                <a:spcPts val="0"/>
              </a:spcBef>
              <a:spcAft>
                <a:spcPts val="0"/>
              </a:spcAft>
              <a:buSzPts val="1400"/>
              <a:buChar char="○"/>
            </a:pPr>
            <a:r>
              <a:rPr lang="en"/>
              <a:t>Run standups &amp; keep track of milestone progress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6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Project Software Design Requirements</a:t>
            </a:r>
            <a:endParaRPr/>
          </a:p>
        </p:txBody>
      </p:sp>
      <p:sp>
        <p:nvSpPr>
          <p:cNvPr id="381" name="Google Shape;381;p6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Char char="●"/>
            </a:pPr>
            <a:r>
              <a:rPr lang="en" sz="2200"/>
              <a:t>Functional Specification (user stories &amp; use cases)</a:t>
            </a:r>
            <a:endParaRPr sz="2200"/>
          </a:p>
          <a:p>
            <a:pPr marL="457200" lvl="0" indent="-368300" algn="l" rtl="0">
              <a:spcBef>
                <a:spcPts val="0"/>
              </a:spcBef>
              <a:spcAft>
                <a:spcPts val="0"/>
              </a:spcAft>
              <a:buSzPts val="2200"/>
              <a:buChar char="●"/>
            </a:pPr>
            <a:r>
              <a:rPr lang="en" sz="2200"/>
              <a:t>Component Specification</a:t>
            </a:r>
            <a:endParaRPr sz="2200"/>
          </a:p>
          <a:p>
            <a:pPr marL="457200" lvl="0" indent="-368300" algn="l" rtl="0">
              <a:spcBef>
                <a:spcPts val="0"/>
              </a:spcBef>
              <a:spcAft>
                <a:spcPts val="0"/>
              </a:spcAft>
              <a:buSzPts val="2200"/>
              <a:buChar char="●"/>
            </a:pPr>
            <a:r>
              <a:rPr lang="en" sz="2200"/>
              <a:t>Milestones</a:t>
            </a:r>
            <a:endParaRPr sz="2200"/>
          </a:p>
          <a:p>
            <a:pPr marL="0" lvl="0" indent="0" algn="l" rtl="0">
              <a:spcBef>
                <a:spcPts val="1200"/>
              </a:spcBef>
              <a:spcAft>
                <a:spcPts val="0"/>
              </a:spcAft>
              <a:buNone/>
            </a:pPr>
            <a:endParaRPr sz="2200"/>
          </a:p>
          <a:p>
            <a:pPr marL="0" lvl="0" indent="0" algn="l" rtl="0">
              <a:spcBef>
                <a:spcPts val="1200"/>
              </a:spcBef>
              <a:spcAft>
                <a:spcPts val="1200"/>
              </a:spcAft>
              <a:buNone/>
            </a:pPr>
            <a:r>
              <a:rPr lang="en" sz="2200"/>
              <a:t>More details on expected output: </a:t>
            </a:r>
            <a:r>
              <a:rPr lang="en" sz="2200" u="sng">
                <a:solidFill>
                  <a:schemeClr val="accent5"/>
                </a:solidFill>
                <a:hlinkClick r:id="rId3">
                  <a:extLst>
                    <a:ext uri="{A12FA001-AC4F-418D-AE19-62706E023703}">
                      <ahyp:hlinkClr xmlns:ahyp="http://schemas.microsoft.com/office/drawing/2018/hyperlinkcolor" val="tx"/>
                    </a:ext>
                  </a:extLst>
                </a:hlinkClick>
              </a:rPr>
              <a:t>https://uwdata515.github.io/projects.html</a:t>
            </a:r>
            <a:endParaRPr sz="22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6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620"/>
              <a:t>Exercise: Your Components</a:t>
            </a:r>
            <a:endParaRPr sz="2620"/>
          </a:p>
        </p:txBody>
      </p:sp>
      <p:sp>
        <p:nvSpPr>
          <p:cNvPr id="387" name="Google Shape;387;p64"/>
          <p:cNvSpPr txBox="1">
            <a:spLocks noGrp="1"/>
          </p:cNvSpPr>
          <p:nvPr>
            <p:ph type="body" idx="1"/>
          </p:nvPr>
        </p:nvSpPr>
        <p:spPr>
          <a:xfrm>
            <a:off x="311700" y="1152475"/>
            <a:ext cx="8520600" cy="3729600"/>
          </a:xfrm>
          <a:prstGeom prst="rect">
            <a:avLst/>
          </a:prstGeom>
        </p:spPr>
        <p:txBody>
          <a:bodyPr spcFirstLastPara="1" wrap="square" lIns="91425" tIns="91425" rIns="91425" bIns="91425" anchor="t" anchorCtr="0">
            <a:normAutofit lnSpcReduction="10000"/>
          </a:bodyPr>
          <a:lstStyle/>
          <a:p>
            <a:pPr marL="457200" lvl="0" indent="-393700" algn="l" rtl="0">
              <a:spcBef>
                <a:spcPts val="0"/>
              </a:spcBef>
              <a:spcAft>
                <a:spcPts val="0"/>
              </a:spcAft>
              <a:buSzPts val="2600"/>
              <a:buAutoNum type="arabicPeriod"/>
            </a:pPr>
            <a:r>
              <a:rPr lang="en" sz="2600"/>
              <a:t>Translate your use cases into </a:t>
            </a:r>
            <a:r>
              <a:rPr lang="en" sz="2600" u="sng"/>
              <a:t>components</a:t>
            </a:r>
            <a:endParaRPr sz="2600" u="sng"/>
          </a:p>
          <a:p>
            <a:pPr marL="457200" lvl="0" indent="-393700" algn="l" rtl="0">
              <a:spcBef>
                <a:spcPts val="0"/>
              </a:spcBef>
              <a:spcAft>
                <a:spcPts val="0"/>
              </a:spcAft>
              <a:buSzPts val="2600"/>
              <a:buAutoNum type="arabicPeriod"/>
            </a:pPr>
            <a:r>
              <a:rPr lang="en" sz="2600"/>
              <a:t>Create a </a:t>
            </a:r>
            <a:r>
              <a:rPr lang="en" sz="2600" u="sng"/>
              <a:t>specification</a:t>
            </a:r>
            <a:r>
              <a:rPr lang="en" sz="2600"/>
              <a:t> for each component</a:t>
            </a:r>
            <a:endParaRPr sz="2600"/>
          </a:p>
          <a:p>
            <a:pPr marL="914400" lvl="0" indent="0" algn="l" rtl="0">
              <a:spcBef>
                <a:spcPts val="1200"/>
              </a:spcBef>
              <a:spcAft>
                <a:spcPts val="0"/>
              </a:spcAft>
              <a:buNone/>
            </a:pPr>
            <a:r>
              <a:rPr lang="en" sz="2200"/>
              <a:t>Potentially including pseudocode</a:t>
            </a:r>
            <a:endParaRPr sz="2200"/>
          </a:p>
          <a:p>
            <a:pPr marL="457200" lvl="0" indent="-393700" algn="l" rtl="0">
              <a:spcBef>
                <a:spcPts val="1200"/>
              </a:spcBef>
              <a:spcAft>
                <a:spcPts val="0"/>
              </a:spcAft>
              <a:buSzPts val="2600"/>
              <a:buAutoNum type="arabicPeriod"/>
            </a:pPr>
            <a:r>
              <a:rPr lang="en" sz="2600"/>
              <a:t>Create </a:t>
            </a:r>
            <a:r>
              <a:rPr lang="en" sz="2600" u="sng"/>
              <a:t>interaction diagrams</a:t>
            </a:r>
            <a:r>
              <a:rPr lang="en" sz="2600"/>
              <a:t> for how components interact</a:t>
            </a:r>
            <a:endParaRPr sz="2600"/>
          </a:p>
          <a:p>
            <a:pPr marL="0" lvl="0" indent="0" algn="l" rtl="0">
              <a:spcBef>
                <a:spcPts val="1200"/>
              </a:spcBef>
              <a:spcAft>
                <a:spcPts val="0"/>
              </a:spcAft>
              <a:buNone/>
            </a:pPr>
            <a:r>
              <a:rPr lang="en" sz="2400"/>
              <a:t>Use a Markdown file in the </a:t>
            </a:r>
            <a:r>
              <a:rPr lang="en" sz="2400">
                <a:highlight>
                  <a:srgbClr val="F3F3F3"/>
                </a:highlight>
                <a:latin typeface="Courier New"/>
                <a:ea typeface="Courier New"/>
                <a:cs typeface="Courier New"/>
                <a:sym typeface="Courier New"/>
              </a:rPr>
              <a:t>docs</a:t>
            </a:r>
            <a:r>
              <a:rPr lang="en" sz="2400"/>
              <a:t> directory </a:t>
            </a:r>
            <a:endParaRPr sz="2400"/>
          </a:p>
          <a:p>
            <a:pPr marL="0" lvl="0" indent="0" algn="l" rtl="0">
              <a:spcBef>
                <a:spcPts val="1200"/>
              </a:spcBef>
              <a:spcAft>
                <a:spcPts val="1200"/>
              </a:spcAft>
              <a:buNone/>
            </a:pPr>
            <a:r>
              <a:rPr lang="en" sz="2400" b="1"/>
              <a:t>Go as deep as you can!</a:t>
            </a:r>
            <a:endParaRPr sz="2400" b="1"/>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2090</Words>
  <Application>Microsoft Office PowerPoint</Application>
  <PresentationFormat>On-screen Show (16:9)</PresentationFormat>
  <Paragraphs>316</Paragraphs>
  <Slides>52</Slides>
  <Notes>52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Arial</vt:lpstr>
      <vt:lpstr>Roboto</vt:lpstr>
      <vt:lpstr>Courier New</vt:lpstr>
      <vt:lpstr>Simple Light</vt:lpstr>
      <vt:lpstr>Software Design for Data Science</vt:lpstr>
      <vt:lpstr>Today’s agenda</vt:lpstr>
      <vt:lpstr>Software Design</vt:lpstr>
      <vt:lpstr>Software Design</vt:lpstr>
      <vt:lpstr>Why software design?</vt:lpstr>
      <vt:lpstr>Fred Brooks’ suggested planning schedule</vt:lpstr>
      <vt:lpstr>The Classic Dilemma</vt:lpstr>
      <vt:lpstr>The Classic Dilemma: Software Edition</vt:lpstr>
      <vt:lpstr>Prevent Feature Creep</vt:lpstr>
      <vt:lpstr>Improve Your Time Estimation</vt:lpstr>
      <vt:lpstr>Design Benefits</vt:lpstr>
      <vt:lpstr>Software Design Process (for this class)</vt:lpstr>
      <vt:lpstr>Running Example: Inventory Management</vt:lpstr>
      <vt:lpstr>User Stories</vt:lpstr>
      <vt:lpstr>Start with your users</vt:lpstr>
      <vt:lpstr>Example: Ram</vt:lpstr>
      <vt:lpstr>Example: ???</vt:lpstr>
      <vt:lpstr>Example: Valentina</vt:lpstr>
      <vt:lpstr>Example: Taylor</vt:lpstr>
      <vt:lpstr>Exercise: Your User Stories</vt:lpstr>
      <vt:lpstr>Functional Design (Use Cases)</vt:lpstr>
      <vt:lpstr>Example: Ram</vt:lpstr>
      <vt:lpstr>What do we do with inventory management systems?</vt:lpstr>
      <vt:lpstr>Implicit use cases</vt:lpstr>
      <vt:lpstr>Describing a use case</vt:lpstr>
      <vt:lpstr>Example: System user authentication use case</vt:lpstr>
      <vt:lpstr>Example: View inventory</vt:lpstr>
      <vt:lpstr>Exercise: Your Use Cases</vt:lpstr>
      <vt:lpstr>Component Design</vt:lpstr>
      <vt:lpstr>What is a component?</vt:lpstr>
      <vt:lpstr>Specifying components</vt:lpstr>
      <vt:lpstr>Developing Component Specifications</vt:lpstr>
      <vt:lpstr>Example: System authentication use case</vt:lpstr>
      <vt:lpstr>Example: System authentication control logic</vt:lpstr>
      <vt:lpstr>Example: View inventory use case</vt:lpstr>
      <vt:lpstr>Example: View inventory control logic</vt:lpstr>
      <vt:lpstr>Pseudocode</vt:lpstr>
      <vt:lpstr>Specifying component interactions</vt:lpstr>
      <vt:lpstr>Example: user authentication component interactions</vt:lpstr>
      <vt:lpstr>Example: user authentication component interactions</vt:lpstr>
      <vt:lpstr>Another diagram option: draw.io</vt:lpstr>
      <vt:lpstr>Component Design: Summary</vt:lpstr>
      <vt:lpstr>In a future week: architecture &amp; common patterns</vt:lpstr>
      <vt:lpstr>From Design Onwards</vt:lpstr>
      <vt:lpstr>Milestones</vt:lpstr>
      <vt:lpstr>Example: Inventory Management System milestones</vt:lpstr>
      <vt:lpstr>Breaking down a milestone</vt:lpstr>
      <vt:lpstr>Implementing a component</vt:lpstr>
      <vt:lpstr>Dividing up work</vt:lpstr>
      <vt:lpstr>Dividing up responsibilities</vt:lpstr>
      <vt:lpstr>Project Software Design Requirements</vt:lpstr>
      <vt:lpstr>Exercise: Your Components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Naomi Alterman</cp:lastModifiedBy>
  <cp:revision>6</cp:revision>
  <dcterms:modified xsi:type="dcterms:W3CDTF">2026-02-10T09:19:40Z</dcterms:modified>
</cp:coreProperties>
</file>