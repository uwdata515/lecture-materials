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3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15" d="100"/>
          <a:sy n="115" d="100"/>
        </p:scale>
        <p:origin x="442" y="77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notesMaster" Target="notesMasters/notesMaster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203886b205e_0_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203886b205e_0_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203886b205e_0_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203886b205e_0_5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203886b205e_0_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203886b205e_0_6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203886b205e_0_7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" name="Google Shape;85;g203886b205e_0_7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203886b205e_0_1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203886b205e_0_1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203886b205e_0_1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203886b205e_0_1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203886b205e_0_1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g203886b205e_0_1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203886b205e_0_1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203886b205e_0_1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203886b205e_0_1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203886b205e_0_14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203886b205e_0_2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203886b205e_0_2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203886b205e_0_7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" name="Google Shape;131;g203886b205e_0_7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203886b205e_0_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" name="Google Shape;137;g203886b205e_0_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203886b205e_0_8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" name="Google Shape;146;g203886b205e_0_8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203886b205e_0_9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" name="Google Shape;152;g203886b205e_0_9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203886b205e_0_10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" name="Google Shape;166;g203886b205e_0_10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203886b205e_0_2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4" name="Google Shape;174;g203886b205e_0_2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203886b205e_0_18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0" name="Google Shape;180;g203886b205e_0_18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203886b205e_0_2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" name="Google Shape;187;g203886b205e_0_2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g203886b205e_0_1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5" name="Google Shape;195;g203886b205e_0_1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203886b205e_0_20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2" name="Google Shape;202;g203886b205e_0_20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g203886b205e_0_2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9" name="Google Shape;209;g203886b205e_0_2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g203886b205e_0_2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6" name="Google Shape;216;g203886b205e_0_2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g203886b205e_0_2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2" name="Google Shape;222;g203886b205e_0_2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g203886b205e_0_2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9" name="Google Shape;229;g203886b205e_0_24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g203886b205e_0_2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5" name="Google Shape;235;g203886b205e_0_2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g203886b205e_0_2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1" name="Google Shape;241;g203886b205e_0_2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g203886b205e_0_2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8" name="Google Shape;248;g203886b205e_0_25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g203886b205e_0_16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4" name="Google Shape;254;g203886b205e_0_16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g203886b205e_0_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0" name="Google Shape;260;g203886b205e_0_4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g203886b205e_0_1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6" name="Google Shape;266;g203886b205e_0_15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g203886b205e_0_16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2" name="Google Shape;272;g203886b205e_0_16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g26697fee753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1" name="Google Shape;281;g26697fee753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g203886b205e_0_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7" name="Google Shape;287;g203886b205e_0_4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g2066492aa3a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4" name="Google Shape;294;g2066492aa3a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g2066492aa3a_0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1" name="Google Shape;301;g2066492aa3a_0_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g2066492aa3a_0_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9" name="Google Shape;309;g2066492aa3a_0_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Google Shape;11;p2"/>
          <p:cNvPicPr preferRelativeResize="0"/>
          <p:nvPr/>
        </p:nvPicPr>
        <p:blipFill rotWithShape="1">
          <a:blip r:embed="rId2">
            <a:alphaModFix/>
          </a:blip>
          <a:srcRect b="22311"/>
          <a:stretch/>
        </p:blipFill>
        <p:spPr>
          <a:xfrm>
            <a:off x="0" y="0"/>
            <a:ext cx="9144000" cy="5143499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Google Shape;12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5" name="Google Shape;15;p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9525" y="114901"/>
            <a:ext cx="3203124" cy="215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" name="Google Shape;16;p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36596" y="4663214"/>
            <a:ext cx="584554" cy="393600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Google Shape;17;p2"/>
          <p:cNvSpPr txBox="1">
            <a:spLocks noGrp="1"/>
          </p:cNvSpPr>
          <p:nvPr>
            <p:ph type="subTitle" idx="2"/>
          </p:nvPr>
        </p:nvSpPr>
        <p:spPr>
          <a:xfrm>
            <a:off x="311700" y="366367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 i="1">
                <a:solidFill>
                  <a:schemeClr val="l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bg>
      <p:bgPr>
        <a:solidFill>
          <a:schemeClr val="lt1"/>
        </a:solidFill>
        <a:effectLst/>
      </p:bgPr>
    </p:bg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Google Shape;19;p3"/>
          <p:cNvPicPr preferRelativeResize="0"/>
          <p:nvPr/>
        </p:nvPicPr>
        <p:blipFill rotWithShape="1">
          <a:blip r:embed="rId2">
            <a:alphaModFix/>
          </a:blip>
          <a:srcRect b="22311"/>
          <a:stretch/>
        </p:blipFill>
        <p:spPr>
          <a:xfrm>
            <a:off x="0" y="0"/>
            <a:ext cx="9144000" cy="5143499"/>
          </a:xfrm>
          <a:prstGeom prst="rect">
            <a:avLst/>
          </a:prstGeom>
          <a:noFill/>
          <a:ln>
            <a:noFill/>
          </a:ln>
        </p:spPr>
      </p:pic>
      <p:sp>
        <p:nvSpPr>
          <p:cNvPr id="20" name="Google Shape;20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 b="1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21" name="Google Shape;21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2" name="Google Shape;22;p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9525" y="114901"/>
            <a:ext cx="3203124" cy="215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" name="Google Shape;23;p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36596" y="4663214"/>
            <a:ext cx="584554" cy="393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7" name="Google Shape;27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8" name="Google Shape;38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9" name="Google Shape;39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42" name="Google Shape;42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" name="Google Shape;45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46" name="Google Shape;46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47" name="Google Shape;47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8" name="Google Shape;48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51" name="Google Shape;51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54" name="Google Shape;54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5" name="Google Shape;55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9" name="Google Shape;9;p1"/>
          <p:cNvPicPr preferRelativeResize="0"/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95825" y="95825"/>
            <a:ext cx="8925324" cy="4961000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atlassian.com/git/tutorials/merging-vs-rebasing" TargetMode="External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3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3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3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300"/>
              <a:t>Software Design for Data Science</a:t>
            </a:r>
            <a:endParaRPr/>
          </a:p>
        </p:txBody>
      </p:sp>
      <p:sp>
        <p:nvSpPr>
          <p:cNvPr id="63" name="Google Shape;63;p13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Git, Part 2</a:t>
            </a:r>
            <a:endParaRPr/>
          </a:p>
        </p:txBody>
      </p:sp>
      <p:sp>
        <p:nvSpPr>
          <p:cNvPr id="64" name="Google Shape;64;p13"/>
          <p:cNvSpPr txBox="1">
            <a:spLocks noGrp="1"/>
          </p:cNvSpPr>
          <p:nvPr>
            <p:ph type="subTitle" idx="2"/>
          </p:nvPr>
        </p:nvSpPr>
        <p:spPr>
          <a:xfrm>
            <a:off x="311700" y="366367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77500" lnSpcReduction="2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55000"/>
              <a:buFont typeface="Arial"/>
              <a:buNone/>
            </a:pPr>
            <a:r>
              <a:rPr lang="en-US" dirty="0"/>
              <a:t>Naomi Alterman</a:t>
            </a:r>
            <a:endParaRPr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55000"/>
              <a:buFont typeface="Arial"/>
              <a:buNone/>
            </a:pPr>
            <a:r>
              <a:rPr lang="en" dirty="0"/>
              <a:t>University of Washington</a:t>
            </a:r>
            <a:endParaRPr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55000"/>
              <a:buFont typeface="Arial"/>
              <a:buNone/>
            </a:pPr>
            <a:r>
              <a:rPr lang="en" dirty="0"/>
              <a:t>February 3, 2026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Review</a:t>
            </a:r>
            <a:endParaRPr/>
          </a:p>
        </p:txBody>
      </p:sp>
      <p:sp>
        <p:nvSpPr>
          <p:cNvPr id="70" name="Google Shape;70;p1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81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How do I…</a:t>
            </a:r>
            <a:endParaRPr/>
          </a:p>
          <a:p>
            <a:pPr marL="457200" lvl="0" indent="-3429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view the change history for a repository?</a:t>
            </a:r>
            <a:endParaRPr/>
          </a:p>
          <a:p>
            <a:pPr marL="45720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>
                <a:latin typeface="Courier New"/>
                <a:ea typeface="Courier New"/>
                <a:cs typeface="Courier New"/>
                <a:sym typeface="Courier New"/>
              </a:rPr>
              <a:t>git log</a:t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  <a:p>
            <a:pPr marL="457200" lvl="0" indent="-3429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see what files in the directory are modified since the last commit?</a:t>
            </a:r>
            <a:endParaRPr/>
          </a:p>
          <a:p>
            <a:pPr marL="45720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>
                <a:latin typeface="Courier New"/>
                <a:ea typeface="Courier New"/>
                <a:cs typeface="Courier New"/>
                <a:sym typeface="Courier New"/>
              </a:rPr>
              <a:t>git status</a:t>
            </a:r>
            <a:endParaRPr/>
          </a:p>
          <a:p>
            <a:pPr marL="457200" lvl="0" indent="-3429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examine the changes between modified files and the last commit?</a:t>
            </a:r>
            <a:endParaRPr/>
          </a:p>
          <a:p>
            <a:pPr marL="45720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>
                <a:latin typeface="Courier New"/>
                <a:ea typeface="Courier New"/>
                <a:cs typeface="Courier New"/>
                <a:sym typeface="Courier New"/>
              </a:rPr>
              <a:t>git diff</a:t>
            </a:r>
            <a:endParaRPr/>
          </a:p>
          <a:p>
            <a:pPr marL="457200" lvl="0" indent="-3429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place a modified file into the staging area?</a:t>
            </a:r>
            <a:endParaRPr/>
          </a:p>
          <a:p>
            <a:pPr marL="45720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>
                <a:latin typeface="Courier New"/>
                <a:ea typeface="Courier New"/>
                <a:cs typeface="Courier New"/>
                <a:sym typeface="Courier New"/>
              </a:rPr>
              <a:t>git add &lt;file&gt;</a:t>
            </a:r>
            <a:endParaRPr/>
          </a:p>
          <a:p>
            <a:pPr marL="457200" lvl="0" indent="-3429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move the staged files into the repository history?</a:t>
            </a:r>
            <a:endParaRPr/>
          </a:p>
          <a:p>
            <a:pPr marL="457200" lvl="0" indent="0" algn="l" rtl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">
                <a:latin typeface="Courier New"/>
                <a:ea typeface="Courier New"/>
                <a:cs typeface="Courier New"/>
                <a:sym typeface="Courier New"/>
              </a:rPr>
              <a:t>git commit -m “My commit message”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"/>
                                        <p:tgtEl>
                                          <p:spTgt spid="7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"/>
                                        <p:tgtEl>
                                          <p:spTgt spid="7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"/>
                                        <p:tgtEl>
                                          <p:spTgt spid="7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"/>
                                        <p:tgtEl>
                                          <p:spTgt spid="7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"/>
                                        <p:tgtEl>
                                          <p:spTgt spid="7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"/>
                                        <p:tgtEl>
                                          <p:spTgt spid="7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"/>
                                        <p:tgtEl>
                                          <p:spTgt spid="7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"/>
                                        <p:tgtEl>
                                          <p:spTgt spid="7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"/>
                                        <p:tgtEl>
                                          <p:spTgt spid="7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1"/>
                                        <p:tgtEl>
                                          <p:spTgt spid="7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1"/>
                                        <p:tgtEl>
                                          <p:spTgt spid="7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Review</a:t>
            </a:r>
            <a:endParaRPr/>
          </a:p>
        </p:txBody>
      </p:sp>
      <p:sp>
        <p:nvSpPr>
          <p:cNvPr id="76" name="Google Shape;76;p1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do the following verbs do?</a:t>
            </a:r>
            <a:endParaRPr/>
          </a:p>
          <a:p>
            <a:pPr marL="457200" lvl="0" indent="-342900" algn="l" rtl="0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Push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Clone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Pull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"/>
                                        <p:tgtEl>
                                          <p:spTgt spid="7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"/>
                                        <p:tgtEl>
                                          <p:spTgt spid="7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"/>
                                        <p:tgtEl>
                                          <p:spTgt spid="7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"/>
                                        <p:tgtEl>
                                          <p:spTgt spid="7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Review</a:t>
            </a:r>
            <a:endParaRPr/>
          </a:p>
        </p:txBody>
      </p:sp>
      <p:sp>
        <p:nvSpPr>
          <p:cNvPr id="82" name="Google Shape;82;p16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is…</a:t>
            </a:r>
            <a:endParaRPr/>
          </a:p>
          <a:p>
            <a:pPr marL="457200" lvl="0" indent="-342900" algn="l" rtl="0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>
                <a:latin typeface="Courier New"/>
                <a:ea typeface="Courier New"/>
                <a:cs typeface="Courier New"/>
                <a:sym typeface="Courier New"/>
              </a:rPr>
              <a:t>HEAD</a:t>
            </a:r>
            <a:r>
              <a:rPr lang="en"/>
              <a:t>?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>
                <a:latin typeface="Courier New"/>
                <a:ea typeface="Courier New"/>
                <a:cs typeface="Courier New"/>
                <a:sym typeface="Courier New"/>
              </a:rPr>
              <a:t>HEAD~3</a:t>
            </a:r>
            <a:r>
              <a:rPr lang="en"/>
              <a:t>?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"/>
                                        <p:tgtEl>
                                          <p:spTgt spid="8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"/>
                                        <p:tgtEl>
                                          <p:spTgt spid="8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"/>
                                        <p:tgtEl>
                                          <p:spTgt spid="8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Exercise</a:t>
            </a:r>
            <a:endParaRPr/>
          </a:p>
        </p:txBody>
      </p:sp>
      <p:sp>
        <p:nvSpPr>
          <p:cNvPr id="88" name="Google Shape;88;p17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 sz="2400" dirty="0"/>
              <a:t>Get into teams of 2-3</a:t>
            </a:r>
            <a:endParaRPr sz="2400" dirty="0"/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 sz="2400" dirty="0"/>
              <a:t>Identify someone to “own” a repository who will create it in their GitHub account (PUBLIC repository)</a:t>
            </a:r>
            <a:endParaRPr sz="2400" dirty="0"/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 sz="2400" dirty="0"/>
              <a:t>Add a README.md, LICENSE and .gitignore using the UI</a:t>
            </a:r>
            <a:endParaRPr sz="2400" dirty="0"/>
          </a:p>
          <a:p>
            <a:pPr marL="914400" lvl="1" indent="-361950" algn="l" rtl="0">
              <a:spcBef>
                <a:spcPts val="0"/>
              </a:spcBef>
              <a:spcAft>
                <a:spcPts val="0"/>
              </a:spcAft>
              <a:buSzPts val="2100"/>
              <a:buChar char="○"/>
            </a:pPr>
            <a:r>
              <a:rPr lang="en" sz="2100" dirty="0"/>
              <a:t>Python language &amp; MIT license are good to start</a:t>
            </a:r>
            <a:endParaRPr sz="2100" dirty="0"/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 sz="2400" dirty="0"/>
              <a:t>Add the other team members as collaborators to the repository</a:t>
            </a:r>
            <a:endParaRPr sz="2400" dirty="0"/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 sz="2400" dirty="0"/>
              <a:t>Everyone clone on their computer</a:t>
            </a:r>
            <a:endParaRPr sz="2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Exercise</a:t>
            </a:r>
            <a:endParaRPr/>
          </a:p>
        </p:txBody>
      </p:sp>
      <p:sp>
        <p:nvSpPr>
          <p:cNvPr id="94" name="Google Shape;94;p18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To add collaborators to a repository</a:t>
            </a:r>
            <a:endParaRPr/>
          </a:p>
          <a:p>
            <a:pPr marL="457200" lvl="0" indent="-342900" algn="l" rtl="0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Go to the repo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Click on Settings, then Collaborators &amp; Teams, then Add People</a:t>
            </a:r>
            <a:endParaRPr/>
          </a:p>
        </p:txBody>
      </p:sp>
      <p:pic>
        <p:nvPicPr>
          <p:cNvPr id="95" name="Google Shape;95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76763" y="2515975"/>
            <a:ext cx="5990473" cy="2326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Exercise</a:t>
            </a:r>
            <a:endParaRPr/>
          </a:p>
        </p:txBody>
      </p:sp>
      <p:sp>
        <p:nvSpPr>
          <p:cNvPr id="101" name="Google Shape;101;p19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 sz="2400"/>
              <a:t>Everyone make changes to the README.md</a:t>
            </a:r>
            <a:endParaRPr sz="2400"/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 sz="2400"/>
              <a:t>Status, diff, add, commit, push</a:t>
            </a:r>
            <a:endParaRPr sz="2400"/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 sz="2400"/>
              <a:t>What happens?</a:t>
            </a:r>
            <a:endParaRPr sz="24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8" name="Google Shape;108;p20"/>
          <p:cNvPicPr preferRelativeResize="0"/>
          <p:nvPr/>
        </p:nvPicPr>
        <p:blipFill>
          <a:blip r:embed="rId3">
            <a:alphaModFix/>
          </a:blip>
          <a:srcRect l="17478"/>
          <a:stretch>
            <a:fillRect/>
          </a:stretch>
        </p:blipFill>
        <p:spPr>
          <a:xfrm>
            <a:off x="2875722" y="367350"/>
            <a:ext cx="4304202" cy="451885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937C806F-686A-9F7E-D96A-0499BA4F67D0}"/>
              </a:ext>
            </a:extLst>
          </p:cNvPr>
          <p:cNvSpPr txBox="1"/>
          <p:nvPr/>
        </p:nvSpPr>
        <p:spPr>
          <a:xfrm>
            <a:off x="1795670" y="1133061"/>
            <a:ext cx="108005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Shane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05FC3E4-ADBE-DE85-86AC-E823120FE5DC}"/>
              </a:ext>
            </a:extLst>
          </p:cNvPr>
          <p:cNvSpPr txBox="1"/>
          <p:nvPr/>
        </p:nvSpPr>
        <p:spPr>
          <a:xfrm>
            <a:off x="1795670" y="3147392"/>
            <a:ext cx="108005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Ilya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4" name="Google Shape;114;p2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  <p:pic>
        <p:nvPicPr>
          <p:cNvPr id="115" name="Google Shape;115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74730" y="280025"/>
            <a:ext cx="5394546" cy="4698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2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Merge conflicts</a:t>
            </a:r>
            <a:endParaRPr/>
          </a:p>
        </p:txBody>
      </p:sp>
      <p:sp>
        <p:nvSpPr>
          <p:cNvPr id="121" name="Google Shape;121;p22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  <p:pic>
        <p:nvPicPr>
          <p:cNvPr id="122" name="Google Shape;122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0637" y="1368675"/>
            <a:ext cx="8222724" cy="2771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Fixing your merge conflict</a:t>
            </a:r>
            <a:endParaRPr/>
          </a:p>
        </p:txBody>
      </p:sp>
      <p:sp>
        <p:nvSpPr>
          <p:cNvPr id="128" name="Google Shape;128;p23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77500" lnSpcReduction="2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latin typeface="Courier New"/>
                <a:ea typeface="Courier New"/>
                <a:cs typeface="Courier New"/>
                <a:sym typeface="Courier New"/>
              </a:rPr>
              <a:t>git fetch</a:t>
            </a:r>
            <a:endParaRPr dirty="0"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dirty="0">
                <a:latin typeface="Courier New"/>
                <a:ea typeface="Courier New"/>
                <a:cs typeface="Courier New"/>
                <a:sym typeface="Courier New"/>
              </a:rPr>
              <a:t>git merge origin</a:t>
            </a:r>
          </a:p>
          <a:p>
            <a:pPr marL="0" lvl="0" indent="0">
              <a:spcBef>
                <a:spcPts val="1200"/>
              </a:spcBef>
              <a:buNone/>
            </a:pPr>
            <a:r>
              <a:rPr lang="en-US" dirty="0"/>
              <a:t>For each file with a reported conflict:</a:t>
            </a:r>
            <a:endParaRPr dirty="0">
              <a:latin typeface="Courier New"/>
              <a:ea typeface="Courier New"/>
              <a:cs typeface="Courier New"/>
              <a:sym typeface="Courier New"/>
            </a:endParaRPr>
          </a:p>
          <a:p>
            <a:pPr marL="45720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dirty="0">
                <a:latin typeface="Courier New"/>
                <a:ea typeface="Courier New"/>
                <a:cs typeface="Courier New"/>
                <a:sym typeface="Courier New"/>
              </a:rPr>
              <a:t>	</a:t>
            </a:r>
            <a:r>
              <a:rPr lang="en" dirty="0"/>
              <a:t>Open the file in a text editor</a:t>
            </a:r>
            <a:endParaRPr dirty="0"/>
          </a:p>
          <a:p>
            <a:pPr marL="91440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/>
              <a:t>Find the conflicts, which start with lots of “&lt;&lt;&lt;&lt;&lt;&lt;“s and end with “&gt;&gt;&gt;&gt;&gt;&gt;”s</a:t>
            </a:r>
            <a:endParaRPr dirty="0"/>
          </a:p>
          <a:p>
            <a:pPr marL="91440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/>
              <a:t>Rewrite the block between the brackets to what you want it to be</a:t>
            </a:r>
            <a:endParaRPr dirty="0"/>
          </a:p>
          <a:p>
            <a:pPr marL="91440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/>
              <a:t>Remove the brackets and equals signs too</a:t>
            </a:r>
          </a:p>
          <a:p>
            <a:pPr marL="914400" indent="0">
              <a:spcBef>
                <a:spcPts val="1200"/>
              </a:spcBef>
              <a:buClr>
                <a:schemeClr val="dk1"/>
              </a:buClr>
              <a:buSzPts val="1100"/>
              <a:buNone/>
            </a:pPr>
            <a:r>
              <a:rPr lang="en-US" dirty="0">
                <a:latin typeface="Courier New"/>
                <a:ea typeface="Courier New"/>
                <a:cs typeface="Courier New"/>
                <a:sym typeface="Courier New"/>
              </a:rPr>
              <a:t>git add </a:t>
            </a:r>
            <a:r>
              <a:rPr lang="en" dirty="0"/>
              <a:t>the file</a:t>
            </a:r>
            <a:endParaRPr dirty="0"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" dirty="0">
                <a:latin typeface="Courier New"/>
                <a:ea typeface="Courier New"/>
                <a:cs typeface="Courier New"/>
                <a:sym typeface="Courier New"/>
              </a:rPr>
              <a:t>git commit</a:t>
            </a:r>
            <a:endParaRPr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2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Collaborating Scenario</a:t>
            </a:r>
            <a:endParaRPr/>
          </a:p>
        </p:txBody>
      </p:sp>
      <p:sp>
        <p:nvSpPr>
          <p:cNvPr id="134" name="Google Shape;134;p2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 sz="2400"/>
              <a:t>Main development trunk of codebase</a:t>
            </a:r>
            <a:endParaRPr sz="2400"/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 sz="2400"/>
              <a:t>Bug comes in via issue report on GitHub</a:t>
            </a:r>
            <a:endParaRPr sz="2400"/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 sz="2400"/>
              <a:t>You need to work on the bug but don’t want to screw up the main development trunk</a:t>
            </a:r>
            <a:endParaRPr sz="2400"/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 sz="2400"/>
              <a:t>What to do?</a:t>
            </a:r>
            <a:endParaRPr sz="24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Branches</a:t>
            </a:r>
            <a:endParaRPr/>
          </a:p>
        </p:txBody>
      </p:sp>
      <p:pic>
        <p:nvPicPr>
          <p:cNvPr id="141" name="Google Shape;141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87525" y="1152475"/>
            <a:ext cx="6368949" cy="3774226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Google Shape;143;p25"/>
          <p:cNvSpPr/>
          <p:nvPr/>
        </p:nvSpPr>
        <p:spPr>
          <a:xfrm>
            <a:off x="5212025" y="1959875"/>
            <a:ext cx="551100" cy="251100"/>
          </a:xfrm>
          <a:prstGeom prst="rect">
            <a:avLst/>
          </a:prstGeom>
          <a:solidFill>
            <a:srgbClr val="A4E7F9"/>
          </a:solidFill>
          <a:ln w="9525" cap="flat" cmpd="sng">
            <a:solidFill>
              <a:srgbClr val="A4E7F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/>
              <a:t>Main</a:t>
            </a:r>
            <a:endParaRPr sz="11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2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Branch commands</a:t>
            </a:r>
            <a:endParaRPr/>
          </a:p>
        </p:txBody>
      </p:sp>
      <p:sp>
        <p:nvSpPr>
          <p:cNvPr id="149" name="Google Shape;149;p26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810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619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Char char="●"/>
            </a:pPr>
            <a:r>
              <a:rPr lang="en" sz="2100"/>
              <a:t>Create a new branch on your local computer</a:t>
            </a:r>
            <a:endParaRPr sz="2100"/>
          </a:p>
          <a:p>
            <a:pPr marL="45720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100">
                <a:latin typeface="Courier New"/>
                <a:ea typeface="Courier New"/>
                <a:cs typeface="Courier New"/>
                <a:sym typeface="Courier New"/>
              </a:rPr>
              <a:t>git branch name-of-branch</a:t>
            </a:r>
            <a:endParaRPr sz="2100">
              <a:latin typeface="Courier New"/>
              <a:ea typeface="Courier New"/>
              <a:cs typeface="Courier New"/>
              <a:sym typeface="Courier New"/>
            </a:endParaRPr>
          </a:p>
          <a:p>
            <a:pPr marL="457200" lvl="0" indent="-36195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Char char="●"/>
            </a:pPr>
            <a:r>
              <a:rPr lang="en" sz="2100"/>
              <a:t>Delete a branch</a:t>
            </a:r>
            <a:endParaRPr sz="2100"/>
          </a:p>
          <a:p>
            <a:pPr marL="45720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100">
                <a:latin typeface="Courier New"/>
                <a:ea typeface="Courier New"/>
                <a:cs typeface="Courier New"/>
                <a:sym typeface="Courier New"/>
              </a:rPr>
              <a:t>git branch -D name-of-branch</a:t>
            </a:r>
            <a:endParaRPr sz="2100"/>
          </a:p>
          <a:p>
            <a:pPr marL="457200" lvl="0" indent="-36195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Char char="●"/>
            </a:pPr>
            <a:r>
              <a:rPr lang="en" sz="2100"/>
              <a:t>Switch to a branch (or main)</a:t>
            </a:r>
            <a:endParaRPr sz="2100"/>
          </a:p>
          <a:p>
            <a:pPr marL="45720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 sz="2100">
                <a:latin typeface="Courier New"/>
                <a:ea typeface="Courier New"/>
                <a:cs typeface="Courier New"/>
                <a:sym typeface="Courier New"/>
              </a:rPr>
              <a:t>git checkout name-of-branch</a:t>
            </a:r>
            <a:endParaRPr sz="2100">
              <a:latin typeface="Courier New"/>
              <a:ea typeface="Courier New"/>
              <a:cs typeface="Courier New"/>
              <a:sym typeface="Courier New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100">
                <a:latin typeface="Courier New"/>
                <a:ea typeface="Courier New"/>
                <a:cs typeface="Courier New"/>
                <a:sym typeface="Courier New"/>
              </a:rPr>
              <a:t>git checkout main</a:t>
            </a:r>
            <a:endParaRPr sz="2100">
              <a:latin typeface="Courier New"/>
              <a:ea typeface="Courier New"/>
              <a:cs typeface="Courier New"/>
              <a:sym typeface="Courier New"/>
            </a:endParaRPr>
          </a:p>
          <a:p>
            <a:pPr marL="457200" lvl="0" indent="-36195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Char char="●"/>
            </a:pPr>
            <a:r>
              <a:rPr lang="en" sz="2100"/>
              <a:t>Make a new branch and switch into it all at once</a:t>
            </a:r>
            <a:endParaRPr sz="2100"/>
          </a:p>
          <a:p>
            <a:pPr marL="457200" lvl="0" indent="0" algn="l" rtl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100">
                <a:latin typeface="Courier New"/>
                <a:ea typeface="Courier New"/>
                <a:cs typeface="Courier New"/>
                <a:sym typeface="Courier New"/>
              </a:rPr>
              <a:t>git checkout -b name-of-new-branch</a:t>
            </a:r>
            <a:endParaRPr sz="21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"/>
                                        <p:tgtEl>
                                          <p:spTgt spid="1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"/>
                                        <p:tgtEl>
                                          <p:spTgt spid="14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"/>
                                        <p:tgtEl>
                                          <p:spTgt spid="14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"/>
                                        <p:tgtEl>
                                          <p:spTgt spid="14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"/>
                                        <p:tgtEl>
                                          <p:spTgt spid="14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"/>
                                        <p:tgtEl>
                                          <p:spTgt spid="14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"/>
                                        <p:tgtEl>
                                          <p:spTgt spid="14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"/>
                                        <p:tgtEl>
                                          <p:spTgt spid="14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"/>
                                        <p:tgtEl>
                                          <p:spTgt spid="14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Branches: visual</a:t>
            </a:r>
            <a:endParaRPr/>
          </a:p>
        </p:txBody>
      </p:sp>
      <p:sp>
        <p:nvSpPr>
          <p:cNvPr id="155" name="Google Shape;155;p27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  <p:grpSp>
        <p:nvGrpSpPr>
          <p:cNvPr id="156" name="Google Shape;156;p27"/>
          <p:cNvGrpSpPr/>
          <p:nvPr/>
        </p:nvGrpSpPr>
        <p:grpSpPr>
          <a:xfrm>
            <a:off x="311700" y="1152475"/>
            <a:ext cx="4217760" cy="3416400"/>
            <a:chOff x="311700" y="1152475"/>
            <a:chExt cx="4217760" cy="3416400"/>
          </a:xfrm>
        </p:grpSpPr>
        <p:pic>
          <p:nvPicPr>
            <p:cNvPr id="157" name="Google Shape;157;p27"/>
            <p:cNvPicPr preferRelativeResize="0"/>
            <p:nvPr/>
          </p:nvPicPr>
          <p:blipFill rotWithShape="1">
            <a:blip r:embed="rId3">
              <a:alphaModFix/>
            </a:blip>
            <a:srcRect l="26526" t="6953" r="30008" b="57838"/>
            <a:stretch/>
          </p:blipFill>
          <p:spPr>
            <a:xfrm>
              <a:off x="311700" y="1152475"/>
              <a:ext cx="4217760" cy="34164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58" name="Google Shape;158;p27"/>
            <p:cNvSpPr txBox="1"/>
            <p:nvPr/>
          </p:nvSpPr>
          <p:spPr>
            <a:xfrm>
              <a:off x="648350" y="1497925"/>
              <a:ext cx="1732800" cy="738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/>
                <a:t>After branch creation</a:t>
              </a:r>
              <a:endParaRPr sz="1800"/>
            </a:p>
          </p:txBody>
        </p:sp>
      </p:grpSp>
      <p:grpSp>
        <p:nvGrpSpPr>
          <p:cNvPr id="159" name="Google Shape;159;p27"/>
          <p:cNvGrpSpPr/>
          <p:nvPr/>
        </p:nvGrpSpPr>
        <p:grpSpPr>
          <a:xfrm>
            <a:off x="4501122" y="1152477"/>
            <a:ext cx="4331177" cy="3416400"/>
            <a:chOff x="4501122" y="1152477"/>
            <a:chExt cx="4331177" cy="3416400"/>
          </a:xfrm>
        </p:grpSpPr>
        <p:pic>
          <p:nvPicPr>
            <p:cNvPr id="160" name="Google Shape;160;p27"/>
            <p:cNvPicPr preferRelativeResize="0"/>
            <p:nvPr/>
          </p:nvPicPr>
          <p:blipFill rotWithShape="1">
            <a:blip r:embed="rId3">
              <a:alphaModFix/>
            </a:blip>
            <a:srcRect l="26827" t="65713" r="29705"/>
            <a:stretch/>
          </p:blipFill>
          <p:spPr>
            <a:xfrm>
              <a:off x="4501122" y="1152477"/>
              <a:ext cx="4331177" cy="34164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1" name="Google Shape;161;p27"/>
            <p:cNvSpPr txBox="1"/>
            <p:nvPr/>
          </p:nvSpPr>
          <p:spPr>
            <a:xfrm>
              <a:off x="5160350" y="1497925"/>
              <a:ext cx="1732800" cy="738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/>
                <a:t>After branch checkout</a:t>
              </a:r>
              <a:endParaRPr sz="1800"/>
            </a:p>
          </p:txBody>
        </p:sp>
      </p:grpSp>
      <p:sp>
        <p:nvSpPr>
          <p:cNvPr id="162" name="Google Shape;162;p27"/>
          <p:cNvSpPr/>
          <p:nvPr/>
        </p:nvSpPr>
        <p:spPr>
          <a:xfrm>
            <a:off x="3540000" y="4078975"/>
            <a:ext cx="551100" cy="251100"/>
          </a:xfrm>
          <a:prstGeom prst="rect">
            <a:avLst/>
          </a:prstGeom>
          <a:solidFill>
            <a:srgbClr val="A4E7F9"/>
          </a:solidFill>
          <a:ln w="9525" cap="flat" cmpd="sng">
            <a:solidFill>
              <a:srgbClr val="A4E7F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/>
              <a:t>Main</a:t>
            </a:r>
            <a:endParaRPr sz="1100"/>
          </a:p>
        </p:txBody>
      </p:sp>
      <p:sp>
        <p:nvSpPr>
          <p:cNvPr id="163" name="Google Shape;163;p27"/>
          <p:cNvSpPr/>
          <p:nvPr/>
        </p:nvSpPr>
        <p:spPr>
          <a:xfrm>
            <a:off x="7783625" y="4170125"/>
            <a:ext cx="551100" cy="251100"/>
          </a:xfrm>
          <a:prstGeom prst="rect">
            <a:avLst/>
          </a:prstGeom>
          <a:solidFill>
            <a:srgbClr val="A4E7F9"/>
          </a:solidFill>
          <a:ln w="9525" cap="flat" cmpd="sng">
            <a:solidFill>
              <a:srgbClr val="A4E7F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/>
              <a:t>Main</a:t>
            </a:r>
            <a:endParaRPr sz="11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"/>
                                        <p:tgtEl>
                                          <p:spTgt spid="1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2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Merges</a:t>
            </a:r>
            <a:endParaRPr/>
          </a:p>
        </p:txBody>
      </p:sp>
      <p:sp>
        <p:nvSpPr>
          <p:cNvPr id="169" name="Google Shape;169;p28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22818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2200"/>
              <a:t>But how do we get our features back into main?</a:t>
            </a:r>
            <a:endParaRPr sz="2200"/>
          </a:p>
        </p:txBody>
      </p:sp>
      <p:pic>
        <p:nvPicPr>
          <p:cNvPr id="170" name="Google Shape;170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63350" y="1152475"/>
            <a:ext cx="6368949" cy="3774226"/>
          </a:xfrm>
          <a:prstGeom prst="rect">
            <a:avLst/>
          </a:prstGeom>
          <a:noFill/>
          <a:ln>
            <a:noFill/>
          </a:ln>
        </p:spPr>
      </p:pic>
      <p:sp>
        <p:nvSpPr>
          <p:cNvPr id="171" name="Google Shape;171;p28"/>
          <p:cNvSpPr/>
          <p:nvPr/>
        </p:nvSpPr>
        <p:spPr>
          <a:xfrm>
            <a:off x="6296075" y="1972125"/>
            <a:ext cx="551100" cy="251100"/>
          </a:xfrm>
          <a:prstGeom prst="rect">
            <a:avLst/>
          </a:prstGeom>
          <a:solidFill>
            <a:srgbClr val="A4E7F9"/>
          </a:solidFill>
          <a:ln w="9525" cap="flat" cmpd="sng">
            <a:solidFill>
              <a:srgbClr val="A4E7F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/>
              <a:t>Main</a:t>
            </a:r>
            <a:endParaRPr sz="110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2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Pull requests</a:t>
            </a:r>
            <a:endParaRPr/>
          </a:p>
        </p:txBody>
      </p:sp>
      <p:pic>
        <p:nvPicPr>
          <p:cNvPr id="177" name="Google Shape;177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10775" y="427025"/>
            <a:ext cx="6430874" cy="42894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3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Submitting a pull request</a:t>
            </a:r>
            <a:endParaRPr/>
          </a:p>
        </p:txBody>
      </p:sp>
      <p:sp>
        <p:nvSpPr>
          <p:cNvPr id="183" name="Google Shape;183;p30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80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From your branch, push the branch to GitHub: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latin typeface="Courier New"/>
                <a:ea typeface="Courier New"/>
                <a:cs typeface="Courier New"/>
                <a:sym typeface="Courier New"/>
              </a:rPr>
              <a:t>	git push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You’ll need to configure git:</a:t>
            </a:r>
            <a:endParaRPr/>
          </a:p>
          <a:p>
            <a:pPr marL="0" lvl="0" indent="45720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700">
                <a:latin typeface="Courier New"/>
                <a:ea typeface="Courier New"/>
                <a:cs typeface="Courier New"/>
                <a:sym typeface="Courier New"/>
              </a:rPr>
              <a:t>git config --global --add --bool push.autoSetupRemote true</a:t>
            </a:r>
            <a:endParaRPr sz="170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700"/>
              <a:t>This tells git to automatically sync the proper branch with GitHub when you push</a:t>
            </a:r>
            <a:endParaRPr sz="1700"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700"/>
              <a:t>Follow the link:</a:t>
            </a:r>
            <a:endParaRPr sz="1700"/>
          </a:p>
        </p:txBody>
      </p:sp>
      <p:pic>
        <p:nvPicPr>
          <p:cNvPr id="184" name="Google Shape;184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3950" y="3853625"/>
            <a:ext cx="7656098" cy="1167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3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Branches on GitHub</a:t>
            </a:r>
            <a:endParaRPr/>
          </a:p>
        </p:txBody>
      </p:sp>
      <p:sp>
        <p:nvSpPr>
          <p:cNvPr id="190" name="Google Shape;190;p3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  <p:pic>
        <p:nvPicPr>
          <p:cNvPr id="191" name="Google Shape;191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152467"/>
            <a:ext cx="8520600" cy="3624284"/>
          </a:xfrm>
          <a:prstGeom prst="rect">
            <a:avLst/>
          </a:prstGeom>
          <a:noFill/>
          <a:ln>
            <a:noFill/>
          </a:ln>
        </p:spPr>
      </p:pic>
      <p:sp>
        <p:nvSpPr>
          <p:cNvPr id="192" name="Google Shape;192;p31"/>
          <p:cNvSpPr/>
          <p:nvPr/>
        </p:nvSpPr>
        <p:spPr>
          <a:xfrm>
            <a:off x="1846500" y="2757100"/>
            <a:ext cx="1037100" cy="442800"/>
          </a:xfrm>
          <a:prstGeom prst="roundRect">
            <a:avLst>
              <a:gd name="adj" fmla="val 16667"/>
            </a:avLst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32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Merges</a:t>
            </a:r>
            <a:endParaRPr/>
          </a:p>
        </p:txBody>
      </p:sp>
      <p:sp>
        <p:nvSpPr>
          <p:cNvPr id="198" name="Google Shape;198;p32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2500" lnSpcReduction="2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Usually: via the GitHub interface in a Pull Request (more in next slide!)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Or: </a:t>
            </a:r>
            <a:r>
              <a:rPr lang="en">
                <a:latin typeface="Courier New"/>
                <a:ea typeface="Courier New"/>
                <a:cs typeface="Courier New"/>
                <a:sym typeface="Courier New"/>
              </a:rPr>
              <a:t>git merge branch-name	</a:t>
            </a:r>
            <a:r>
              <a:rPr lang="en" i="1"/>
              <a:t>(familiar?)</a:t>
            </a:r>
            <a:endParaRPr i="1"/>
          </a:p>
        </p:txBody>
      </p:sp>
      <p:pic>
        <p:nvPicPr>
          <p:cNvPr id="199" name="Google Shape;199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533230"/>
            <a:ext cx="8520599" cy="224099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3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Merging through the GitHub UI for a Pull Request</a:t>
            </a:r>
            <a:endParaRPr/>
          </a:p>
        </p:txBody>
      </p:sp>
      <p:sp>
        <p:nvSpPr>
          <p:cNvPr id="205" name="Google Shape;205;p33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811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Don’t forget to delete the branch when you’re done!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	(or configure auto-deletion in the repo Settings)</a:t>
            </a:r>
            <a:endParaRPr/>
          </a:p>
        </p:txBody>
      </p:sp>
      <p:pic>
        <p:nvPicPr>
          <p:cNvPr id="206" name="Google Shape;206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8912" y="1430050"/>
            <a:ext cx="8426174" cy="2465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3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Merge conflicts</a:t>
            </a:r>
            <a:endParaRPr/>
          </a:p>
        </p:txBody>
      </p:sp>
      <p:sp>
        <p:nvSpPr>
          <p:cNvPr id="212" name="Google Shape;212;p3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19434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Uh oh!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Someone else merged a conflicting change so I can’t merge my branch</a:t>
            </a:r>
            <a:endParaRPr/>
          </a:p>
        </p:txBody>
      </p:sp>
      <p:pic>
        <p:nvPicPr>
          <p:cNvPr id="213" name="Google Shape;213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55150" y="935025"/>
            <a:ext cx="6327925" cy="4057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3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Merge conflicts: merging main into your branch</a:t>
            </a:r>
            <a:endParaRPr/>
          </a:p>
        </p:txBody>
      </p:sp>
      <p:sp>
        <p:nvSpPr>
          <p:cNvPr id="219" name="Google Shape;219;p3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756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85000" lnSpcReduction="10000"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Via the GitHub interface (ONLY if simple eg Markdown files)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Or</a:t>
            </a:r>
            <a:endParaRPr/>
          </a:p>
          <a:p>
            <a:pPr marL="45720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latin typeface="Courier New"/>
                <a:ea typeface="Courier New"/>
                <a:cs typeface="Courier New"/>
                <a:sym typeface="Courier New"/>
              </a:rPr>
              <a:t>git checkout main</a:t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  <a:p>
            <a:pPr marL="45720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latin typeface="Courier New"/>
                <a:ea typeface="Courier New"/>
                <a:cs typeface="Courier New"/>
                <a:sym typeface="Courier New"/>
              </a:rPr>
              <a:t>git pull		# pull in the conflict</a:t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  <a:p>
            <a:pPr marL="45720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latin typeface="Courier New"/>
                <a:ea typeface="Courier New"/>
                <a:cs typeface="Courier New"/>
                <a:sym typeface="Courier New"/>
              </a:rPr>
              <a:t>git checkout your-feature-branch</a:t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  <a:p>
            <a:pPr marL="45720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latin typeface="Courier New"/>
                <a:ea typeface="Courier New"/>
                <a:cs typeface="Courier New"/>
                <a:sym typeface="Courier New"/>
              </a:rPr>
              <a:t>git merge main</a:t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  <a:p>
            <a:pPr marL="45720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	</a:t>
            </a:r>
            <a:r>
              <a:rPr lang="en" i="1"/>
              <a:t>(fix merge conflicts by editing the conflicting files, git add as needed)</a:t>
            </a:r>
            <a:endParaRPr i="1"/>
          </a:p>
          <a:p>
            <a:pPr marL="45720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latin typeface="Courier New"/>
                <a:ea typeface="Courier New"/>
                <a:cs typeface="Courier New"/>
                <a:sym typeface="Courier New"/>
              </a:rPr>
              <a:t>git commit</a:t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  <a:p>
            <a:pPr marL="45720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">
                <a:latin typeface="Courier New"/>
                <a:ea typeface="Courier New"/>
                <a:cs typeface="Courier New"/>
                <a:sym typeface="Courier New"/>
              </a:rPr>
              <a:t>git push		# update the remote version of your branch</a:t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3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5" name="Google Shape;225;p36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  <p:pic>
        <p:nvPicPr>
          <p:cNvPr id="226" name="Google Shape;226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9525" y="381775"/>
            <a:ext cx="8664936" cy="45023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3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Merging main into your branch</a:t>
            </a:r>
            <a:endParaRPr/>
          </a:p>
        </p:txBody>
      </p:sp>
      <p:sp>
        <p:nvSpPr>
          <p:cNvPr id="232" name="Google Shape;232;p37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Pros</a:t>
            </a:r>
            <a:endParaRPr/>
          </a:p>
          <a:p>
            <a:pPr marL="457200" lvl="0" indent="-342900" algn="l" rtl="0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Non-destructive - existing branches are not changed in any way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Cons</a:t>
            </a:r>
            <a:endParaRPr/>
          </a:p>
          <a:p>
            <a:pPr marL="457200" lvl="0" indent="-342900" algn="l" rtl="0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Extra “merge commits” in the history</a:t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3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Merge conflicts: rebasing</a:t>
            </a:r>
            <a:endParaRPr/>
          </a:p>
        </p:txBody>
      </p:sp>
      <p:sp>
        <p:nvSpPr>
          <p:cNvPr id="238" name="Google Shape;238;p38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756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2500" lnSpcReduction="2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/>
              <a:t>If you just HATE those “merge commits”</a:t>
            </a:r>
            <a:endParaRPr sz="1200" dirty="0">
              <a:latin typeface="Courier New"/>
              <a:ea typeface="Courier New"/>
              <a:cs typeface="Courier New"/>
              <a:sym typeface="Courier New"/>
            </a:endParaRPr>
          </a:p>
          <a:p>
            <a:pPr marL="45720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 sz="1200" dirty="0">
                <a:latin typeface="Courier New"/>
                <a:ea typeface="Courier New"/>
                <a:cs typeface="Courier New"/>
                <a:sym typeface="Courier New"/>
              </a:rPr>
              <a:t>git checkout main</a:t>
            </a:r>
            <a:endParaRPr sz="1200" dirty="0">
              <a:latin typeface="Courier New"/>
              <a:ea typeface="Courier New"/>
              <a:cs typeface="Courier New"/>
              <a:sym typeface="Courier New"/>
            </a:endParaRPr>
          </a:p>
          <a:p>
            <a:pPr marL="45720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 sz="1200" dirty="0">
                <a:latin typeface="Courier New"/>
                <a:ea typeface="Courier New"/>
                <a:cs typeface="Courier New"/>
                <a:sym typeface="Courier New"/>
              </a:rPr>
              <a:t>git pull		# pull in the conflict</a:t>
            </a:r>
            <a:endParaRPr sz="1200" dirty="0">
              <a:latin typeface="Courier New"/>
              <a:ea typeface="Courier New"/>
              <a:cs typeface="Courier New"/>
              <a:sym typeface="Courier New"/>
            </a:endParaRPr>
          </a:p>
          <a:p>
            <a:pPr marL="45720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 sz="1200" dirty="0">
                <a:latin typeface="Courier New"/>
                <a:ea typeface="Courier New"/>
                <a:cs typeface="Courier New"/>
                <a:sym typeface="Courier New"/>
              </a:rPr>
              <a:t>git checkout your-feature-branch</a:t>
            </a:r>
            <a:endParaRPr sz="1200" dirty="0">
              <a:latin typeface="Courier New"/>
              <a:ea typeface="Courier New"/>
              <a:cs typeface="Courier New"/>
              <a:sym typeface="Courier New"/>
            </a:endParaRPr>
          </a:p>
          <a:p>
            <a:pPr marL="45720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 b="1" dirty="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git rebase main</a:t>
            </a:r>
            <a:endParaRPr sz="1200" b="1" dirty="0">
              <a:solidFill>
                <a:srgbClr val="0000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45720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 dirty="0"/>
              <a:t>	</a:t>
            </a:r>
            <a:r>
              <a:rPr lang="en" sz="1200" i="1" dirty="0"/>
              <a:t>(fix merge conflicts by editing the conflicting files, git add as needed)</a:t>
            </a:r>
            <a:endParaRPr sz="1200" i="1" dirty="0"/>
          </a:p>
          <a:p>
            <a:pPr marL="45720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 b="1" dirty="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git rebase --continue</a:t>
            </a:r>
            <a:endParaRPr sz="1200" b="1" dirty="0">
              <a:solidFill>
                <a:srgbClr val="0000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45720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 dirty="0">
                <a:latin typeface="Courier New"/>
                <a:ea typeface="Courier New"/>
                <a:cs typeface="Courier New"/>
                <a:sym typeface="Courier New"/>
              </a:rPr>
              <a:t>git push </a:t>
            </a:r>
            <a:r>
              <a:rPr lang="en" sz="1200" b="1" dirty="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--force</a:t>
            </a:r>
            <a:endParaRPr sz="1200" b="1" dirty="0">
              <a:solidFill>
                <a:srgbClr val="0000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 dirty="0"/>
              <a:t>This “rewrites history” - hence why you need to </a:t>
            </a:r>
            <a:r>
              <a:rPr lang="en" sz="1200" dirty="0">
                <a:latin typeface="Courier New"/>
                <a:ea typeface="Courier New"/>
                <a:cs typeface="Courier New"/>
                <a:sym typeface="Courier New"/>
              </a:rPr>
              <a:t>--force</a:t>
            </a:r>
          </a:p>
          <a:p>
            <a:pPr marL="0" lvl="0" indent="0">
              <a:spcBef>
                <a:spcPts val="1200"/>
              </a:spcBef>
              <a:buNone/>
            </a:pPr>
            <a:r>
              <a:rPr lang="en" sz="1200" b="1" dirty="0"/>
              <a:t>NEVER </a:t>
            </a:r>
            <a:r>
              <a:rPr lang="en" sz="1200" dirty="0"/>
              <a:t>rebase main (or any branch that multiple people work on at once)!!!!</a:t>
            </a:r>
            <a:endParaRPr sz="1200" b="1" dirty="0"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200" u="sng" dirty="0">
                <a:solidFill>
                  <a:schemeClr val="hlink"/>
                </a:solidFill>
                <a:hlinkClick r:id="rId3"/>
              </a:rPr>
              <a:t>More about merging vs rebasing</a:t>
            </a:r>
            <a:endParaRPr sz="12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3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4" name="Google Shape;244;p39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  <p:pic>
        <p:nvPicPr>
          <p:cNvPr id="245" name="Google Shape;245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3888" y="404750"/>
            <a:ext cx="8736225" cy="43339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4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Rebasing</a:t>
            </a:r>
            <a:endParaRPr/>
          </a:p>
        </p:txBody>
      </p:sp>
      <p:sp>
        <p:nvSpPr>
          <p:cNvPr id="251" name="Google Shape;251;p40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Pros</a:t>
            </a:r>
            <a:endParaRPr/>
          </a:p>
          <a:p>
            <a:pPr marL="457200" lvl="0" indent="-342900" algn="l" rtl="0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Perfectly linear history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No extraneous “merge commits” - cleaner history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Cons</a:t>
            </a:r>
            <a:endParaRPr/>
          </a:p>
          <a:p>
            <a:pPr marL="457200" lvl="0" indent="-342900" algn="l" rtl="0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Rewriting history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You can’t tell when things were rebased exactly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NEVER USE REBASING ON A PUBLIC BRANCH (ie main)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Only your own private branches</a:t>
            </a:r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4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Rebasing</a:t>
            </a:r>
            <a:endParaRPr/>
          </a:p>
        </p:txBody>
      </p:sp>
      <p:sp>
        <p:nvSpPr>
          <p:cNvPr id="257" name="Google Shape;257;p4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 sz="2400"/>
              <a:t>You don’t have to wait until you have an approval to rebase or merge main into your branch!</a:t>
            </a:r>
            <a:endParaRPr sz="2400"/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 sz="2400"/>
              <a:t>It’s a good idea if you know someone else submitted a major change that might affect yours</a:t>
            </a:r>
            <a:endParaRPr sz="240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42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Standard Collaborative Flow</a:t>
            </a:r>
            <a:endParaRPr/>
          </a:p>
        </p:txBody>
      </p:sp>
      <p:sp>
        <p:nvSpPr>
          <p:cNvPr id="263" name="Google Shape;263;p42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68300" algn="l" rtl="0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 sz="2200"/>
              <a:t>Create a new branch (</a:t>
            </a:r>
            <a:r>
              <a:rPr lang="en" sz="2100">
                <a:latin typeface="Courier New"/>
                <a:ea typeface="Courier New"/>
                <a:cs typeface="Courier New"/>
                <a:sym typeface="Courier New"/>
              </a:rPr>
              <a:t>git checkout -b new-branch-name</a:t>
            </a:r>
            <a:r>
              <a:rPr lang="en" sz="2200"/>
              <a:t>)</a:t>
            </a:r>
            <a:endParaRPr sz="2200"/>
          </a:p>
          <a:p>
            <a:pPr marL="457200" lvl="0" indent="-368300" algn="l" rtl="0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 sz="2200"/>
              <a:t>Commit some changes</a:t>
            </a:r>
            <a:endParaRPr sz="2200"/>
          </a:p>
          <a:p>
            <a:pPr marL="457200" lvl="0" indent="-368300" algn="l" rtl="0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 sz="2200"/>
              <a:t>Push your branch to GitHub</a:t>
            </a:r>
            <a:endParaRPr sz="2200"/>
          </a:p>
          <a:p>
            <a:pPr marL="457200" lvl="0" indent="-368300" algn="l" rtl="0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 sz="2200"/>
              <a:t>Create a pull request in the UI</a:t>
            </a:r>
            <a:endParaRPr sz="2200"/>
          </a:p>
          <a:p>
            <a:pPr marL="457200" lvl="0" indent="-368300" algn="l" rtl="0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 sz="2200"/>
              <a:t>Pull and merge main into your branch again, resolving conflicts, if necessary (</a:t>
            </a:r>
            <a:r>
              <a:rPr lang="en" sz="2200">
                <a:latin typeface="Courier New"/>
                <a:ea typeface="Courier New"/>
                <a:cs typeface="Courier New"/>
                <a:sym typeface="Courier New"/>
              </a:rPr>
              <a:t>git merge main </a:t>
            </a:r>
            <a:r>
              <a:rPr lang="en" sz="2200"/>
              <a:t>or</a:t>
            </a:r>
            <a:r>
              <a:rPr lang="en" sz="2200">
                <a:latin typeface="Courier New"/>
                <a:ea typeface="Courier New"/>
                <a:cs typeface="Courier New"/>
                <a:sym typeface="Courier New"/>
              </a:rPr>
              <a:t> git rebase main</a:t>
            </a:r>
            <a:r>
              <a:rPr lang="en" sz="2200"/>
              <a:t>)</a:t>
            </a:r>
            <a:endParaRPr sz="2200"/>
          </a:p>
          <a:p>
            <a:pPr marL="457200" lvl="0" indent="-368300" algn="l" rtl="0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 sz="2200"/>
              <a:t>Merge the pull request using github.com and the big green button</a:t>
            </a:r>
            <a:endParaRPr sz="220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4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Exercise</a:t>
            </a:r>
            <a:endParaRPr/>
          </a:p>
        </p:txBody>
      </p:sp>
      <p:sp>
        <p:nvSpPr>
          <p:cNvPr id="269" name="Google Shape;269;p43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Everyone:</a:t>
            </a:r>
            <a:endParaRPr sz="240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400"/>
              <a:t>Follow the standard collaborative flow to make a change to README.md</a:t>
            </a:r>
            <a:endParaRPr sz="240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400"/>
              <a:t>Review each other’s pull requests</a:t>
            </a:r>
            <a:endParaRPr sz="2400"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2400"/>
              <a:t>Everyone should merge</a:t>
            </a:r>
            <a:endParaRPr sz="240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4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Common mistake</a:t>
            </a:r>
            <a:endParaRPr/>
          </a:p>
        </p:txBody>
      </p:sp>
      <p:sp>
        <p:nvSpPr>
          <p:cNvPr id="275" name="Google Shape;275;p4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797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/>
              <a:t>Oops! I forgot to switch to a new branch and now I my commits are on </a:t>
            </a:r>
            <a:r>
              <a:rPr lang="en" sz="1900">
                <a:latin typeface="Courier New"/>
                <a:ea typeface="Courier New"/>
                <a:cs typeface="Courier New"/>
                <a:sym typeface="Courier New"/>
              </a:rPr>
              <a:t>main</a:t>
            </a:r>
            <a:r>
              <a:rPr lang="en" sz="1900"/>
              <a:t>!</a:t>
            </a:r>
            <a:endParaRPr sz="1900"/>
          </a:p>
          <a:p>
            <a:pPr marL="457200" lvl="0" indent="-349250" algn="l" rtl="0">
              <a:spcBef>
                <a:spcPts val="1200"/>
              </a:spcBef>
              <a:spcAft>
                <a:spcPts val="0"/>
              </a:spcAft>
              <a:buSzPts val="1900"/>
              <a:buChar char="●"/>
            </a:pPr>
            <a:r>
              <a:rPr lang="en" sz="1900"/>
              <a:t>Create a new branch where you are. This will save your commits and give then the new branch name</a:t>
            </a:r>
            <a:endParaRPr sz="1900"/>
          </a:p>
          <a:p>
            <a:pPr marL="457200" lvl="0" indent="-349250" algn="l" rtl="0"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lang="en" sz="1900"/>
              <a:t>Checkout the main branch</a:t>
            </a:r>
            <a:endParaRPr sz="1900"/>
          </a:p>
          <a:p>
            <a:pPr marL="457200" lvl="0" indent="-349250" algn="l" rtl="0"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lang="en" sz="1900"/>
              <a:t>Reset main back to before your commits. Count how many commits back you want to go, then reset. For example, if you’ve accidentally added 2 commits:</a:t>
            </a:r>
            <a:endParaRPr sz="1900"/>
          </a:p>
          <a:p>
            <a:pPr marL="45720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900"/>
              <a:t>	</a:t>
            </a:r>
            <a:r>
              <a:rPr lang="en" sz="1900">
                <a:latin typeface="Courier New"/>
                <a:ea typeface="Courier New"/>
                <a:cs typeface="Courier New"/>
                <a:sym typeface="Courier New"/>
              </a:rPr>
              <a:t>git reset --hard HEAD~2</a:t>
            </a:r>
            <a:endParaRPr sz="1900">
              <a:latin typeface="Courier New"/>
              <a:ea typeface="Courier New"/>
              <a:cs typeface="Courier New"/>
              <a:sym typeface="Courier New"/>
            </a:endParaRPr>
          </a:p>
          <a:p>
            <a:pPr marL="457200" lvl="0" indent="-349250" algn="l" rtl="0">
              <a:spcBef>
                <a:spcPts val="1200"/>
              </a:spcBef>
              <a:spcAft>
                <a:spcPts val="0"/>
              </a:spcAft>
              <a:buSzPts val="1900"/>
              <a:buChar char="●"/>
            </a:pPr>
            <a:r>
              <a:rPr lang="en" sz="1900"/>
              <a:t>Now you can checkout your new branch and continue with your changes</a:t>
            </a:r>
            <a:endParaRPr sz="1900"/>
          </a:p>
        </p:txBody>
      </p:sp>
      <p:grpSp>
        <p:nvGrpSpPr>
          <p:cNvPr id="276" name="Google Shape;276;p44"/>
          <p:cNvGrpSpPr/>
          <p:nvPr/>
        </p:nvGrpSpPr>
        <p:grpSpPr>
          <a:xfrm>
            <a:off x="3382625" y="3423825"/>
            <a:ext cx="3767700" cy="536400"/>
            <a:chOff x="3382625" y="3423825"/>
            <a:chExt cx="3767700" cy="536400"/>
          </a:xfrm>
        </p:grpSpPr>
        <p:sp>
          <p:nvSpPr>
            <p:cNvPr id="277" name="Google Shape;277;p44"/>
            <p:cNvSpPr txBox="1"/>
            <p:nvPr/>
          </p:nvSpPr>
          <p:spPr>
            <a:xfrm>
              <a:off x="3795125" y="3423825"/>
              <a:ext cx="33552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This says get rid of the commits entirely</a:t>
              </a:r>
              <a:endParaRPr/>
            </a:p>
          </p:txBody>
        </p:sp>
        <p:cxnSp>
          <p:nvCxnSpPr>
            <p:cNvPr id="278" name="Google Shape;278;p44"/>
            <p:cNvCxnSpPr>
              <a:stCxn id="277" idx="1"/>
            </p:cNvCxnSpPr>
            <p:nvPr/>
          </p:nvCxnSpPr>
          <p:spPr>
            <a:xfrm flipH="1">
              <a:off x="3382625" y="3623925"/>
              <a:ext cx="412500" cy="3363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"/>
                                        <p:tgtEl>
                                          <p:spTgt spid="2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"/>
                                        <p:tgtEl>
                                          <p:spTgt spid="2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"/>
                                        <p:tgtEl>
                                          <p:spTgt spid="2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"/>
                                        <p:tgtEl>
                                          <p:spTgt spid="27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"/>
                                        <p:tgtEl>
                                          <p:spTgt spid="27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"/>
                                        <p:tgtEl>
                                          <p:spTgt spid="27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"/>
                                        <p:tgtEl>
                                          <p:spTgt spid="2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4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Real-World Branch Notes</a:t>
            </a:r>
            <a:endParaRPr/>
          </a:p>
        </p:txBody>
      </p:sp>
      <p:sp>
        <p:nvSpPr>
          <p:cNvPr id="284" name="Google Shape;284;p4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dirty="0"/>
              <a:t>Conflicts are natural! There is nothing wrong</a:t>
            </a:r>
            <a:endParaRPr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dirty="0"/>
              <a:t>Name your branch something descriptive</a:t>
            </a:r>
            <a:endParaRPr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dirty="0"/>
              <a:t>Prefix your branch name with your user id</a:t>
            </a:r>
            <a:br>
              <a:rPr lang="en" dirty="0"/>
            </a:br>
            <a:r>
              <a:rPr lang="en"/>
              <a:t>    </a:t>
            </a:r>
            <a:r>
              <a:rPr lang="en">
                <a:latin typeface="Courier New"/>
                <a:ea typeface="Courier New"/>
                <a:cs typeface="Courier New"/>
                <a:sym typeface="Courier New"/>
              </a:rPr>
              <a:t>naomila/</a:t>
            </a:r>
            <a:r>
              <a:rPr lang="en" dirty="0">
                <a:latin typeface="Courier New"/>
                <a:ea typeface="Courier New"/>
                <a:cs typeface="Courier New"/>
                <a:sym typeface="Courier New"/>
              </a:rPr>
              <a:t>readmeUpdate</a:t>
            </a:r>
            <a:endParaRPr dirty="0">
              <a:latin typeface="Courier New"/>
              <a:ea typeface="Courier New"/>
              <a:cs typeface="Courier New"/>
              <a:sym typeface="Courier New"/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dirty="0"/>
              <a:t>Delete your branch when you’re done</a:t>
            </a:r>
            <a:endParaRPr dirty="0"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 dirty="0"/>
              <a:t>Configure auto-deletion in the repository</a:t>
            </a:r>
            <a:endParaRPr dirty="0"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 dirty="0"/>
              <a:t>Settings &gt; Automatically delete head branches</a:t>
            </a:r>
            <a:endParaRPr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4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Forking</a:t>
            </a:r>
            <a:endParaRPr/>
          </a:p>
        </p:txBody>
      </p:sp>
      <p:sp>
        <p:nvSpPr>
          <p:cNvPr id="290" name="Google Shape;290;p46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Another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solution!</a:t>
            </a:r>
            <a:endParaRPr/>
          </a:p>
        </p:txBody>
      </p:sp>
      <p:pic>
        <p:nvPicPr>
          <p:cNvPr id="291" name="Google Shape;291;p4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94913" y="1152475"/>
            <a:ext cx="3754175" cy="3754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4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Forking</a:t>
            </a:r>
            <a:endParaRPr/>
          </a:p>
        </p:txBody>
      </p:sp>
      <p:sp>
        <p:nvSpPr>
          <p:cNvPr id="297" name="Google Shape;297;p47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A totally new copy of the repository, which you can change and ask the original owners to “pull” back into their own version.</a:t>
            </a:r>
            <a:endParaRPr/>
          </a:p>
        </p:txBody>
      </p:sp>
      <p:pic>
        <p:nvPicPr>
          <p:cNvPr id="298" name="Google Shape;298;p4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04812" y="1895500"/>
            <a:ext cx="6534375" cy="3061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4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Forking</a:t>
            </a:r>
            <a:endParaRPr/>
          </a:p>
        </p:txBody>
      </p:sp>
      <p:sp>
        <p:nvSpPr>
          <p:cNvPr id="304" name="Google Shape;304;p48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  <p:pic>
        <p:nvPicPr>
          <p:cNvPr id="305" name="Google Shape;305;p4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6425" y="1152476"/>
            <a:ext cx="7991148" cy="3738049"/>
          </a:xfrm>
          <a:prstGeom prst="rect">
            <a:avLst/>
          </a:prstGeom>
          <a:noFill/>
          <a:ln>
            <a:noFill/>
          </a:ln>
        </p:spPr>
      </p:pic>
      <p:sp>
        <p:nvSpPr>
          <p:cNvPr id="306" name="Google Shape;306;p48"/>
          <p:cNvSpPr/>
          <p:nvPr/>
        </p:nvSpPr>
        <p:spPr>
          <a:xfrm>
            <a:off x="7183175" y="2148050"/>
            <a:ext cx="955800" cy="364500"/>
          </a:xfrm>
          <a:prstGeom prst="roundRect">
            <a:avLst>
              <a:gd name="adj" fmla="val 16667"/>
            </a:avLst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4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Forking</a:t>
            </a:r>
            <a:endParaRPr/>
          </a:p>
        </p:txBody>
      </p:sp>
      <p:sp>
        <p:nvSpPr>
          <p:cNvPr id="312" name="Google Shape;312;p49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Probably not in this class (use branches)!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Making changes to open-source libraries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688</TotalTime>
  <Words>1082</Words>
  <Application>Microsoft Office PowerPoint</Application>
  <PresentationFormat>On-screen Show (16:9)</PresentationFormat>
  <Paragraphs>185</Paragraphs>
  <Slides>37</Slides>
  <Notes>37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37</vt:i4>
      </vt:variant>
    </vt:vector>
  </HeadingPairs>
  <TitlesOfParts>
    <vt:vector size="40" baseType="lpstr">
      <vt:lpstr>Arial</vt:lpstr>
      <vt:lpstr>Courier New</vt:lpstr>
      <vt:lpstr>Simple Light</vt:lpstr>
      <vt:lpstr>Software Design for Data Science</vt:lpstr>
      <vt:lpstr>Review</vt:lpstr>
      <vt:lpstr>Review</vt:lpstr>
      <vt:lpstr>Review</vt:lpstr>
      <vt:lpstr>Exercise</vt:lpstr>
      <vt:lpstr>Exercise</vt:lpstr>
      <vt:lpstr>Exercise</vt:lpstr>
      <vt:lpstr>PowerPoint Presentation</vt:lpstr>
      <vt:lpstr>PowerPoint Presentation</vt:lpstr>
      <vt:lpstr>Merge conflicts</vt:lpstr>
      <vt:lpstr>Fixing your merge conflict</vt:lpstr>
      <vt:lpstr>Collaborating Scenario</vt:lpstr>
      <vt:lpstr>Branches</vt:lpstr>
      <vt:lpstr>Branch commands</vt:lpstr>
      <vt:lpstr>Branches: visual</vt:lpstr>
      <vt:lpstr>Merges</vt:lpstr>
      <vt:lpstr>Pull requests</vt:lpstr>
      <vt:lpstr>Submitting a pull request</vt:lpstr>
      <vt:lpstr>Branches on GitHub</vt:lpstr>
      <vt:lpstr>Merges</vt:lpstr>
      <vt:lpstr>Merging through the GitHub UI for a Pull Request</vt:lpstr>
      <vt:lpstr>Merge conflicts</vt:lpstr>
      <vt:lpstr>Merge conflicts: merging main into your branch</vt:lpstr>
      <vt:lpstr>PowerPoint Presentation</vt:lpstr>
      <vt:lpstr>Merging main into your branch</vt:lpstr>
      <vt:lpstr>Merge conflicts: rebasing</vt:lpstr>
      <vt:lpstr>PowerPoint Presentation</vt:lpstr>
      <vt:lpstr>Rebasing</vt:lpstr>
      <vt:lpstr>Rebasing</vt:lpstr>
      <vt:lpstr>Standard Collaborative Flow</vt:lpstr>
      <vt:lpstr>Exercise</vt:lpstr>
      <vt:lpstr>Common mistake</vt:lpstr>
      <vt:lpstr>Real-World Branch Notes</vt:lpstr>
      <vt:lpstr>Forking</vt:lpstr>
      <vt:lpstr>Forking</vt:lpstr>
      <vt:lpstr>Forking</vt:lpstr>
      <vt:lpstr>Forking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Naomi Alterman</cp:lastModifiedBy>
  <cp:revision>9</cp:revision>
  <dcterms:modified xsi:type="dcterms:W3CDTF">2026-02-03T07:40:42Z</dcterms:modified>
</cp:coreProperties>
</file>