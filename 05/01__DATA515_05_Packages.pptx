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442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ee0c99e000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1ee0c99e000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ee0c99e000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ee0c99e000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ee0c99e000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1ee0c99e000_0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ee0c99e000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1ee0c99e000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ee0c99e000_0_2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1ee0c99e000_0_2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ee0c99e000_0_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1ee0c99e000_0_2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ee0c99e000_0_2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1ee0c99e000_0_2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ee0c99e000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1ee0c99e000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ee0c99e000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1ee0c99e000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1ee0c99e000_0_2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1ee0c99e000_0_2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1ee0c99e000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1ee0c99e000_0_1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1ee0c99e00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1ee0c99e00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ee0c99e000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1ee0c99e000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ee0c99e000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1ee0c99e000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1ee0c99e000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1ee0c99e000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1ee0c99e000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1ee0c99e000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1ee0c99e000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1ee0c99e000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ee0c99e000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1ee0c99e000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ee0c99e000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1ee0c99e000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1ee0c99e000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1ee0c99e000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1ee0c99e000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1ee0c99e000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1ee0c99e000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1ee0c99e000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1ee0c99e000_0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1ee0c99e000_0_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ee0c99e000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1ee0c99e000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1ee0c99e000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1ee0c99e000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1ee0c99e000_0_1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1ee0c99e000_0_1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1ee0c99e000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1ee0c99e000_0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66626dee3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266626dee3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2f31d21c0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2f31d21c0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b="22311"/>
          <a:stretch/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525" y="114901"/>
            <a:ext cx="3203124" cy="21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36596" y="4663214"/>
            <a:ext cx="584554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 txBox="1">
            <a:spLocks noGrp="1"/>
          </p:cNvSpPr>
          <p:nvPr>
            <p:ph type="subTitle" idx="2"/>
          </p:nvPr>
        </p:nvSpPr>
        <p:spPr>
          <a:xfrm>
            <a:off x="311700" y="366367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i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 rotWithShape="1">
          <a:blip r:embed="rId2">
            <a:alphaModFix/>
          </a:blip>
          <a:srcRect b="22311"/>
          <a:stretch/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525" y="114901"/>
            <a:ext cx="3203124" cy="21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36596" y="4663214"/>
            <a:ext cx="584554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95825" y="95825"/>
            <a:ext cx="8925324" cy="49610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choosealicense.com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ython/cpython/tree/3.11/Lib/urllib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google.com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ython/cpython/tree/3.11/Lib/tomllib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ython/cpython/tree/3.11/Lib/json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ython/cpython/blob/3.11/Lib/collections/__init__.py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/>
              <a:t>Software Design for Data Science</a:t>
            </a:r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Modules, Packages, and Imports</a:t>
            </a:r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2"/>
          </p:nvPr>
        </p:nvSpPr>
        <p:spPr>
          <a:xfrm>
            <a:off x="311700" y="366367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-US" dirty="0"/>
              <a:t>Naomi Alterman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" dirty="0"/>
              <a:t>University of Washington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" dirty="0"/>
              <a:t>February 3, 2026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Definitions</a:t>
            </a:r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87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 b="1"/>
              <a:t>Object</a:t>
            </a:r>
            <a:r>
              <a:rPr lang="en" sz="2500"/>
              <a:t>: Most things in Python, e.g. function, variable, class.</a:t>
            </a:r>
            <a:endParaRPr sz="2500"/>
          </a:p>
          <a:p>
            <a:pPr marL="457200" lvl="0" indent="-387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 b="1"/>
              <a:t>Module</a:t>
            </a:r>
            <a:r>
              <a:rPr lang="en" sz="2500"/>
              <a:t>: A *.py script; carries the name as the file.</a:t>
            </a:r>
            <a:endParaRPr sz="2500"/>
          </a:p>
          <a:p>
            <a:pPr marL="457200" lvl="0" indent="-387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 b="1"/>
              <a:t>Namespace</a:t>
            </a:r>
            <a:r>
              <a:rPr lang="en" sz="2500"/>
              <a:t>: A mapping of unique names to objects.</a:t>
            </a:r>
            <a:endParaRPr sz="2500"/>
          </a:p>
          <a:p>
            <a:pPr marL="457200" lvl="0" indent="-387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 b="1"/>
              <a:t>Package</a:t>
            </a:r>
            <a:r>
              <a:rPr lang="en" sz="2500"/>
              <a:t>: A directory-like concept that can hold multiple Python objects, modules, or subpackages under same namespace.</a:t>
            </a:r>
            <a:endParaRPr sz="25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"/>
                                        <p:tgtEl>
                                          <p:spTgt spid="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"/>
                                        <p:tgtEl>
                                          <p:spTgt spid="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"/>
                                        <p:tgtEl>
                                          <p:spTgt spid="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Definitions: Example</a:t>
            </a:r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8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 i="1"/>
              <a:t>Example from https://www.programiz.com</a:t>
            </a:r>
            <a:endParaRPr sz="1000" i="1"/>
          </a:p>
        </p:txBody>
      </p:sp>
      <p:pic>
        <p:nvPicPr>
          <p:cNvPr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9372" y="1017725"/>
            <a:ext cx="5425265" cy="3965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8" name="Google Shape;78;p15"/>
          <p:cNvGrpSpPr/>
          <p:nvPr/>
        </p:nvGrpSpPr>
        <p:grpSpPr>
          <a:xfrm>
            <a:off x="915850" y="3149800"/>
            <a:ext cx="2612100" cy="1426800"/>
            <a:chOff x="915850" y="3149800"/>
            <a:chExt cx="2612100" cy="1426800"/>
          </a:xfrm>
        </p:grpSpPr>
        <p:sp>
          <p:nvSpPr>
            <p:cNvPr id="79" name="Google Shape;79;p15"/>
            <p:cNvSpPr txBox="1"/>
            <p:nvPr/>
          </p:nvSpPr>
          <p:spPr>
            <a:xfrm>
              <a:off x="915850" y="3261850"/>
              <a:ext cx="13281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/>
                <a:t>Modules (files)</a:t>
              </a:r>
              <a:endParaRPr sz="1600"/>
            </a:p>
          </p:txBody>
        </p:sp>
        <p:cxnSp>
          <p:nvCxnSpPr>
            <p:cNvPr id="80" name="Google Shape;80;p15"/>
            <p:cNvCxnSpPr>
              <a:stCxn id="79" idx="3"/>
            </p:cNvCxnSpPr>
            <p:nvPr/>
          </p:nvCxnSpPr>
          <p:spPr>
            <a:xfrm rot="10800000" flipH="1">
              <a:off x="2243950" y="3564700"/>
              <a:ext cx="1271100" cy="3570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1" name="Google Shape;81;p15"/>
            <p:cNvCxnSpPr>
              <a:stCxn id="79" idx="3"/>
            </p:cNvCxnSpPr>
            <p:nvPr/>
          </p:nvCxnSpPr>
          <p:spPr>
            <a:xfrm>
              <a:off x="2243950" y="3600400"/>
              <a:ext cx="1284000" cy="47010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2" name="Google Shape;82;p15"/>
            <p:cNvCxnSpPr>
              <a:stCxn id="79" idx="3"/>
            </p:cNvCxnSpPr>
            <p:nvPr/>
          </p:nvCxnSpPr>
          <p:spPr>
            <a:xfrm rot="10800000" flipH="1">
              <a:off x="2243950" y="3149800"/>
              <a:ext cx="1219200" cy="45060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3" name="Google Shape;83;p15"/>
            <p:cNvCxnSpPr>
              <a:stCxn id="79" idx="3"/>
            </p:cNvCxnSpPr>
            <p:nvPr/>
          </p:nvCxnSpPr>
          <p:spPr>
            <a:xfrm>
              <a:off x="2243950" y="3600400"/>
              <a:ext cx="1257900" cy="97620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84" name="Google Shape;84;p15"/>
          <p:cNvGrpSpPr/>
          <p:nvPr/>
        </p:nvGrpSpPr>
        <p:grpSpPr>
          <a:xfrm>
            <a:off x="1335925" y="376125"/>
            <a:ext cx="7496375" cy="4622825"/>
            <a:chOff x="1335925" y="376125"/>
            <a:chExt cx="7496375" cy="4622825"/>
          </a:xfrm>
        </p:grpSpPr>
        <p:sp>
          <p:nvSpPr>
            <p:cNvPr id="85" name="Google Shape;85;p15"/>
            <p:cNvSpPr/>
            <p:nvPr/>
          </p:nvSpPr>
          <p:spPr>
            <a:xfrm>
              <a:off x="1335925" y="1001750"/>
              <a:ext cx="7366800" cy="39972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5"/>
            <p:cNvSpPr txBox="1"/>
            <p:nvPr/>
          </p:nvSpPr>
          <p:spPr>
            <a:xfrm>
              <a:off x="6705300" y="376125"/>
              <a:ext cx="2127000" cy="1416000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</a:rPr>
                <a:t>when running </a:t>
              </a:r>
              <a:r>
                <a:rPr lang="en" sz="16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import game</a:t>
              </a:r>
              <a:endParaRPr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600">
                  <a:solidFill>
                    <a:schemeClr val="dk1"/>
                  </a:solidFill>
                </a:rPr>
                <a:t>all objects in all modules are in the </a:t>
              </a:r>
              <a:r>
                <a:rPr lang="en" sz="16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game</a:t>
              </a:r>
              <a:r>
                <a:rPr lang="en" sz="1600">
                  <a:solidFill>
                    <a:schemeClr val="dk1"/>
                  </a:solidFill>
                </a:rPr>
                <a:t> </a:t>
              </a:r>
              <a:r>
                <a:rPr lang="en" sz="1600" u="sng">
                  <a:solidFill>
                    <a:schemeClr val="dk1"/>
                  </a:solidFill>
                </a:rPr>
                <a:t>namespace</a:t>
              </a:r>
              <a:endParaRPr sz="1600" u="sng"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>
            <a:spLocks noGrp="1"/>
          </p:cNvSpPr>
          <p:nvPr>
            <p:ph type="title"/>
          </p:nvPr>
        </p:nvSpPr>
        <p:spPr>
          <a:xfrm>
            <a:off x="246850" y="22854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Imports</a:t>
            </a:r>
            <a:endParaRPr/>
          </a:p>
        </p:txBody>
      </p:sp>
      <p:sp>
        <p:nvSpPr>
          <p:cNvPr id="97" name="Google Shape;9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There are 4 different syntaxes for writing import statements.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9144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 </a:t>
            </a:r>
            <a:r>
              <a:rPr lang="en" sz="1700">
                <a:latin typeface="Courier New"/>
                <a:ea typeface="Courier New"/>
                <a:cs typeface="Courier New"/>
                <a:sym typeface="Courier New"/>
              </a:rPr>
              <a:t>import &lt;package&gt;</a:t>
            </a:r>
            <a:endParaRPr sz="1700"/>
          </a:p>
          <a:p>
            <a:pPr marL="1371600" lvl="1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AutoNum type="alphaLcPeriod"/>
            </a:pPr>
            <a:r>
              <a:rPr lang="en" sz="1700"/>
              <a:t>Brings </a:t>
            </a:r>
            <a:r>
              <a:rPr lang="en" sz="1700">
                <a:latin typeface="Courier New"/>
                <a:ea typeface="Courier New"/>
                <a:cs typeface="Courier New"/>
                <a:sym typeface="Courier New"/>
              </a:rPr>
              <a:t>&lt;package&gt;</a:t>
            </a:r>
            <a:r>
              <a:rPr lang="en" sz="1700"/>
              <a:t> into the current namespace</a:t>
            </a:r>
            <a:endParaRPr sz="1700"/>
          </a:p>
          <a:p>
            <a:pPr marL="91440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/>
              <a:t> </a:t>
            </a:r>
            <a:r>
              <a:rPr lang="en" sz="1700">
                <a:latin typeface="Courier New"/>
                <a:ea typeface="Courier New"/>
                <a:cs typeface="Courier New"/>
                <a:sym typeface="Courier New"/>
              </a:rPr>
              <a:t>import &lt;module&gt;</a:t>
            </a:r>
            <a:endParaRPr sz="1700">
              <a:latin typeface="Courier New"/>
              <a:ea typeface="Courier New"/>
              <a:cs typeface="Courier New"/>
              <a:sym typeface="Courier New"/>
            </a:endParaRPr>
          </a:p>
          <a:p>
            <a:pPr marL="1371600" lvl="1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AutoNum type="alphaLcPeriod"/>
            </a:pPr>
            <a:r>
              <a:rPr lang="en" sz="1700"/>
              <a:t>Brings </a:t>
            </a:r>
            <a:r>
              <a:rPr lang="en" sz="1700">
                <a:latin typeface="Courier New"/>
                <a:ea typeface="Courier New"/>
                <a:cs typeface="Courier New"/>
                <a:sym typeface="Courier New"/>
              </a:rPr>
              <a:t>&lt;module&gt;</a:t>
            </a:r>
            <a:r>
              <a:rPr lang="en" sz="1700"/>
              <a:t> into the current namespace</a:t>
            </a:r>
            <a:endParaRPr sz="170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/>
              <a:t> </a:t>
            </a:r>
            <a:r>
              <a:rPr lang="en" sz="1700">
                <a:latin typeface="Courier New"/>
                <a:ea typeface="Courier New"/>
                <a:cs typeface="Courier New"/>
                <a:sym typeface="Courier New"/>
              </a:rPr>
              <a:t>from &lt;package&gt; import &lt;module or subpackage or object&gt;</a:t>
            </a:r>
            <a:endParaRPr sz="1700"/>
          </a:p>
          <a:p>
            <a:pPr marL="1371600" lvl="1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AutoNum type="alphaLcPeriod"/>
            </a:pPr>
            <a:r>
              <a:rPr lang="en" sz="1700"/>
              <a:t>Brings </a:t>
            </a:r>
            <a:r>
              <a:rPr lang="en" sz="1700">
                <a:latin typeface="Courier New"/>
                <a:ea typeface="Courier New"/>
                <a:cs typeface="Courier New"/>
                <a:sym typeface="Courier New"/>
              </a:rPr>
              <a:t>&lt;module or subpackage or object&gt;</a:t>
            </a:r>
            <a:r>
              <a:rPr lang="en" sz="1700"/>
              <a:t> into the current namespace</a:t>
            </a:r>
            <a:endParaRPr sz="1700"/>
          </a:p>
          <a:p>
            <a:pPr marL="91440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/>
              <a:t> </a:t>
            </a:r>
            <a:r>
              <a:rPr lang="en" sz="1700">
                <a:latin typeface="Courier New"/>
                <a:ea typeface="Courier New"/>
                <a:cs typeface="Courier New"/>
                <a:sym typeface="Courier New"/>
              </a:rPr>
              <a:t>from &lt;module&gt; import &lt;object&gt;</a:t>
            </a:r>
            <a:endParaRPr sz="1700">
              <a:latin typeface="Courier New"/>
              <a:ea typeface="Courier New"/>
              <a:cs typeface="Courier New"/>
              <a:sym typeface="Courier New"/>
            </a:endParaRPr>
          </a:p>
          <a:p>
            <a:pPr marL="1371600" lvl="1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AutoNum type="alphaLcPeriod"/>
            </a:pPr>
            <a:r>
              <a:rPr lang="en" sz="1700"/>
              <a:t>Brings </a:t>
            </a:r>
            <a:r>
              <a:rPr lang="en" sz="1700">
                <a:latin typeface="Courier New"/>
                <a:ea typeface="Courier New"/>
                <a:cs typeface="Courier New"/>
                <a:sym typeface="Courier New"/>
              </a:rPr>
              <a:t>&lt;object&gt;</a:t>
            </a:r>
            <a:r>
              <a:rPr lang="en" sz="1700"/>
              <a:t> into the current namespace</a:t>
            </a:r>
            <a:endParaRPr sz="17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"/>
                                        <p:tgtEl>
                                          <p:spTgt spid="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"/>
                                        <p:tgtEl>
                                          <p:spTgt spid="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"/>
                                        <p:tgtEl>
                                          <p:spTgt spid="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"/>
                                        <p:tgtEl>
                                          <p:spTgt spid="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"/>
                                        <p:tgtEl>
                                          <p:spTgt spid="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"/>
                                        <p:tgtEl>
                                          <p:spTgt spid="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"/>
                                        <p:tgtEl>
                                          <p:spTgt spid="9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"/>
                                        <p:tgtEl>
                                          <p:spTgt spid="9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"/>
                                        <p:tgtEl>
                                          <p:spTgt spid="9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imports</a:t>
            </a:r>
            <a:endParaRPr/>
          </a:p>
        </p:txBody>
      </p:sp>
      <p:sp>
        <p:nvSpPr>
          <p:cNvPr id="103" name="Google Shape;103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Let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"/>
              <a:t> be whatever name comes after import.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"/>
              <a:t> is the name of a module or package, then to use objects defined in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"/>
              <a:t>, you have to write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X.object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	# for these cases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Courier New"/>
                <a:ea typeface="Courier New"/>
                <a:cs typeface="Courier New"/>
                <a:sym typeface="Courier New"/>
              </a:rPr>
              <a:t>import &lt;package&gt;</a:t>
            </a:r>
            <a:endParaRPr sz="1700"/>
          </a:p>
          <a:p>
            <a:pPr marL="45720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Courier New"/>
                <a:ea typeface="Courier New"/>
                <a:cs typeface="Courier New"/>
                <a:sym typeface="Courier New"/>
              </a:rPr>
              <a:t>import &lt;module&gt;</a:t>
            </a:r>
            <a:endParaRPr sz="170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Courier New"/>
                <a:ea typeface="Courier New"/>
                <a:cs typeface="Courier New"/>
                <a:sym typeface="Courier New"/>
              </a:rPr>
              <a:t>from &lt;package&gt; import &lt;module or subpackage&gt;</a:t>
            </a:r>
            <a:endParaRPr sz="170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"/>
              <a:t> is a variable name, then it can be used directly.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"/>
              <a:t> is a function name, then it can be invoked with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X()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Courier New"/>
                <a:ea typeface="Courier New"/>
                <a:cs typeface="Courier New"/>
                <a:sym typeface="Courier New"/>
              </a:rPr>
              <a:t>from &lt;package&gt; import &lt;object&gt;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" sz="1700">
                <a:latin typeface="Courier New"/>
                <a:ea typeface="Courier New"/>
                <a:cs typeface="Courier New"/>
                <a:sym typeface="Courier New"/>
              </a:rPr>
              <a:t>from &lt;module&gt; import &lt;object&gt;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imports</a:t>
            </a:r>
            <a:endParaRPr/>
          </a:p>
        </p:txBody>
      </p:sp>
      <p:sp>
        <p:nvSpPr>
          <p:cNvPr id="109" name="Google Shape;109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from &lt;module&gt; import &lt;object1&gt;, &lt;object2&gt;, &lt;object3&gt;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from &lt;module&gt; import (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   &lt;object1&gt;,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   &lt;object2&gt;,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   &lt;object3&gt;,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 as</a:t>
            </a:r>
            <a:endParaRPr/>
          </a:p>
        </p:txBody>
      </p:sp>
      <p:sp>
        <p:nvSpPr>
          <p:cNvPr id="115" name="Google Shape;115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Optionally,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as Y</a:t>
            </a:r>
            <a:r>
              <a:rPr lang="en"/>
              <a:t> can be added after any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import X</a:t>
            </a:r>
            <a:r>
              <a:rPr lang="en"/>
              <a:t> statement: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import X as Y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from X import (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   foo as Y,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   bar as Z,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 order of search</a:t>
            </a:r>
            <a:endParaRPr/>
          </a:p>
        </p:txBody>
      </p:sp>
      <p:sp>
        <p:nvSpPr>
          <p:cNvPr id="121" name="Google Shape;121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How does Python find modules/packages to import?</a:t>
            </a:r>
            <a:endParaRPr sz="2000"/>
          </a:p>
          <a:p>
            <a:pPr marL="457200" lvl="0" indent="-355600" algn="l" rtl="0">
              <a:spcBef>
                <a:spcPts val="120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Python Standard Library packages/modules (eg </a:t>
            </a:r>
            <a:r>
              <a:rPr lang="en" sz="2000">
                <a:latin typeface="Courier New"/>
                <a:ea typeface="Courier New"/>
                <a:cs typeface="Courier New"/>
                <a:sym typeface="Courier New"/>
              </a:rPr>
              <a:t>math</a:t>
            </a:r>
            <a:r>
              <a:rPr lang="en" sz="2000"/>
              <a:t>, </a:t>
            </a:r>
            <a:r>
              <a:rPr lang="en" sz="2000">
                <a:latin typeface="Courier New"/>
                <a:ea typeface="Courier New"/>
                <a:cs typeface="Courier New"/>
                <a:sym typeface="Courier New"/>
              </a:rPr>
              <a:t>sys</a:t>
            </a:r>
            <a:r>
              <a:rPr lang="en" sz="2000"/>
              <a:t>)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Packages/modules in </a:t>
            </a:r>
            <a:r>
              <a:rPr lang="en" sz="2000">
                <a:latin typeface="Courier New"/>
                <a:ea typeface="Courier New"/>
                <a:cs typeface="Courier New"/>
                <a:sym typeface="Courier New"/>
              </a:rPr>
              <a:t>sys.path</a:t>
            </a:r>
            <a:r>
              <a:rPr lang="en" sz="2000"/>
              <a:t>:</a:t>
            </a:r>
            <a:endParaRPr sz="200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AutoNum type="alphaLcPeriod"/>
            </a:pPr>
            <a:r>
              <a:rPr lang="en" sz="1600"/>
              <a:t>If run with the Python interpreter (ie just </a:t>
            </a: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r>
              <a:rPr lang="en" sz="1600"/>
              <a:t>)</a:t>
            </a:r>
            <a:endParaRPr sz="1600"/>
          </a:p>
          <a:p>
            <a:pPr marL="1371600" lvl="2" indent="-330200" algn="l" rtl="0">
              <a:spcBef>
                <a:spcPts val="0"/>
              </a:spcBef>
              <a:spcAft>
                <a:spcPts val="0"/>
              </a:spcAft>
              <a:buSzPts val="1600"/>
              <a:buAutoNum type="romanLcPeriod"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sys.path[0]</a:t>
            </a:r>
            <a:r>
              <a:rPr lang="en" sz="1600"/>
              <a:t> is the empty string </a:t>
            </a: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’’</a:t>
            </a:r>
            <a:r>
              <a:rPr lang="en" sz="1600"/>
              <a:t>, which means the current working directory</a:t>
            </a:r>
            <a:endParaRPr sz="160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AutoNum type="alphaLcPeriod"/>
            </a:pPr>
            <a:r>
              <a:rPr lang="en" sz="1600"/>
              <a:t>If run with </a:t>
            </a: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python &lt;module.py&gt;</a:t>
            </a:r>
            <a:r>
              <a:rPr lang="en" sz="1600"/>
              <a:t>:</a:t>
            </a:r>
            <a:endParaRPr sz="1600"/>
          </a:p>
          <a:p>
            <a:pPr marL="1371600" lvl="2" indent="-330200" algn="l" rtl="0">
              <a:spcBef>
                <a:spcPts val="0"/>
              </a:spcBef>
              <a:spcAft>
                <a:spcPts val="0"/>
              </a:spcAft>
              <a:buSzPts val="1600"/>
              <a:buAutoNum type="romanLcPeriod"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sys.path[0]</a:t>
            </a:r>
            <a:r>
              <a:rPr lang="en" sz="1600"/>
              <a:t> is the path to </a:t>
            </a: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&lt;module&gt;.py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AutoNum type="alphaLcPeriod"/>
            </a:pPr>
            <a:r>
              <a:rPr lang="en" sz="1600"/>
              <a:t>Directories in </a:t>
            </a: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PYTHONPATH</a:t>
            </a:r>
            <a:r>
              <a:rPr lang="en" sz="1600"/>
              <a:t> environment variable</a:t>
            </a:r>
            <a:endParaRPr sz="160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AutoNum type="alphaLcPeriod"/>
            </a:pPr>
            <a:r>
              <a:rPr lang="en" sz="1600"/>
              <a:t>Default </a:t>
            </a: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sys.path</a:t>
            </a:r>
            <a:r>
              <a:rPr lang="en" sz="1600"/>
              <a:t> locations - dependent on Python installation</a:t>
            </a:r>
            <a:endParaRPr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Absolute vs relative imports</a:t>
            </a:r>
            <a:endParaRPr/>
          </a:p>
        </p:txBody>
      </p:sp>
      <p:sp>
        <p:nvSpPr>
          <p:cNvPr id="127" name="Google Shape;127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82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b="1">
                <a:solidFill>
                  <a:schemeClr val="dk1"/>
                </a:solidFill>
              </a:rPr>
              <a:t>Absolute Imports (works in Python 2 and 3)</a:t>
            </a:r>
            <a:r>
              <a:rPr lang="en" sz="2400">
                <a:solidFill>
                  <a:schemeClr val="dk1"/>
                </a:solidFill>
              </a:rPr>
              <a:t>: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Import from the top-level Python package. e.g., </a:t>
            </a:r>
            <a:r>
              <a:rPr lang="en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import &lt;package&gt;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b="1">
                <a:solidFill>
                  <a:schemeClr val="dk1"/>
                </a:solidFill>
              </a:rPr>
              <a:t>Relative Imports:</a:t>
            </a:r>
            <a:endParaRPr sz="24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Import based on your </a:t>
            </a:r>
            <a:r>
              <a:rPr lang="en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sys.path</a:t>
            </a:r>
            <a:r>
              <a:rPr lang="en" sz="2000">
                <a:solidFill>
                  <a:schemeClr val="dk1"/>
                </a:solidFill>
              </a:rPr>
              <a:t> location.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b="1" i="1">
                <a:solidFill>
                  <a:schemeClr val="dk1"/>
                </a:solidFill>
              </a:rPr>
              <a:t>Explicit </a:t>
            </a:r>
            <a:r>
              <a:rPr lang="en" sz="2400" b="1">
                <a:solidFill>
                  <a:schemeClr val="dk1"/>
                </a:solidFill>
              </a:rPr>
              <a:t>Relative Imports (works in Python 2 and 3)</a:t>
            </a:r>
            <a:r>
              <a:rPr lang="en" sz="2400">
                <a:solidFill>
                  <a:schemeClr val="dk1"/>
                </a:solidFill>
              </a:rPr>
              <a:t>: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Import using . (current directory) and .. (parent directory) notation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b="1" i="1">
                <a:solidFill>
                  <a:schemeClr val="dk1"/>
                </a:solidFill>
              </a:rPr>
              <a:t>Implicit </a:t>
            </a:r>
            <a:r>
              <a:rPr lang="en" sz="2400" b="1">
                <a:solidFill>
                  <a:schemeClr val="dk1"/>
                </a:solidFill>
              </a:rPr>
              <a:t>Relative Imports (only Python 2)</a:t>
            </a:r>
            <a:r>
              <a:rPr lang="en" sz="2400">
                <a:solidFill>
                  <a:schemeClr val="dk1"/>
                </a:solidFill>
              </a:rPr>
              <a:t>: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Discontinued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Wildcard imports</a:t>
            </a:r>
            <a:endParaRPr/>
          </a:p>
        </p:txBody>
      </p:sp>
      <p:sp>
        <p:nvSpPr>
          <p:cNvPr id="133" name="Google Shape;133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Bringing EVERYTHING from a package or module into the current namespace</a:t>
            </a:r>
            <a:endParaRPr/>
          </a:p>
          <a:p>
            <a:pPr marL="9144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latin typeface="Courier New"/>
                <a:ea typeface="Courier New"/>
                <a:cs typeface="Courier New"/>
                <a:sym typeface="Courier New"/>
              </a:rPr>
              <a:t>from &lt;package&gt; import *</a:t>
            </a:r>
            <a:endParaRPr sz="17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BAD BAD BAD! Why?</a:t>
            </a:r>
            <a:endParaRPr/>
          </a:p>
          <a:p>
            <a:pPr marL="9144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Conflicts between names defined locally and the ones imported</a:t>
            </a:r>
            <a:endParaRPr/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Reduces code readability - where did a name come from?</a:t>
            </a:r>
            <a:endParaRPr/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Clutters the local namespace, which makes debugging more difficult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Example in the materials for today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"/>
                                        <p:tgtEl>
                                          <p:spTgt spid="1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"/>
                                        <p:tgtEl>
                                          <p:spTgt spid="1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"/>
                                        <p:tgtEl>
                                          <p:spTgt spid="1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"/>
                                        <p:tgtEl>
                                          <p:spTgt spid="1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"/>
                                        <p:tgtEl>
                                          <p:spTgt spid="1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"/>
                                        <p:tgtEl>
                                          <p:spTgt spid="1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"/>
                                        <p:tgtEl>
                                          <p:spTgt spid="1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>
            <a:spLocks noGrp="1"/>
          </p:cNvSpPr>
          <p:nvPr>
            <p:ph type="title"/>
          </p:nvPr>
        </p:nvSpPr>
        <p:spPr>
          <a:xfrm>
            <a:off x="246850" y="22854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Directory Structure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codebase in a git repository</a:t>
            </a:r>
            <a:endParaRPr/>
          </a:p>
        </p:txBody>
      </p:sp>
      <p:sp>
        <p:nvSpPr>
          <p:cNvPr id="144" name="Google Shape;144;p25"/>
          <p:cNvSpPr txBox="1">
            <a:spLocks noGrp="1"/>
          </p:cNvSpPr>
          <p:nvPr>
            <p:ph type="body" idx="1"/>
          </p:nvPr>
        </p:nvSpPr>
        <p:spPr>
          <a:xfrm>
            <a:off x="311700" y="1017725"/>
            <a:ext cx="8520600" cy="398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Courier New"/>
                <a:ea typeface="Courier New"/>
                <a:cs typeface="Courier New"/>
                <a:sym typeface="Courier New"/>
              </a:rPr>
              <a:t>myproject/</a:t>
            </a:r>
            <a:endParaRPr sz="19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Courier New"/>
                <a:ea typeface="Courier New"/>
                <a:cs typeface="Courier New"/>
                <a:sym typeface="Courier New"/>
              </a:rPr>
              <a:t>README.md</a:t>
            </a:r>
            <a:endParaRPr sz="19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Courier New"/>
                <a:ea typeface="Courier New"/>
                <a:cs typeface="Courier New"/>
                <a:sym typeface="Courier New"/>
              </a:rPr>
              <a:t>LICENSE</a:t>
            </a:r>
            <a:endParaRPr sz="19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Courier New"/>
                <a:ea typeface="Courier New"/>
                <a:cs typeface="Courier New"/>
                <a:sym typeface="Courier New"/>
              </a:rPr>
              <a:t>myproject/</a:t>
            </a:r>
            <a:endParaRPr sz="19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Courier New"/>
                <a:ea typeface="Courier New"/>
                <a:cs typeface="Courier New"/>
                <a:sym typeface="Courier New"/>
              </a:rPr>
              <a:t>	__init__.py</a:t>
            </a:r>
            <a:endParaRPr sz="19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Courier New"/>
                <a:ea typeface="Courier New"/>
                <a:cs typeface="Courier New"/>
                <a:sym typeface="Courier New"/>
              </a:rPr>
              <a:t>	core.py</a:t>
            </a:r>
            <a:endParaRPr sz="19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Courier New"/>
                <a:ea typeface="Courier New"/>
                <a:cs typeface="Courier New"/>
                <a:sym typeface="Courier New"/>
              </a:rPr>
              <a:t>	subpackage/</a:t>
            </a:r>
            <a:endParaRPr sz="19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Courier New"/>
                <a:ea typeface="Courier New"/>
                <a:cs typeface="Courier New"/>
                <a:sym typeface="Courier New"/>
              </a:rPr>
              <a:t>		__init__.py</a:t>
            </a:r>
            <a:endParaRPr sz="19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Courier New"/>
                <a:ea typeface="Courier New"/>
                <a:cs typeface="Courier New"/>
                <a:sym typeface="Courier New"/>
              </a:rPr>
              <a:t>		subpackage.py</a:t>
            </a:r>
            <a:endParaRPr sz="19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Courier New"/>
                <a:ea typeface="Courier New"/>
                <a:cs typeface="Courier New"/>
                <a:sym typeface="Courier New"/>
              </a:rPr>
              <a:t>	submodule/</a:t>
            </a:r>
            <a:endParaRPr sz="19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latin typeface="Courier New"/>
                <a:ea typeface="Courier New"/>
                <a:cs typeface="Courier New"/>
                <a:sym typeface="Courier New"/>
              </a:rPr>
              <a:t>		submodule.py</a:t>
            </a:r>
            <a:endParaRPr sz="19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Courier New"/>
                <a:ea typeface="Courier New"/>
                <a:cs typeface="Courier New"/>
                <a:sym typeface="Courier New"/>
              </a:rPr>
              <a:t>	tests/</a:t>
            </a:r>
            <a:endParaRPr sz="19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Courier New"/>
                <a:ea typeface="Courier New"/>
                <a:cs typeface="Courier New"/>
                <a:sym typeface="Courier New"/>
              </a:rPr>
              <a:t>		__init__.py</a:t>
            </a:r>
            <a:endParaRPr sz="19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Courier New"/>
                <a:ea typeface="Courier New"/>
                <a:cs typeface="Courier New"/>
                <a:sym typeface="Courier New"/>
              </a:rPr>
              <a:t>		test_core.py</a:t>
            </a:r>
            <a:endParaRPr sz="19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codebase in a git repository</a:t>
            </a:r>
            <a:endParaRPr/>
          </a:p>
        </p:txBody>
      </p:sp>
      <p:sp>
        <p:nvSpPr>
          <p:cNvPr id="150" name="Google Shape;150;p26"/>
          <p:cNvSpPr txBox="1">
            <a:spLocks noGrp="1"/>
          </p:cNvSpPr>
          <p:nvPr>
            <p:ph type="body" idx="1"/>
          </p:nvPr>
        </p:nvSpPr>
        <p:spPr>
          <a:xfrm>
            <a:off x="311700" y="1017725"/>
            <a:ext cx="8520600" cy="398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rgbClr val="980000"/>
                </a:solidFill>
                <a:latin typeface="Courier New"/>
                <a:ea typeface="Courier New"/>
                <a:cs typeface="Courier New"/>
                <a:sym typeface="Courier New"/>
              </a:rPr>
              <a:t>myproject/</a:t>
            </a:r>
            <a:endParaRPr sz="1900" b="1">
              <a:solidFill>
                <a:srgbClr val="98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README.md</a:t>
            </a:r>
            <a:endParaRPr sz="19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LICENSE</a:t>
            </a:r>
            <a:endParaRPr sz="19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myproject /</a:t>
            </a:r>
            <a:endParaRPr sz="19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__init__.py</a:t>
            </a:r>
            <a:endParaRPr sz="19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core.py</a:t>
            </a:r>
            <a:endParaRPr sz="19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subpackage/</a:t>
            </a:r>
            <a:endParaRPr sz="19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	__init__.py</a:t>
            </a:r>
            <a:endParaRPr sz="19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	subpackage.py</a:t>
            </a:r>
            <a:endParaRPr sz="19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submodule/</a:t>
            </a:r>
            <a:endParaRPr sz="19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	submodule.py</a:t>
            </a:r>
            <a:endParaRPr sz="19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tests/</a:t>
            </a:r>
            <a:endParaRPr sz="19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	__init__.py</a:t>
            </a:r>
            <a:endParaRPr sz="19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	test_core.py</a:t>
            </a:r>
            <a:endParaRPr sz="19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151" name="Google Shape;151;p26"/>
          <p:cNvGrpSpPr/>
          <p:nvPr/>
        </p:nvGrpSpPr>
        <p:grpSpPr>
          <a:xfrm>
            <a:off x="2137225" y="939500"/>
            <a:ext cx="6289500" cy="677100"/>
            <a:chOff x="2137225" y="939500"/>
            <a:chExt cx="6289500" cy="677100"/>
          </a:xfrm>
        </p:grpSpPr>
        <p:sp>
          <p:nvSpPr>
            <p:cNvPr id="152" name="Google Shape;152;p26"/>
            <p:cNvSpPr txBox="1"/>
            <p:nvPr/>
          </p:nvSpPr>
          <p:spPr>
            <a:xfrm>
              <a:off x="3650425" y="939500"/>
              <a:ext cx="47763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/>
                <a:t>This is your git repository, usually matching the name on Github</a:t>
              </a:r>
              <a:endParaRPr sz="1600"/>
            </a:p>
          </p:txBody>
        </p:sp>
        <p:cxnSp>
          <p:nvCxnSpPr>
            <p:cNvPr id="153" name="Google Shape;153;p26"/>
            <p:cNvCxnSpPr>
              <a:stCxn id="152" idx="1"/>
            </p:cNvCxnSpPr>
            <p:nvPr/>
          </p:nvCxnSpPr>
          <p:spPr>
            <a:xfrm rot="10800000">
              <a:off x="2137225" y="1271450"/>
              <a:ext cx="1513200" cy="660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codebase in a git repository</a:t>
            </a:r>
            <a:endParaRPr/>
          </a:p>
        </p:txBody>
      </p:sp>
      <p:sp>
        <p:nvSpPr>
          <p:cNvPr id="159" name="Google Shape;159;p27"/>
          <p:cNvSpPr txBox="1">
            <a:spLocks noGrp="1"/>
          </p:cNvSpPr>
          <p:nvPr>
            <p:ph type="body" idx="1"/>
          </p:nvPr>
        </p:nvSpPr>
        <p:spPr>
          <a:xfrm>
            <a:off x="311700" y="1017725"/>
            <a:ext cx="8520600" cy="398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myproject/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rgbClr val="980000"/>
                </a:solidFill>
                <a:latin typeface="Courier New"/>
                <a:ea typeface="Courier New"/>
                <a:cs typeface="Courier New"/>
                <a:sym typeface="Courier New"/>
              </a:rPr>
              <a:t>README.md</a:t>
            </a:r>
            <a:endParaRPr sz="1900" b="1">
              <a:solidFill>
                <a:srgbClr val="98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LICENSE</a:t>
            </a:r>
            <a:endParaRPr sz="19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myproject /</a:t>
            </a:r>
            <a:endParaRPr sz="19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__init__.py</a:t>
            </a:r>
            <a:endParaRPr sz="19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core.py</a:t>
            </a:r>
            <a:endParaRPr sz="19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subpackage/</a:t>
            </a:r>
            <a:endParaRPr sz="19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	__init__.py</a:t>
            </a:r>
            <a:endParaRPr sz="19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	subpackage.py</a:t>
            </a:r>
            <a:endParaRPr sz="19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submodule/</a:t>
            </a:r>
            <a:endParaRPr sz="19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	submodule.py</a:t>
            </a:r>
            <a:endParaRPr sz="19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tests/</a:t>
            </a:r>
            <a:endParaRPr sz="19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	__init__.py</a:t>
            </a:r>
            <a:endParaRPr sz="19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	test_core.py</a:t>
            </a:r>
            <a:endParaRPr sz="19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160" name="Google Shape;160;p27"/>
          <p:cNvGrpSpPr/>
          <p:nvPr/>
        </p:nvGrpSpPr>
        <p:grpSpPr>
          <a:xfrm>
            <a:off x="2295025" y="1168975"/>
            <a:ext cx="6289500" cy="677100"/>
            <a:chOff x="2295025" y="1168975"/>
            <a:chExt cx="6289500" cy="677100"/>
          </a:xfrm>
        </p:grpSpPr>
        <p:sp>
          <p:nvSpPr>
            <p:cNvPr id="161" name="Google Shape;161;p27"/>
            <p:cNvSpPr txBox="1"/>
            <p:nvPr/>
          </p:nvSpPr>
          <p:spPr>
            <a:xfrm>
              <a:off x="3808225" y="1168975"/>
              <a:ext cx="47763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/>
                <a:t>Markdown-formatted or plain text file describing the package</a:t>
              </a:r>
              <a:endParaRPr sz="1600"/>
            </a:p>
          </p:txBody>
        </p:sp>
        <p:cxnSp>
          <p:nvCxnSpPr>
            <p:cNvPr id="162" name="Google Shape;162;p27"/>
            <p:cNvCxnSpPr>
              <a:stCxn id="161" idx="1"/>
            </p:cNvCxnSpPr>
            <p:nvPr/>
          </p:nvCxnSpPr>
          <p:spPr>
            <a:xfrm rot="10800000">
              <a:off x="2295025" y="1500925"/>
              <a:ext cx="1513200" cy="660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codebase in a git repository</a:t>
            </a:r>
            <a:endParaRPr/>
          </a:p>
        </p:txBody>
      </p:sp>
      <p:sp>
        <p:nvSpPr>
          <p:cNvPr id="168" name="Google Shape;168;p28"/>
          <p:cNvSpPr txBox="1">
            <a:spLocks noGrp="1"/>
          </p:cNvSpPr>
          <p:nvPr>
            <p:ph type="body" idx="1"/>
          </p:nvPr>
        </p:nvSpPr>
        <p:spPr>
          <a:xfrm>
            <a:off x="311700" y="1017725"/>
            <a:ext cx="8520600" cy="398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myproject/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README.md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rgbClr val="980000"/>
                </a:solidFill>
                <a:latin typeface="Courier New"/>
                <a:ea typeface="Courier New"/>
                <a:cs typeface="Courier New"/>
                <a:sym typeface="Courier New"/>
              </a:rPr>
              <a:t>LICENSE</a:t>
            </a:r>
            <a:endParaRPr sz="1900" b="1">
              <a:solidFill>
                <a:srgbClr val="98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myproject /</a:t>
            </a:r>
            <a:endParaRPr sz="19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__init__.py</a:t>
            </a:r>
            <a:endParaRPr sz="19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core.py</a:t>
            </a:r>
            <a:endParaRPr sz="19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subpackage/</a:t>
            </a:r>
            <a:endParaRPr sz="19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	__init__.py</a:t>
            </a:r>
            <a:endParaRPr sz="19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	subpackage.py</a:t>
            </a:r>
            <a:endParaRPr sz="19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submodule/</a:t>
            </a:r>
            <a:endParaRPr sz="19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	submodule.py</a:t>
            </a:r>
            <a:endParaRPr sz="19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tests/</a:t>
            </a:r>
            <a:endParaRPr sz="19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	__init__.py</a:t>
            </a:r>
            <a:endParaRPr sz="19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	test_core.py</a:t>
            </a:r>
            <a:endParaRPr sz="19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169" name="Google Shape;169;p28"/>
          <p:cNvGrpSpPr/>
          <p:nvPr/>
        </p:nvGrpSpPr>
        <p:grpSpPr>
          <a:xfrm>
            <a:off x="2230475" y="1445375"/>
            <a:ext cx="6289500" cy="677100"/>
            <a:chOff x="2230475" y="1445375"/>
            <a:chExt cx="6289500" cy="677100"/>
          </a:xfrm>
        </p:grpSpPr>
        <p:sp>
          <p:nvSpPr>
            <p:cNvPr id="170" name="Google Shape;170;p28"/>
            <p:cNvSpPr txBox="1"/>
            <p:nvPr/>
          </p:nvSpPr>
          <p:spPr>
            <a:xfrm>
              <a:off x="3743675" y="1445375"/>
              <a:ext cx="47763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u="sng">
                  <a:solidFill>
                    <a:schemeClr val="hlink"/>
                  </a:solidFill>
                  <a:hlinkClick r:id="rId3"/>
                </a:rPr>
                <a:t>Software license</a:t>
              </a:r>
              <a:r>
                <a:rPr lang="en" sz="1600"/>
                <a:t> specifying how others may use your code</a:t>
              </a:r>
              <a:endParaRPr sz="1600"/>
            </a:p>
          </p:txBody>
        </p:sp>
        <p:cxnSp>
          <p:nvCxnSpPr>
            <p:cNvPr id="171" name="Google Shape;171;p28"/>
            <p:cNvCxnSpPr>
              <a:stCxn id="170" idx="1"/>
            </p:cNvCxnSpPr>
            <p:nvPr/>
          </p:nvCxnSpPr>
          <p:spPr>
            <a:xfrm rot="10800000">
              <a:off x="2230475" y="1777325"/>
              <a:ext cx="1513200" cy="660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codebase in a git repository</a:t>
            </a:r>
            <a:endParaRPr/>
          </a:p>
        </p:txBody>
      </p:sp>
      <p:sp>
        <p:nvSpPr>
          <p:cNvPr id="177" name="Google Shape;177;p29"/>
          <p:cNvSpPr txBox="1">
            <a:spLocks noGrp="1"/>
          </p:cNvSpPr>
          <p:nvPr>
            <p:ph type="body" idx="1"/>
          </p:nvPr>
        </p:nvSpPr>
        <p:spPr>
          <a:xfrm>
            <a:off x="311700" y="1017725"/>
            <a:ext cx="8520600" cy="398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myproject/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README.md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LICENSE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rgbClr val="980000"/>
                </a:solidFill>
                <a:latin typeface="Courier New"/>
                <a:ea typeface="Courier New"/>
                <a:cs typeface="Courier New"/>
                <a:sym typeface="Courier New"/>
              </a:rPr>
              <a:t>myproject/</a:t>
            </a:r>
            <a:endParaRPr sz="1900" b="1">
              <a:solidFill>
                <a:srgbClr val="98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__init__.py</a:t>
            </a:r>
            <a:endParaRPr sz="19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core.py</a:t>
            </a:r>
            <a:endParaRPr sz="19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subpackage/</a:t>
            </a:r>
            <a:endParaRPr sz="19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	__init__.py</a:t>
            </a:r>
            <a:endParaRPr sz="19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	subpackage.py</a:t>
            </a:r>
            <a:endParaRPr sz="19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submodule/</a:t>
            </a:r>
            <a:endParaRPr sz="19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	submodule.py</a:t>
            </a:r>
            <a:endParaRPr sz="19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tests/</a:t>
            </a:r>
            <a:endParaRPr sz="19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	__init__.py</a:t>
            </a:r>
            <a:endParaRPr sz="19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	test_core.py</a:t>
            </a:r>
            <a:endParaRPr sz="19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178" name="Google Shape;178;p29"/>
          <p:cNvGrpSpPr/>
          <p:nvPr/>
        </p:nvGrpSpPr>
        <p:grpSpPr>
          <a:xfrm>
            <a:off x="2409775" y="1696375"/>
            <a:ext cx="6289500" cy="677100"/>
            <a:chOff x="2409775" y="1696375"/>
            <a:chExt cx="6289500" cy="677100"/>
          </a:xfrm>
        </p:grpSpPr>
        <p:sp>
          <p:nvSpPr>
            <p:cNvPr id="179" name="Google Shape;179;p29"/>
            <p:cNvSpPr txBox="1"/>
            <p:nvPr/>
          </p:nvSpPr>
          <p:spPr>
            <a:xfrm>
              <a:off x="3922975" y="1696375"/>
              <a:ext cx="47763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/>
                <a:t>The Python package, helpful for</a:t>
              </a:r>
              <a:endParaRPr sz="1600"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highlight>
                    <a:srgbClr val="F3F3F3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import myproject</a:t>
              </a:r>
              <a:r>
                <a:rPr lang="en" sz="1600"/>
                <a:t> into separate namespaces.</a:t>
              </a:r>
              <a:endParaRPr sz="1600"/>
            </a:p>
          </p:txBody>
        </p:sp>
        <p:cxnSp>
          <p:nvCxnSpPr>
            <p:cNvPr id="180" name="Google Shape;180;p29"/>
            <p:cNvCxnSpPr>
              <a:stCxn id="179" idx="1"/>
            </p:cNvCxnSpPr>
            <p:nvPr/>
          </p:nvCxnSpPr>
          <p:spPr>
            <a:xfrm rot="10800000">
              <a:off x="2409775" y="2028325"/>
              <a:ext cx="1513200" cy="660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codebase in a git repository</a:t>
            </a:r>
            <a:endParaRPr/>
          </a:p>
        </p:txBody>
      </p:sp>
      <p:sp>
        <p:nvSpPr>
          <p:cNvPr id="186" name="Google Shape;186;p30"/>
          <p:cNvSpPr txBox="1">
            <a:spLocks noGrp="1"/>
          </p:cNvSpPr>
          <p:nvPr>
            <p:ph type="body" idx="1"/>
          </p:nvPr>
        </p:nvSpPr>
        <p:spPr>
          <a:xfrm>
            <a:off x="311700" y="1017725"/>
            <a:ext cx="8520600" cy="398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myproject/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README.md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LICENSE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myproject/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rgbClr val="980000"/>
                </a:solidFill>
                <a:latin typeface="Courier New"/>
                <a:ea typeface="Courier New"/>
                <a:cs typeface="Courier New"/>
                <a:sym typeface="Courier New"/>
              </a:rPr>
              <a:t>	__init__.py</a:t>
            </a:r>
            <a:endParaRPr sz="1900" b="1">
              <a:solidFill>
                <a:srgbClr val="98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core.py</a:t>
            </a:r>
            <a:endParaRPr sz="19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subpackage/</a:t>
            </a:r>
            <a:endParaRPr sz="19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	__init__.py</a:t>
            </a:r>
            <a:endParaRPr sz="19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	subpackage.py</a:t>
            </a:r>
            <a:endParaRPr sz="19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submodule/</a:t>
            </a:r>
            <a:endParaRPr sz="19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	submodule.py</a:t>
            </a:r>
            <a:endParaRPr sz="19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tests/</a:t>
            </a:r>
            <a:endParaRPr sz="19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	__init__.py</a:t>
            </a:r>
            <a:endParaRPr sz="19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	test_core.py</a:t>
            </a:r>
            <a:endParaRPr sz="19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187" name="Google Shape;187;p30"/>
          <p:cNvGrpSpPr/>
          <p:nvPr/>
        </p:nvGrpSpPr>
        <p:grpSpPr>
          <a:xfrm>
            <a:off x="3334842" y="1976075"/>
            <a:ext cx="5364315" cy="677100"/>
            <a:chOff x="2409775" y="1976075"/>
            <a:chExt cx="6289500" cy="677100"/>
          </a:xfrm>
        </p:grpSpPr>
        <p:sp>
          <p:nvSpPr>
            <p:cNvPr id="188" name="Google Shape;188;p30"/>
            <p:cNvSpPr txBox="1"/>
            <p:nvPr/>
          </p:nvSpPr>
          <p:spPr>
            <a:xfrm>
              <a:off x="3922975" y="1976075"/>
              <a:ext cx="47763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/>
                <a:t>This module marks the directory as a Python package and is run upon import</a:t>
              </a:r>
              <a:endParaRPr sz="1600"/>
            </a:p>
          </p:txBody>
        </p:sp>
        <p:cxnSp>
          <p:nvCxnSpPr>
            <p:cNvPr id="189" name="Google Shape;189;p30"/>
            <p:cNvCxnSpPr>
              <a:stCxn id="188" idx="1"/>
            </p:cNvCxnSpPr>
            <p:nvPr/>
          </p:nvCxnSpPr>
          <p:spPr>
            <a:xfrm rot="10800000">
              <a:off x="2409775" y="2308025"/>
              <a:ext cx="1513200" cy="660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codebase in a git repository</a:t>
            </a:r>
            <a:endParaRPr/>
          </a:p>
        </p:txBody>
      </p:sp>
      <p:sp>
        <p:nvSpPr>
          <p:cNvPr id="195" name="Google Shape;195;p31"/>
          <p:cNvSpPr txBox="1">
            <a:spLocks noGrp="1"/>
          </p:cNvSpPr>
          <p:nvPr>
            <p:ph type="body" idx="1"/>
          </p:nvPr>
        </p:nvSpPr>
        <p:spPr>
          <a:xfrm>
            <a:off x="311700" y="1017725"/>
            <a:ext cx="8520600" cy="398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myproject/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README.md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LICENSE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myproject/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__init__.py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rgbClr val="980000"/>
                </a:solidFill>
                <a:latin typeface="Courier New"/>
                <a:ea typeface="Courier New"/>
                <a:cs typeface="Courier New"/>
                <a:sym typeface="Courier New"/>
              </a:rPr>
              <a:t>	core.py</a:t>
            </a:r>
            <a:endParaRPr sz="1900" b="1">
              <a:solidFill>
                <a:srgbClr val="98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subpackage/</a:t>
            </a:r>
            <a:endParaRPr sz="19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	__init__.py</a:t>
            </a:r>
            <a:endParaRPr sz="19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	subpackage.py</a:t>
            </a:r>
            <a:endParaRPr sz="19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submodule/</a:t>
            </a:r>
            <a:endParaRPr sz="19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	submodule.py</a:t>
            </a:r>
            <a:endParaRPr sz="19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tests/</a:t>
            </a:r>
            <a:endParaRPr sz="19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	__init__.py</a:t>
            </a:r>
            <a:endParaRPr sz="19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	test_core.py</a:t>
            </a:r>
            <a:endParaRPr sz="19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196" name="Google Shape;196;p31"/>
          <p:cNvGrpSpPr/>
          <p:nvPr/>
        </p:nvGrpSpPr>
        <p:grpSpPr>
          <a:xfrm>
            <a:off x="2703673" y="2233200"/>
            <a:ext cx="5815901" cy="677100"/>
            <a:chOff x="2409775" y="1976075"/>
            <a:chExt cx="6289500" cy="677100"/>
          </a:xfrm>
        </p:grpSpPr>
        <p:sp>
          <p:nvSpPr>
            <p:cNvPr id="197" name="Google Shape;197;p31"/>
            <p:cNvSpPr txBox="1"/>
            <p:nvPr/>
          </p:nvSpPr>
          <p:spPr>
            <a:xfrm>
              <a:off x="3922975" y="1976075"/>
              <a:ext cx="47763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/>
                <a:t>Other modules in the package containing importable code.</a:t>
              </a:r>
              <a:endParaRPr sz="1600"/>
            </a:p>
          </p:txBody>
        </p:sp>
        <p:cxnSp>
          <p:nvCxnSpPr>
            <p:cNvPr id="198" name="Google Shape;198;p31"/>
            <p:cNvCxnSpPr>
              <a:stCxn id="197" idx="1"/>
            </p:cNvCxnSpPr>
            <p:nvPr/>
          </p:nvCxnSpPr>
          <p:spPr>
            <a:xfrm rot="10800000">
              <a:off x="2409775" y="2308025"/>
              <a:ext cx="1513200" cy="660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codebase in a git repository</a:t>
            </a:r>
            <a:endParaRPr/>
          </a:p>
        </p:txBody>
      </p:sp>
      <p:sp>
        <p:nvSpPr>
          <p:cNvPr id="204" name="Google Shape;204;p32"/>
          <p:cNvSpPr txBox="1">
            <a:spLocks noGrp="1"/>
          </p:cNvSpPr>
          <p:nvPr>
            <p:ph type="body" idx="1"/>
          </p:nvPr>
        </p:nvSpPr>
        <p:spPr>
          <a:xfrm>
            <a:off x="311700" y="1017725"/>
            <a:ext cx="8520600" cy="398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myproject/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README.md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LICENSE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myproject/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__init__.py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core.py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" sz="1900" b="1">
                <a:solidFill>
                  <a:srgbClr val="980000"/>
                </a:solidFill>
                <a:latin typeface="Courier New"/>
                <a:ea typeface="Courier New"/>
                <a:cs typeface="Courier New"/>
                <a:sym typeface="Courier New"/>
              </a:rPr>
              <a:t>subpackage/</a:t>
            </a:r>
            <a:endParaRPr sz="1900" b="1">
              <a:solidFill>
                <a:srgbClr val="98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rgbClr val="980000"/>
                </a:solidFill>
                <a:latin typeface="Courier New"/>
                <a:ea typeface="Courier New"/>
                <a:cs typeface="Courier New"/>
                <a:sym typeface="Courier New"/>
              </a:rPr>
              <a:t>		__init__.py</a:t>
            </a:r>
            <a:endParaRPr sz="1900" b="1">
              <a:solidFill>
                <a:srgbClr val="98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rgbClr val="980000"/>
                </a:solidFill>
                <a:latin typeface="Courier New"/>
                <a:ea typeface="Courier New"/>
                <a:cs typeface="Courier New"/>
                <a:sym typeface="Courier New"/>
              </a:rPr>
              <a:t>		subpackage.py</a:t>
            </a:r>
            <a:endParaRPr sz="1900" b="1">
              <a:solidFill>
                <a:srgbClr val="98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submodule/</a:t>
            </a:r>
            <a:endParaRPr sz="19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	submodule.py</a:t>
            </a:r>
            <a:endParaRPr sz="19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tests/</a:t>
            </a:r>
            <a:endParaRPr sz="19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	__init__.py</a:t>
            </a:r>
            <a:endParaRPr sz="19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	test_core.py</a:t>
            </a:r>
            <a:endParaRPr sz="19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205" name="Google Shape;205;p32"/>
          <p:cNvGrpSpPr/>
          <p:nvPr/>
        </p:nvGrpSpPr>
        <p:grpSpPr>
          <a:xfrm>
            <a:off x="3621664" y="2423375"/>
            <a:ext cx="5249931" cy="923400"/>
            <a:chOff x="2648950" y="2166250"/>
            <a:chExt cx="6485400" cy="923400"/>
          </a:xfrm>
        </p:grpSpPr>
        <p:sp>
          <p:nvSpPr>
            <p:cNvPr id="206" name="Google Shape;206;p32"/>
            <p:cNvSpPr txBox="1"/>
            <p:nvPr/>
          </p:nvSpPr>
          <p:spPr>
            <a:xfrm>
              <a:off x="4162150" y="2166250"/>
              <a:ext cx="4972200" cy="92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/>
                <a:t>Packages can have subpackages (and sub-subpackages, etc.) to any depth. They contain their own </a:t>
              </a:r>
              <a:r>
                <a:rPr lang="en" sz="1600">
                  <a:latin typeface="Courier New"/>
                  <a:ea typeface="Courier New"/>
                  <a:cs typeface="Courier New"/>
                  <a:sym typeface="Courier New"/>
                </a:rPr>
                <a:t>__init__.py</a:t>
              </a:r>
              <a:r>
                <a:rPr lang="en" sz="1600"/>
                <a:t> files.</a:t>
              </a:r>
              <a:endParaRPr sz="1600"/>
            </a:p>
          </p:txBody>
        </p:sp>
        <p:cxnSp>
          <p:nvCxnSpPr>
            <p:cNvPr id="207" name="Google Shape;207;p32"/>
            <p:cNvCxnSpPr>
              <a:stCxn id="206" idx="1"/>
            </p:cNvCxnSpPr>
            <p:nvPr/>
          </p:nvCxnSpPr>
          <p:spPr>
            <a:xfrm rot="10800000">
              <a:off x="2648950" y="2621350"/>
              <a:ext cx="1513200" cy="660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codebase in a git repository</a:t>
            </a:r>
            <a:endParaRPr/>
          </a:p>
        </p:txBody>
      </p:sp>
      <p:sp>
        <p:nvSpPr>
          <p:cNvPr id="213" name="Google Shape;213;p33"/>
          <p:cNvSpPr txBox="1">
            <a:spLocks noGrp="1"/>
          </p:cNvSpPr>
          <p:nvPr>
            <p:ph type="body" idx="1"/>
          </p:nvPr>
        </p:nvSpPr>
        <p:spPr>
          <a:xfrm>
            <a:off x="311700" y="1017725"/>
            <a:ext cx="8520600" cy="398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myproject/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README.md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LICENSE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myproject/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__init__.py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core.py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subpackage/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__init__.py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subpackage.py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" sz="1900" b="1">
                <a:solidFill>
                  <a:srgbClr val="980000"/>
                </a:solidFill>
                <a:latin typeface="Courier New"/>
                <a:ea typeface="Courier New"/>
                <a:cs typeface="Courier New"/>
                <a:sym typeface="Courier New"/>
              </a:rPr>
              <a:t>submodule/</a:t>
            </a:r>
            <a:endParaRPr sz="1900" b="1">
              <a:solidFill>
                <a:srgbClr val="98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rgbClr val="980000"/>
                </a:solidFill>
                <a:latin typeface="Courier New"/>
                <a:ea typeface="Courier New"/>
                <a:cs typeface="Courier New"/>
                <a:sym typeface="Courier New"/>
              </a:rPr>
              <a:t>		submodule.py</a:t>
            </a:r>
            <a:endParaRPr sz="1900" b="1">
              <a:solidFill>
                <a:srgbClr val="98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tests/</a:t>
            </a:r>
            <a:endParaRPr sz="19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	__init__.py</a:t>
            </a:r>
            <a:endParaRPr sz="19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	test_core.py</a:t>
            </a:r>
            <a:endParaRPr sz="19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214" name="Google Shape;214;p33"/>
          <p:cNvGrpSpPr/>
          <p:nvPr/>
        </p:nvGrpSpPr>
        <p:grpSpPr>
          <a:xfrm>
            <a:off x="3582364" y="3240950"/>
            <a:ext cx="5249931" cy="923400"/>
            <a:chOff x="2648950" y="2166250"/>
            <a:chExt cx="6485400" cy="923400"/>
          </a:xfrm>
        </p:grpSpPr>
        <p:sp>
          <p:nvSpPr>
            <p:cNvPr id="215" name="Google Shape;215;p33"/>
            <p:cNvSpPr txBox="1"/>
            <p:nvPr/>
          </p:nvSpPr>
          <p:spPr>
            <a:xfrm>
              <a:off x="4162150" y="2166250"/>
              <a:ext cx="4972200" cy="92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/>
                <a:t>Packages can also have modules to any depth - ie without the </a:t>
              </a:r>
              <a:r>
                <a:rPr lang="en" sz="1600">
                  <a:highlight>
                    <a:srgbClr val="F3F3F3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__init__.py</a:t>
              </a:r>
              <a:r>
                <a:rPr lang="en" sz="1600"/>
                <a:t>, this directory is just a collection of modules.</a:t>
              </a:r>
              <a:endParaRPr sz="1600"/>
            </a:p>
          </p:txBody>
        </p:sp>
        <p:cxnSp>
          <p:nvCxnSpPr>
            <p:cNvPr id="216" name="Google Shape;216;p33"/>
            <p:cNvCxnSpPr>
              <a:stCxn id="215" idx="1"/>
            </p:cNvCxnSpPr>
            <p:nvPr/>
          </p:nvCxnSpPr>
          <p:spPr>
            <a:xfrm rot="10800000">
              <a:off x="2648950" y="2621350"/>
              <a:ext cx="1513200" cy="660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codebase in a git repository</a:t>
            </a:r>
            <a:endParaRPr/>
          </a:p>
        </p:txBody>
      </p:sp>
      <p:sp>
        <p:nvSpPr>
          <p:cNvPr id="222" name="Google Shape;222;p34"/>
          <p:cNvSpPr txBox="1">
            <a:spLocks noGrp="1"/>
          </p:cNvSpPr>
          <p:nvPr>
            <p:ph type="body" idx="1"/>
          </p:nvPr>
        </p:nvSpPr>
        <p:spPr>
          <a:xfrm>
            <a:off x="311700" y="1017725"/>
            <a:ext cx="8520600" cy="398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myproject/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README.md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LICENSE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myproject/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__init__.py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core.py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subpackage/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__init__.py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subpackage.py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submodule/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submodule.py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rgbClr val="980000"/>
                </a:solidFill>
                <a:latin typeface="Courier New"/>
                <a:ea typeface="Courier New"/>
                <a:cs typeface="Courier New"/>
                <a:sym typeface="Courier New"/>
              </a:rPr>
              <a:t>	tests/</a:t>
            </a:r>
            <a:endParaRPr sz="1900" b="1">
              <a:solidFill>
                <a:srgbClr val="98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rgbClr val="980000"/>
                </a:solidFill>
                <a:latin typeface="Courier New"/>
                <a:ea typeface="Courier New"/>
                <a:cs typeface="Courier New"/>
                <a:sym typeface="Courier New"/>
              </a:rPr>
              <a:t>		__init__.py</a:t>
            </a:r>
            <a:endParaRPr sz="1900" b="1">
              <a:solidFill>
                <a:srgbClr val="98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rgbClr val="980000"/>
                </a:solidFill>
                <a:latin typeface="Courier New"/>
                <a:ea typeface="Courier New"/>
                <a:cs typeface="Courier New"/>
                <a:sym typeface="Courier New"/>
              </a:rPr>
              <a:t>		test_core.py</a:t>
            </a:r>
            <a:endParaRPr sz="1900" b="1">
              <a:solidFill>
                <a:srgbClr val="98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223" name="Google Shape;223;p34"/>
          <p:cNvGrpSpPr/>
          <p:nvPr/>
        </p:nvGrpSpPr>
        <p:grpSpPr>
          <a:xfrm>
            <a:off x="3630340" y="4194800"/>
            <a:ext cx="5104707" cy="431100"/>
            <a:chOff x="2708216" y="3120100"/>
            <a:chExt cx="6306000" cy="431100"/>
          </a:xfrm>
        </p:grpSpPr>
        <p:sp>
          <p:nvSpPr>
            <p:cNvPr id="224" name="Google Shape;224;p34"/>
            <p:cNvSpPr txBox="1"/>
            <p:nvPr/>
          </p:nvSpPr>
          <p:spPr>
            <a:xfrm>
              <a:off x="4221416" y="3120100"/>
              <a:ext cx="47928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/>
                <a:t>Unit tests go into their own subpackage</a:t>
              </a:r>
              <a:endParaRPr sz="1600"/>
            </a:p>
          </p:txBody>
        </p:sp>
        <p:cxnSp>
          <p:nvCxnSpPr>
            <p:cNvPr id="225" name="Google Shape;225;p34"/>
            <p:cNvCxnSpPr>
              <a:stCxn id="224" idx="1"/>
            </p:cNvCxnSpPr>
            <p:nvPr/>
          </p:nvCxnSpPr>
          <p:spPr>
            <a:xfrm rot="10800000">
              <a:off x="2708216" y="3329050"/>
              <a:ext cx="1513200" cy="660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codebase in a git repository</a:t>
            </a:r>
            <a:endParaRPr/>
          </a:p>
        </p:txBody>
      </p:sp>
      <p:sp>
        <p:nvSpPr>
          <p:cNvPr id="231" name="Google Shape;231;p35"/>
          <p:cNvSpPr txBox="1">
            <a:spLocks noGrp="1"/>
          </p:cNvSpPr>
          <p:nvPr>
            <p:ph type="body" idx="1"/>
          </p:nvPr>
        </p:nvSpPr>
        <p:spPr>
          <a:xfrm>
            <a:off x="311700" y="1017725"/>
            <a:ext cx="8520600" cy="398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Courier New"/>
                <a:ea typeface="Courier New"/>
                <a:cs typeface="Courier New"/>
                <a:sym typeface="Courier New"/>
              </a:rPr>
              <a:t>myproject/</a:t>
            </a:r>
            <a:endParaRPr sz="19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Courier New"/>
                <a:ea typeface="Courier New"/>
                <a:cs typeface="Courier New"/>
                <a:sym typeface="Courier New"/>
              </a:rPr>
              <a:t>README.md</a:t>
            </a:r>
            <a:endParaRPr sz="19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Courier New"/>
                <a:ea typeface="Courier New"/>
                <a:cs typeface="Courier New"/>
                <a:sym typeface="Courier New"/>
              </a:rPr>
              <a:t>LICENSE</a:t>
            </a:r>
            <a:endParaRPr sz="19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Courier New"/>
                <a:ea typeface="Courier New"/>
                <a:cs typeface="Courier New"/>
                <a:sym typeface="Courier New"/>
              </a:rPr>
              <a:t>myproject/</a:t>
            </a:r>
            <a:endParaRPr sz="19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Courier New"/>
                <a:ea typeface="Courier New"/>
                <a:cs typeface="Courier New"/>
                <a:sym typeface="Courier New"/>
              </a:rPr>
              <a:t>	__init__.py</a:t>
            </a:r>
            <a:endParaRPr sz="19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Courier New"/>
                <a:ea typeface="Courier New"/>
                <a:cs typeface="Courier New"/>
                <a:sym typeface="Courier New"/>
              </a:rPr>
              <a:t>	core.py</a:t>
            </a:r>
            <a:endParaRPr sz="19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Courier New"/>
                <a:ea typeface="Courier New"/>
                <a:cs typeface="Courier New"/>
                <a:sym typeface="Courier New"/>
              </a:rPr>
              <a:t>	subpackage/</a:t>
            </a:r>
            <a:endParaRPr sz="19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Courier New"/>
                <a:ea typeface="Courier New"/>
                <a:cs typeface="Courier New"/>
                <a:sym typeface="Courier New"/>
              </a:rPr>
              <a:t>		__init__.py</a:t>
            </a:r>
            <a:endParaRPr sz="19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Courier New"/>
                <a:ea typeface="Courier New"/>
                <a:cs typeface="Courier New"/>
                <a:sym typeface="Courier New"/>
              </a:rPr>
              <a:t>		subpackage.py</a:t>
            </a:r>
            <a:endParaRPr sz="19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Courier New"/>
                <a:ea typeface="Courier New"/>
                <a:cs typeface="Courier New"/>
                <a:sym typeface="Courier New"/>
              </a:rPr>
              <a:t>	submodule/</a:t>
            </a:r>
            <a:endParaRPr sz="19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Courier New"/>
                <a:ea typeface="Courier New"/>
                <a:cs typeface="Courier New"/>
                <a:sym typeface="Courier New"/>
              </a:rPr>
              <a:t>		submodule.py</a:t>
            </a:r>
            <a:endParaRPr sz="19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Courier New"/>
                <a:ea typeface="Courier New"/>
                <a:cs typeface="Courier New"/>
                <a:sym typeface="Courier New"/>
              </a:rPr>
              <a:t>	tests/</a:t>
            </a:r>
            <a:endParaRPr sz="19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Courier New"/>
                <a:ea typeface="Courier New"/>
                <a:cs typeface="Courier New"/>
                <a:sym typeface="Courier New"/>
              </a:rPr>
              <a:t>		__init__.py</a:t>
            </a:r>
            <a:endParaRPr sz="19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Courier New"/>
                <a:ea typeface="Courier New"/>
                <a:cs typeface="Courier New"/>
                <a:sym typeface="Courier New"/>
              </a:rPr>
              <a:t>		test_core.py</a:t>
            </a:r>
            <a:endParaRPr sz="19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6"/>
          <p:cNvSpPr txBox="1">
            <a:spLocks noGrp="1"/>
          </p:cNvSpPr>
          <p:nvPr>
            <p:ph type="title"/>
          </p:nvPr>
        </p:nvSpPr>
        <p:spPr>
          <a:xfrm>
            <a:off x="246850" y="22854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But wait - what actually goes in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__init__.py</a:t>
            </a:r>
            <a:r>
              <a:rPr lang="en"/>
              <a:t>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1. </a:t>
            </a:r>
            <a:r>
              <a:rPr lang="en" dirty="0">
                <a:latin typeface="Courier New"/>
                <a:ea typeface="Courier New"/>
                <a:cs typeface="Courier New"/>
                <a:sym typeface="Courier New"/>
              </a:rPr>
              <a:t>__init__.py</a:t>
            </a:r>
            <a:r>
              <a:rPr lang="en" dirty="0"/>
              <a:t> is empty</a:t>
            </a:r>
            <a:endParaRPr dirty="0"/>
          </a:p>
        </p:txBody>
      </p:sp>
      <p:sp>
        <p:nvSpPr>
          <p:cNvPr id="242" name="Google Shape;242;p3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85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17"/>
              <a:t>Example: </a:t>
            </a:r>
            <a:r>
              <a:rPr lang="en" sz="1917" u="sng">
                <a:solidFill>
                  <a:schemeClr val="hlink"/>
                </a:solidFill>
                <a:hlinkClick r:id="rId3"/>
              </a:rPr>
              <a:t>urllib</a:t>
            </a:r>
            <a:endParaRPr sz="1917"/>
          </a:p>
          <a:p>
            <a:pPr marL="457200" lvl="0" indent="-332105" algn="l" rtl="0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1917"/>
              <a:t>Pros</a:t>
            </a:r>
            <a:endParaRPr sz="1917"/>
          </a:p>
          <a:p>
            <a:pPr marL="914400" lvl="1" indent="-310515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517"/>
              <a:t>Simple</a:t>
            </a:r>
            <a:endParaRPr sz="1517"/>
          </a:p>
          <a:p>
            <a:pPr marL="457200" lvl="0" indent="-332105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917"/>
              <a:t>Cons</a:t>
            </a:r>
            <a:endParaRPr sz="1917"/>
          </a:p>
          <a:p>
            <a:pPr marL="914400" lvl="1" indent="-310515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517"/>
              <a:t>You don’t get a </a:t>
            </a:r>
            <a:r>
              <a:rPr lang="en" sz="1517" i="1"/>
              <a:t>namespace</a:t>
            </a:r>
            <a:endParaRPr sz="1517" i="1"/>
          </a:p>
          <a:p>
            <a:pPr marL="914400" lvl="1" indent="-310515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517"/>
              <a:t>You have to specify a specific submodule to import</a:t>
            </a:r>
            <a:endParaRPr sz="1517"/>
          </a:p>
          <a:p>
            <a:pPr marL="914400" lvl="1" indent="-310515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517"/>
              <a:t>Importing just the package is useless</a:t>
            </a:r>
            <a:endParaRPr sz="1517"/>
          </a:p>
          <a:p>
            <a:pPr marL="914400" lvl="1" indent="-310515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517"/>
              <a:t>Important to have good module names</a:t>
            </a:r>
            <a:endParaRPr sz="1517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17"/>
              <a:t>Eg:</a:t>
            </a:r>
            <a:endParaRPr sz="1917"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17">
                <a:latin typeface="Courier New"/>
                <a:ea typeface="Courier New"/>
                <a:cs typeface="Courier New"/>
                <a:sym typeface="Courier New"/>
              </a:rPr>
              <a:t>import urllib.parse</a:t>
            </a:r>
            <a:endParaRPr sz="1917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17">
                <a:latin typeface="Courier New"/>
                <a:ea typeface="Courier New"/>
                <a:cs typeface="Courier New"/>
                <a:sym typeface="Courier New"/>
              </a:rPr>
              <a:t>urllib.parse.urlparse(“</a:t>
            </a:r>
            <a:r>
              <a:rPr lang="en" sz="1917" u="sng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4"/>
              </a:rPr>
              <a:t>https://google.com</a:t>
            </a:r>
            <a:r>
              <a:rPr lang="en" sz="1917">
                <a:latin typeface="Courier New"/>
                <a:ea typeface="Courier New"/>
                <a:cs typeface="Courier New"/>
                <a:sym typeface="Courier New"/>
              </a:rPr>
              <a:t>”)</a:t>
            </a:r>
            <a:endParaRPr sz="1917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917"/>
              <a:t>Not</a:t>
            </a:r>
            <a:endParaRPr sz="1917"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17">
                <a:latin typeface="Courier New"/>
                <a:ea typeface="Courier New"/>
                <a:cs typeface="Courier New"/>
                <a:sym typeface="Courier New"/>
              </a:rPr>
              <a:t>import urllib</a:t>
            </a:r>
            <a:endParaRPr sz="1917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7361"/>
              <a:buFont typeface="Arial"/>
              <a:buNone/>
            </a:pPr>
            <a:r>
              <a:rPr lang="en" sz="1917">
                <a:latin typeface="Courier New"/>
                <a:ea typeface="Courier New"/>
                <a:cs typeface="Courier New"/>
                <a:sym typeface="Courier New"/>
              </a:rPr>
              <a:t>urllib.urlparse(“</a:t>
            </a:r>
            <a:r>
              <a:rPr lang="en" sz="1917" u="sng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https://google.com</a:t>
            </a:r>
            <a:r>
              <a:rPr lang="en" sz="1917">
                <a:latin typeface="Courier New"/>
                <a:ea typeface="Courier New"/>
                <a:cs typeface="Courier New"/>
                <a:sym typeface="Courier New"/>
              </a:rPr>
              <a:t>”)</a:t>
            </a:r>
            <a:endParaRPr sz="1917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2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"/>
                                        <p:tgtEl>
                                          <p:spTgt spid="2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"/>
                                        <p:tgtEl>
                                          <p:spTgt spid="2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"/>
                                        <p:tgtEl>
                                          <p:spTgt spid="2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"/>
                                        <p:tgtEl>
                                          <p:spTgt spid="2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"/>
                                        <p:tgtEl>
                                          <p:spTgt spid="2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"/>
                                        <p:tgtEl>
                                          <p:spTgt spid="2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"/>
                                        <p:tgtEl>
                                          <p:spTgt spid="2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"/>
                                        <p:tgtEl>
                                          <p:spTgt spid="2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"/>
                                        <p:tgtEl>
                                          <p:spTgt spid="24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"/>
                                        <p:tgtEl>
                                          <p:spTgt spid="24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"/>
                                        <p:tgtEl>
                                          <p:spTgt spid="24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"/>
                                        <p:tgtEl>
                                          <p:spTgt spid="24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"/>
                                        <p:tgtEl>
                                          <p:spTgt spid="24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__init__.py</a:t>
            </a:r>
            <a:r>
              <a:rPr lang="en"/>
              <a:t> imports from subpackages/modules</a:t>
            </a:r>
            <a:endParaRPr/>
          </a:p>
        </p:txBody>
      </p:sp>
      <p:sp>
        <p:nvSpPr>
          <p:cNvPr id="248" name="Google Shape;248;p3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80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dirty="0"/>
              <a:t>Import from subpackages and submodules</a:t>
            </a:r>
            <a:endParaRPr sz="21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 dirty="0"/>
              <a:t>Determine order of import (where that’s important)</a:t>
            </a:r>
            <a:endParaRPr sz="21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 dirty="0"/>
              <a:t>Example: </a:t>
            </a:r>
            <a:r>
              <a:rPr lang="en" sz="2100" u="sng" dirty="0">
                <a:solidFill>
                  <a:schemeClr val="hlink"/>
                </a:solidFill>
                <a:hlinkClick r:id="rId3"/>
              </a:rPr>
              <a:t>tomllib</a:t>
            </a:r>
            <a:r>
              <a:rPr lang="en" sz="2100" dirty="0"/>
              <a:t> (library that parses TOML files)</a:t>
            </a:r>
            <a:endParaRPr sz="2100" dirty="0"/>
          </a:p>
          <a:p>
            <a:pPr marL="457200" lvl="0" indent="-361950" algn="l" rtl="0">
              <a:spcBef>
                <a:spcPts val="1200"/>
              </a:spcBef>
              <a:spcAft>
                <a:spcPts val="0"/>
              </a:spcAft>
              <a:buSzPts val="2100"/>
              <a:buChar char="●"/>
            </a:pPr>
            <a:r>
              <a:rPr lang="en" sz="2100" dirty="0"/>
              <a:t>Pros</a:t>
            </a:r>
            <a:endParaRPr sz="2100" dirty="0"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 dirty="0"/>
              <a:t>Can create a helpful namespace</a:t>
            </a:r>
            <a:endParaRPr sz="1700" dirty="0"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 dirty="0"/>
              <a:t>Interface of your package is </a:t>
            </a:r>
            <a:r>
              <a:rPr lang="en" sz="1700" i="1" dirty="0"/>
              <a:t>more </a:t>
            </a:r>
            <a:r>
              <a:rPr lang="en" sz="1700" dirty="0"/>
              <a:t>clear</a:t>
            </a:r>
            <a:endParaRPr sz="1700" dirty="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 dirty="0"/>
              <a:t>Cons</a:t>
            </a:r>
            <a:endParaRPr sz="2100" dirty="0"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 dirty="0"/>
              <a:t>Interface of package could be </a:t>
            </a:r>
            <a:r>
              <a:rPr lang="en" sz="1700" i="1" dirty="0"/>
              <a:t>even more </a:t>
            </a:r>
            <a:r>
              <a:rPr lang="en" sz="1700" dirty="0"/>
              <a:t>clear</a:t>
            </a:r>
            <a:endParaRPr sz="1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__init__.py</a:t>
            </a:r>
            <a:r>
              <a:rPr lang="en"/>
              <a:t> defines the interface for the package</a:t>
            </a:r>
            <a:endParaRPr/>
          </a:p>
        </p:txBody>
      </p:sp>
      <p:sp>
        <p:nvSpPr>
          <p:cNvPr id="254" name="Google Shape;254;p3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Define the interface for the package</a:t>
            </a:r>
            <a:endParaRPr sz="20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/>
              <a:t>Importing/piecing together submodules</a:t>
            </a:r>
            <a:endParaRPr sz="20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/>
              <a:t>Example: </a:t>
            </a:r>
            <a:r>
              <a:rPr lang="en" sz="2000" u="sng">
                <a:solidFill>
                  <a:schemeClr val="hlink"/>
                </a:solidFill>
                <a:hlinkClick r:id="rId3"/>
              </a:rPr>
              <a:t>json</a:t>
            </a:r>
            <a:endParaRPr sz="2000"/>
          </a:p>
          <a:p>
            <a:pPr marL="457200" lvl="0" indent="-355600" algn="l" rtl="0"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Pros</a:t>
            </a:r>
            <a:endParaRPr sz="200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Great for someone reading your package to know where to start</a:t>
            </a:r>
            <a:endParaRPr sz="160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Functionality is clear</a:t>
            </a:r>
            <a:endParaRPr sz="16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Cons</a:t>
            </a:r>
            <a:endParaRPr sz="200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What goes in __init__.py vs submodule?</a:t>
            </a:r>
            <a:endParaRPr sz="16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__init__.py</a:t>
            </a:r>
            <a:r>
              <a:rPr lang="en"/>
              <a:t> defines everything</a:t>
            </a:r>
            <a:endParaRPr/>
          </a:p>
        </p:txBody>
      </p:sp>
      <p:sp>
        <p:nvSpPr>
          <p:cNvPr id="260" name="Google Shape;260;p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dirty="0"/>
              <a:t>Example: </a:t>
            </a:r>
            <a:r>
              <a:rPr lang="en" sz="2100" u="sng" dirty="0">
                <a:solidFill>
                  <a:schemeClr val="hlink"/>
                </a:solidFill>
                <a:hlinkClick r:id="rId3"/>
              </a:rPr>
              <a:t>collections</a:t>
            </a:r>
            <a:endParaRPr sz="2100" dirty="0"/>
          </a:p>
          <a:p>
            <a:pPr marL="457200" lvl="0" indent="-361950" algn="l" rtl="0">
              <a:spcBef>
                <a:spcPts val="1200"/>
              </a:spcBef>
              <a:spcAft>
                <a:spcPts val="0"/>
              </a:spcAft>
              <a:buSzPts val="2100"/>
              <a:buChar char="●"/>
            </a:pPr>
            <a:r>
              <a:rPr lang="en" sz="2100" dirty="0"/>
              <a:t>Pros</a:t>
            </a:r>
            <a:endParaRPr sz="2100" dirty="0"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 dirty="0"/>
              <a:t>One single file</a:t>
            </a:r>
            <a:endParaRPr sz="1700" dirty="0"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 dirty="0"/>
              <a:t>Can work well for small packages</a:t>
            </a:r>
            <a:endParaRPr sz="1700" dirty="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 dirty="0"/>
              <a:t>Cons</a:t>
            </a:r>
            <a:endParaRPr sz="2100" dirty="0"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 dirty="0"/>
              <a:t>Can be unwieldy if package is big</a:t>
            </a:r>
            <a:endParaRPr sz="17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Exercise: Make it work</a:t>
            </a:r>
            <a:endParaRPr/>
          </a:p>
        </p:txBody>
      </p:sp>
      <p:sp>
        <p:nvSpPr>
          <p:cNvPr id="266" name="Google Shape;266;p4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82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Go to the course website.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Curl the linked file (code from Week 3), make it executable with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chmod +x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Update the imports so that you can run both main.py and run/runner.py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Hint: there are multiple ways to run python code. We’ve seen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python path/to/file.py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But you can also run a module with: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python -m path.to.module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What’s the difference? The -m version keeps the path as the current directory! Try it out and print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sys.path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Recommendation: Imports</a:t>
            </a:r>
            <a:endParaRPr/>
          </a:p>
        </p:txBody>
      </p:sp>
      <p:sp>
        <p:nvSpPr>
          <p:cNvPr id="272" name="Google Shape;272;p4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80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the root of the package as the source of truth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Import all local modules/packages relative to the root of your overall package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Run all Python commands from that same directory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Use </a:t>
            </a:r>
            <a:r>
              <a:rPr lang="en" sz="1583" b="1"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python -m path.to.module</a:t>
            </a:r>
            <a:r>
              <a:rPr lang="en"/>
              <a:t> to run specific modules, but always from the root directory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>
                <a:latin typeface="Courier New"/>
                <a:ea typeface="Courier New"/>
                <a:cs typeface="Courier New"/>
                <a:sym typeface="Courier New"/>
              </a:rPr>
              <a:t>myproject/</a:t>
            </a:r>
            <a:endParaRPr sz="19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Courier New"/>
                <a:ea typeface="Courier New"/>
                <a:cs typeface="Courier New"/>
                <a:sym typeface="Courier New"/>
              </a:rPr>
              <a:t>myproject/</a:t>
            </a:r>
            <a:endParaRPr sz="19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Courier New"/>
                <a:ea typeface="Courier New"/>
                <a:cs typeface="Courier New"/>
                <a:sym typeface="Courier New"/>
              </a:rPr>
              <a:t>	__init__.py</a:t>
            </a:r>
            <a:endParaRPr sz="19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Courier New"/>
                <a:ea typeface="Courier New"/>
                <a:cs typeface="Courier New"/>
                <a:sym typeface="Courier New"/>
              </a:rPr>
              <a:t>	core.py</a:t>
            </a:r>
            <a:endParaRPr sz="19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Courier New"/>
                <a:ea typeface="Courier New"/>
                <a:cs typeface="Courier New"/>
                <a:sym typeface="Courier New"/>
              </a:rPr>
              <a:t>	subpackage/</a:t>
            </a:r>
            <a:endParaRPr sz="19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Courier New"/>
                <a:ea typeface="Courier New"/>
                <a:cs typeface="Courier New"/>
                <a:sym typeface="Courier New"/>
              </a:rPr>
              <a:t>		__init__.py</a:t>
            </a:r>
            <a:endParaRPr sz="19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Courier New"/>
                <a:ea typeface="Courier New"/>
                <a:cs typeface="Courier New"/>
                <a:sym typeface="Courier New"/>
              </a:rPr>
              <a:t>		subpackage.py</a:t>
            </a:r>
            <a:endParaRPr sz="19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Courier New"/>
                <a:ea typeface="Courier New"/>
                <a:cs typeface="Courier New"/>
                <a:sym typeface="Courier New"/>
              </a:rPr>
              <a:t>	tests/</a:t>
            </a:r>
            <a:endParaRPr sz="19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Courier New"/>
                <a:ea typeface="Courier New"/>
                <a:cs typeface="Courier New"/>
                <a:sym typeface="Courier New"/>
              </a:rPr>
              <a:t>		__init__.py</a:t>
            </a:r>
            <a:endParaRPr sz="19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Courier New"/>
                <a:ea typeface="Courier New"/>
                <a:cs typeface="Courier New"/>
                <a:sym typeface="Courier New"/>
              </a:rPr>
              <a:t>		test_core.py</a:t>
            </a:r>
            <a:endParaRPr/>
          </a:p>
        </p:txBody>
      </p:sp>
      <p:grpSp>
        <p:nvGrpSpPr>
          <p:cNvPr id="273" name="Google Shape;273;p42"/>
          <p:cNvGrpSpPr/>
          <p:nvPr/>
        </p:nvGrpSpPr>
        <p:grpSpPr>
          <a:xfrm>
            <a:off x="2351315" y="2490475"/>
            <a:ext cx="5414584" cy="677100"/>
            <a:chOff x="2626251" y="2714175"/>
            <a:chExt cx="6688800" cy="677100"/>
          </a:xfrm>
        </p:grpSpPr>
        <p:sp>
          <p:nvSpPr>
            <p:cNvPr id="274" name="Google Shape;274;p42"/>
            <p:cNvSpPr txBox="1"/>
            <p:nvPr/>
          </p:nvSpPr>
          <p:spPr>
            <a:xfrm>
              <a:off x="4139451" y="2714175"/>
              <a:ext cx="51756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/>
                <a:t>Run all Python commands in this directory;</a:t>
              </a:r>
              <a:endParaRPr sz="1600"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/>
                <a:t>Import all files relative to this directory</a:t>
              </a:r>
              <a:endParaRPr sz="1600"/>
            </a:p>
          </p:txBody>
        </p:sp>
        <p:cxnSp>
          <p:nvCxnSpPr>
            <p:cNvPr id="275" name="Google Shape;275;p42"/>
            <p:cNvCxnSpPr>
              <a:stCxn id="274" idx="1"/>
            </p:cNvCxnSpPr>
            <p:nvPr/>
          </p:nvCxnSpPr>
          <p:spPr>
            <a:xfrm rot="10800000">
              <a:off x="2626251" y="3046125"/>
              <a:ext cx="1513200" cy="660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701</TotalTime>
  <Words>1843</Words>
  <Application>Microsoft Office PowerPoint</Application>
  <PresentationFormat>On-screen Show (16:9)</PresentationFormat>
  <Paragraphs>329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Courier New</vt:lpstr>
      <vt:lpstr>Simple Light</vt:lpstr>
      <vt:lpstr>Software Design for Data Science</vt:lpstr>
      <vt:lpstr>Definitions</vt:lpstr>
      <vt:lpstr>Definitions: Example</vt:lpstr>
      <vt:lpstr>Imports </vt:lpstr>
      <vt:lpstr>Imports</vt:lpstr>
      <vt:lpstr>Using imports</vt:lpstr>
      <vt:lpstr>Multiple imports</vt:lpstr>
      <vt:lpstr>Import as</vt:lpstr>
      <vt:lpstr>Import order of search</vt:lpstr>
      <vt:lpstr>Absolute vs relative imports</vt:lpstr>
      <vt:lpstr>Wildcard imports</vt:lpstr>
      <vt:lpstr>Directory Structure </vt:lpstr>
      <vt:lpstr>Basic codebase in a git repository</vt:lpstr>
      <vt:lpstr>Basic codebase in a git repository</vt:lpstr>
      <vt:lpstr>Basic codebase in a git repository</vt:lpstr>
      <vt:lpstr>Basic codebase in a git repository</vt:lpstr>
      <vt:lpstr>Basic codebase in a git repository</vt:lpstr>
      <vt:lpstr>Basic codebase in a git repository</vt:lpstr>
      <vt:lpstr>Basic codebase in a git repository</vt:lpstr>
      <vt:lpstr>Basic codebase in a git repository</vt:lpstr>
      <vt:lpstr>Basic codebase in a git repository</vt:lpstr>
      <vt:lpstr>Basic codebase in a git repository</vt:lpstr>
      <vt:lpstr>Basic codebase in a git repository</vt:lpstr>
      <vt:lpstr>But wait - what actually goes in __init__.py? </vt:lpstr>
      <vt:lpstr>1. __init__.py is empty</vt:lpstr>
      <vt:lpstr>2. __init__.py imports from subpackages/modules</vt:lpstr>
      <vt:lpstr>3. __init__.py defines the interface for the package</vt:lpstr>
      <vt:lpstr>4. __init__.py defines everything</vt:lpstr>
      <vt:lpstr>Exercise: Make it work</vt:lpstr>
      <vt:lpstr>Recommendation: Imports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Naomi Alterman</cp:lastModifiedBy>
  <cp:revision>2</cp:revision>
  <dcterms:modified xsi:type="dcterms:W3CDTF">2026-02-03T07:55:01Z</dcterms:modified>
</cp:coreProperties>
</file>