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71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31" autoAdjust="0"/>
    <p:restoredTop sz="72316" autoAdjust="0"/>
  </p:normalViewPr>
  <p:slideViewPr>
    <p:cSldViewPr snapToGrid="0">
      <p:cViewPr varScale="1">
        <p:scale>
          <a:sx n="87" d="100"/>
          <a:sy n="87" d="100"/>
        </p:scale>
        <p:origin x="1238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c2482a7c5e_0_10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c2482a7c5e_0_10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Went to UW for undergrad + masters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Worked as a software engineer for about a decade - big company, small company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Have taught a couple classes at UW, ran the intern program for said big company - want to share what I’ve learned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Have worked with a lot of different programming languages in my career, including Python - although it isn’t the language I’ve used the most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But what I’m really good at, and want to share with you, is </a:t>
            </a:r>
            <a:r>
              <a:rPr lang="en" i="1"/>
              <a:t>how to learn and search for what you need</a:t>
            </a:r>
            <a:r>
              <a:rPr lang="en"/>
              <a:t> because honestly no one needs to memorize everything.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2482a7c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2482a7c5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c2482a7c5e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c2482a7c5e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bdf60ccdd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1bdf60ccdd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c2482a7c5e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c2482a7c5e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c2482a7c5e_0_5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c2482a7c5e_0_5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221ea022ef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221ea022ef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1c2482a7c5e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1c2482a7c5e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c2482a7c5e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c2482a7c5e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c2482a7c5e_0_5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c2482a7c5e_0_5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1c2482a7c5e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1c2482a7c5e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c2482a7c5e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c2482a7c5e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BA9880F7-35F8-3E5A-5ADE-5F054A316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c2482a7c5e_0_514:notes">
            <a:extLst>
              <a:ext uri="{FF2B5EF4-FFF2-40B4-BE49-F238E27FC236}">
                <a16:creationId xmlns:a16="http://schemas.microsoft.com/office/drawing/2014/main" id="{4D672DD8-9624-FACA-009D-6FE1A854D3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c2482a7c5e_0_514:notes">
            <a:extLst>
              <a:ext uri="{FF2B5EF4-FFF2-40B4-BE49-F238E27FC236}">
                <a16:creationId xmlns:a16="http://schemas.microsoft.com/office/drawing/2014/main" id="{A9D5D2CE-40B1-E77B-0947-F5FD69C8E9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911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uwdata515.github.io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drugbank.ca" TargetMode="External"/><Relationship Id="rId7" Type="http://schemas.openxmlformats.org/officeDocument/2006/relationships/hyperlink" Target="http://data.worldbank.org/country/china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data.worldbank.org/country/russian-federation" TargetMode="External"/><Relationship Id="rId5" Type="http://schemas.openxmlformats.org/officeDocument/2006/relationships/hyperlink" Target="http://data.worldbank.org/region/european-union" TargetMode="External"/><Relationship Id="rId4" Type="http://schemas.openxmlformats.org/officeDocument/2006/relationships/hyperlink" Target="https://factfinder.census.gov/faces/nav/jsf/pages/index.x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1855304" y="744575"/>
            <a:ext cx="5433408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 dirty="0"/>
              <a:t>Software Design for Data Science</a:t>
            </a:r>
            <a:endParaRPr sz="43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Naomi Alterman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University of Washington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January 6, 2026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244D3EE-4D82-F1AC-096E-8A425A428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24" y="435677"/>
            <a:ext cx="8400121" cy="1060613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Introductions: Course Instructor</a:t>
            </a:r>
            <a:br>
              <a:rPr lang="en-US" dirty="0"/>
            </a:br>
            <a:r>
              <a:rPr lang="en-US" dirty="0"/>
              <a:t>Professor Naomi!</a:t>
            </a:r>
            <a:br>
              <a:rPr lang="en-US" dirty="0"/>
            </a:b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78056-9318-70C1-678F-2DAF5218A26D}"/>
              </a:ext>
            </a:extLst>
          </p:cNvPr>
          <p:cNvSpPr txBox="1">
            <a:spLocks/>
          </p:cNvSpPr>
          <p:nvPr/>
        </p:nvSpPr>
        <p:spPr>
          <a:xfrm>
            <a:off x="476024" y="1361661"/>
            <a:ext cx="6348306" cy="497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Electrical engineer by training</a:t>
            </a:r>
          </a:p>
          <a:p>
            <a:r>
              <a:rPr lang="en-US" dirty="0"/>
              <a:t>Bopped around Silicon Valley hacking on everything from OS kernels to internet backbone routing chips to LIDAR firmware to mobile graphics libraries</a:t>
            </a:r>
          </a:p>
          <a:p>
            <a:r>
              <a:rPr lang="en-US" dirty="0"/>
              <a:t>Discovered in industry that computers are boring</a:t>
            </a:r>
          </a:p>
          <a:p>
            <a:pPr lvl="1"/>
            <a:r>
              <a:rPr lang="en-US" sz="1600" dirty="0"/>
              <a:t>But </a:t>
            </a:r>
            <a:r>
              <a:rPr lang="en-US" sz="1600" i="1" dirty="0"/>
              <a:t>people</a:t>
            </a:r>
            <a:r>
              <a:rPr lang="en-US" sz="1600" dirty="0"/>
              <a:t> on the other hand…</a:t>
            </a:r>
          </a:p>
          <a:p>
            <a:r>
              <a:rPr lang="en-US" dirty="0"/>
              <a:t>Proud cat mom to Danni (aka Her Royal Majesty, Queen Baby)</a:t>
            </a:r>
          </a:p>
        </p:txBody>
      </p:sp>
      <p:sp>
        <p:nvSpPr>
          <p:cNvPr id="11" name="Slide Number Placeholder 15">
            <a:extLst>
              <a:ext uri="{FF2B5EF4-FFF2-40B4-BE49-F238E27FC236}">
                <a16:creationId xmlns:a16="http://schemas.microsoft.com/office/drawing/2014/main" id="{11D59CCB-208A-E52B-AD06-3255EEE14696}"/>
              </a:ext>
            </a:extLst>
          </p:cNvPr>
          <p:cNvSpPr txBox="1">
            <a:spLocks/>
          </p:cNvSpPr>
          <p:nvPr/>
        </p:nvSpPr>
        <p:spPr>
          <a:xfrm>
            <a:off x="11379200" y="6492241"/>
            <a:ext cx="8128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A352B390-DEB2-4C03-8333-A0E41D1ED728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12" name="Picture 11" descr="A cartoon of Naomi waving&#10;">
            <a:extLst>
              <a:ext uri="{FF2B5EF4-FFF2-40B4-BE49-F238E27FC236}">
                <a16:creationId xmlns:a16="http://schemas.microsoft.com/office/drawing/2014/main" id="{C61ABD3B-AAA7-4C45-044B-9921379F93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305"/>
          <a:stretch>
            <a:fillRect/>
          </a:stretch>
        </p:blipFill>
        <p:spPr>
          <a:xfrm>
            <a:off x="6932196" y="435678"/>
            <a:ext cx="2211803" cy="4121311"/>
          </a:xfrm>
          <a:prstGeom prst="rect">
            <a:avLst/>
          </a:prstGeom>
        </p:spPr>
      </p:pic>
      <p:pic>
        <p:nvPicPr>
          <p:cNvPr id="13" name="Picture 12" descr="Naomi's cat Danni lying on a blanket">
            <a:extLst>
              <a:ext uri="{FF2B5EF4-FFF2-40B4-BE49-F238E27FC236}">
                <a16:creationId xmlns:a16="http://schemas.microsoft.com/office/drawing/2014/main" id="{8B2E2C36-C227-0D08-876B-127063B36A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821" y="2030680"/>
            <a:ext cx="6348306" cy="32530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>
              <a:buSzPct val="111111"/>
            </a:pPr>
            <a:r>
              <a:rPr lang="en-US" dirty="0"/>
              <a:t>Introductions: Teaching Assistant</a:t>
            </a:r>
            <a:br>
              <a:rPr lang="en-US" dirty="0"/>
            </a:br>
            <a:r>
              <a:rPr lang="en" dirty="0"/>
              <a:t>Riyosha (She/Her) </a:t>
            </a:r>
            <a:endParaRPr dirty="0"/>
          </a:p>
        </p:txBody>
      </p:sp>
      <p:sp>
        <p:nvSpPr>
          <p:cNvPr id="63" name="Google Shape;63;p2"/>
          <p:cNvSpPr txBox="1">
            <a:spLocks noGrp="1"/>
          </p:cNvSpPr>
          <p:nvPr>
            <p:ph type="body" idx="1"/>
          </p:nvPr>
        </p:nvSpPr>
        <p:spPr>
          <a:xfrm>
            <a:off x="311700" y="1394691"/>
            <a:ext cx="8520600" cy="3365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2nd Year MSDS student (2024-26)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‘24 graduate from Ashoka University </a:t>
            </a:r>
            <a:endParaRPr sz="2400" dirty="0"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 dirty="0"/>
              <a:t>Majored in Mathematics with</a:t>
            </a:r>
            <a:endParaRPr sz="2400" dirty="0"/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minors in CS and Pol Sci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Most recently researched with the Transport-Human Interaction Network Lab at UW over the summer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Enjoy hiking, reading and overanalyzing movies with friends (unasked)</a:t>
            </a:r>
            <a:endParaRPr sz="2400" dirty="0"/>
          </a:p>
        </p:txBody>
      </p:sp>
      <p:pic>
        <p:nvPicPr>
          <p:cNvPr id="64" name="Google Shape;64;p2"/>
          <p:cNvPicPr preferRelativeResize="0"/>
          <p:nvPr/>
        </p:nvPicPr>
        <p:blipFill rotWithShape="1">
          <a:blip r:embed="rId3">
            <a:alphaModFix/>
          </a:blip>
          <a:srcRect l="4097" t="19016" r="12617" b="19022"/>
          <a:stretch/>
        </p:blipFill>
        <p:spPr>
          <a:xfrm>
            <a:off x="6204375" y="280850"/>
            <a:ext cx="2627926" cy="260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Engineering vs Data Science</a:t>
            </a: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1876150" y="1207000"/>
            <a:ext cx="3657600" cy="3657600"/>
          </a:xfrm>
          <a:prstGeom prst="ellipse">
            <a:avLst/>
          </a:prstGeom>
          <a:solidFill>
            <a:srgbClr val="FFED00">
              <a:alpha val="30360"/>
            </a:srgbClr>
          </a:solidFill>
          <a:ln w="28575" cap="flat" cmpd="sng">
            <a:solidFill>
              <a:srgbClr val="F1C2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3610250" y="1207000"/>
            <a:ext cx="3657600" cy="3657600"/>
          </a:xfrm>
          <a:prstGeom prst="ellipse">
            <a:avLst/>
          </a:prstGeom>
          <a:solidFill>
            <a:srgbClr val="005BFF">
              <a:alpha val="32139"/>
            </a:srgbClr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311700" y="2666350"/>
            <a:ext cx="1554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Software Engineering</a:t>
            </a:r>
            <a:endParaRPr sz="1800" b="1"/>
          </a:p>
        </p:txBody>
      </p:sp>
      <p:sp>
        <p:nvSpPr>
          <p:cNvPr id="101" name="Google Shape;101;p16"/>
          <p:cNvSpPr txBox="1"/>
          <p:nvPr/>
        </p:nvSpPr>
        <p:spPr>
          <a:xfrm>
            <a:off x="7051550" y="2666350"/>
            <a:ext cx="1474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Data Science</a:t>
            </a:r>
            <a:endParaRPr sz="1800" b="1"/>
          </a:p>
        </p:txBody>
      </p:sp>
      <p:sp>
        <p:nvSpPr>
          <p:cNvPr id="102" name="Google Shape;102;p16"/>
          <p:cNvSpPr txBox="1"/>
          <p:nvPr/>
        </p:nvSpPr>
        <p:spPr>
          <a:xfrm>
            <a:off x="3640050" y="1628950"/>
            <a:ext cx="18639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</a:t>
            </a: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Collaboration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Communication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Specifications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Project design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Testing</a:t>
            </a:r>
            <a:endParaRPr sz="1800"/>
          </a:p>
        </p:txBody>
      </p:sp>
      <p:sp>
        <p:nvSpPr>
          <p:cNvPr id="103" name="Google Shape;103;p16"/>
          <p:cNvSpPr txBox="1"/>
          <p:nvPr/>
        </p:nvSpPr>
        <p:spPr>
          <a:xfrm>
            <a:off x="1876150" y="2666350"/>
            <a:ext cx="1734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Lots of programming</a:t>
            </a:r>
            <a:endParaRPr sz="1800"/>
          </a:p>
        </p:txBody>
      </p:sp>
      <p:sp>
        <p:nvSpPr>
          <p:cNvPr id="104" name="Google Shape;104;p16"/>
          <p:cNvSpPr txBox="1"/>
          <p:nvPr/>
        </p:nvSpPr>
        <p:spPr>
          <a:xfrm>
            <a:off x="5503950" y="2666350"/>
            <a:ext cx="1734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Lots of data</a:t>
            </a:r>
            <a:endParaRPr sz="1800"/>
          </a:p>
        </p:txBody>
      </p:sp>
      <p:sp>
        <p:nvSpPr>
          <p:cNvPr id="105" name="Google Shape;105;p16"/>
          <p:cNvSpPr txBox="1"/>
          <p:nvPr/>
        </p:nvSpPr>
        <p:spPr>
          <a:xfrm>
            <a:off x="3527550" y="3405250"/>
            <a:ext cx="2088900" cy="738900"/>
          </a:xfrm>
          <a:prstGeom prst="rect">
            <a:avLst/>
          </a:prstGeom>
          <a:solidFill>
            <a:srgbClr val="FFFFFF">
              <a:alpha val="42260"/>
            </a:srgbClr>
          </a:solidFill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Machine Learning</a:t>
            </a:r>
            <a:endParaRPr sz="1800">
              <a:solidFill>
                <a:srgbClr val="FF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Data Engineering</a:t>
            </a:r>
            <a:endParaRPr sz="18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course</a:t>
            </a:r>
            <a:endParaRPr/>
          </a:p>
        </p:txBody>
      </p:sp>
      <p:pic>
        <p:nvPicPr>
          <p:cNvPr id="111" name="Google Shape;11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4823" y="1544600"/>
            <a:ext cx="4242948" cy="28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Practical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Hands-on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after graduation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HOW to learn, </a:t>
            </a:r>
            <a:br>
              <a:rPr lang="en"/>
            </a:br>
            <a:r>
              <a:rPr lang="en"/>
              <a:t>not just the skills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Website</a:t>
            </a:r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u="sng" dirty="0">
                <a:solidFill>
                  <a:schemeClr val="hlink"/>
                </a:solidFill>
                <a:hlinkClick r:id="rId3"/>
              </a:rPr>
              <a:t>https://uwdata515.github.io/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Linked from MyUW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+ Canvas for grades, surveys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+ Ed Discussions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600" dirty="0"/>
              <a:t>4 hours, with breaks between topics</a:t>
            </a:r>
            <a:endParaRPr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311701" y="1152475"/>
            <a:ext cx="3530537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Collaborative software engineering experience</a:t>
            </a:r>
            <a:endParaRPr sz="2400"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Teams of 3 or (ideally) 4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Develop project using version control</a:t>
            </a:r>
            <a:endParaRPr sz="2400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7B8810A-C260-3236-23A1-00A8149C5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3567" y="1017724"/>
            <a:ext cx="4558732" cy="3422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loud 1">
            <a:extLst>
              <a:ext uri="{FF2B5EF4-FFF2-40B4-BE49-F238E27FC236}">
                <a16:creationId xmlns:a16="http://schemas.microsoft.com/office/drawing/2014/main" id="{5BD5C551-4888-D9C8-A03F-3E80C2A18131}"/>
              </a:ext>
            </a:extLst>
          </p:cNvPr>
          <p:cNvSpPr/>
          <p:nvPr/>
        </p:nvSpPr>
        <p:spPr>
          <a:xfrm>
            <a:off x="5627077" y="2338755"/>
            <a:ext cx="1951892" cy="794279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GitHub: A Must-Have Tool for Grads Entering the Job Market – Fleishman  Center for Career and Professional Development | Binghamton University,  State University of New York">
            <a:extLst>
              <a:ext uri="{FF2B5EF4-FFF2-40B4-BE49-F238E27FC236}">
                <a16:creationId xmlns:a16="http://schemas.microsoft.com/office/drawing/2014/main" id="{834C300E-FFAD-8D86-7068-2C6967A85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275" y="2298430"/>
            <a:ext cx="2322830" cy="860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We’re not just going to build something, we’re </a:t>
            </a:r>
            <a:r>
              <a:rPr lang="en-US" dirty="0" err="1"/>
              <a:t>gonna</a:t>
            </a:r>
            <a:r>
              <a:rPr lang="en-US" dirty="0"/>
              <a:t> </a:t>
            </a:r>
            <a:r>
              <a:rPr lang="en-US" b="1" dirty="0"/>
              <a:t>build it RIGHT 😤!!</a:t>
            </a:r>
            <a:endParaRPr b="1"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(use cases, component specification)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Documentation (how to, docstrings)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Style (PEP8, pylint)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Coding, testing &amp; milestones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Standup &amp; code reviews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 Types</a:t>
            </a:r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Answer “Research” Questions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Create a Tool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Teach Analysis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Present Data</a:t>
            </a:r>
            <a:endParaRPr sz="2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Started</a:t>
            </a:r>
            <a:endParaRPr/>
          </a:p>
        </p:txBody>
      </p:sp>
      <p:grpSp>
        <p:nvGrpSpPr>
          <p:cNvPr id="144" name="Google Shape;144;p22"/>
          <p:cNvGrpSpPr/>
          <p:nvPr/>
        </p:nvGrpSpPr>
        <p:grpSpPr>
          <a:xfrm>
            <a:off x="242225" y="1190004"/>
            <a:ext cx="2484569" cy="3482836"/>
            <a:chOff x="0" y="1189989"/>
            <a:chExt cx="2726700" cy="3482836"/>
          </a:xfrm>
        </p:grpSpPr>
        <p:sp>
          <p:nvSpPr>
            <p:cNvPr id="145" name="Google Shape;145;p22"/>
            <p:cNvSpPr/>
            <p:nvPr/>
          </p:nvSpPr>
          <p:spPr>
            <a:xfrm>
              <a:off x="0" y="1189989"/>
              <a:ext cx="2726700" cy="669000"/>
            </a:xfrm>
            <a:prstGeom prst="homePlate">
              <a:avLst>
                <a:gd name="adj" fmla="val 50000"/>
              </a:avLst>
            </a:prstGeom>
            <a:solidFill>
              <a:srgbClr val="8020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1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22"/>
            <p:cNvSpPr txBox="1"/>
            <p:nvPr/>
          </p:nvSpPr>
          <p:spPr>
            <a:xfrm>
              <a:off x="410850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Students present statements of interest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" name="Google Shape;147;p22"/>
          <p:cNvGrpSpPr/>
          <p:nvPr/>
        </p:nvGrpSpPr>
        <p:grpSpPr>
          <a:xfrm>
            <a:off x="2263425" y="1189775"/>
            <a:ext cx="2541300" cy="3483050"/>
            <a:chOff x="2263425" y="1189775"/>
            <a:chExt cx="2541300" cy="3483050"/>
          </a:xfrm>
        </p:grpSpPr>
        <p:sp>
          <p:nvSpPr>
            <p:cNvPr id="148" name="Google Shape;148;p22"/>
            <p:cNvSpPr/>
            <p:nvPr/>
          </p:nvSpPr>
          <p:spPr>
            <a:xfrm>
              <a:off x="2263425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A72A1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2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" name="Google Shape;149;p22"/>
            <p:cNvSpPr txBox="1"/>
            <p:nvPr/>
          </p:nvSpPr>
          <p:spPr>
            <a:xfrm>
              <a:off x="2512202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Gather with like-minded students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0" name="Google Shape;150;p22"/>
          <p:cNvGrpSpPr/>
          <p:nvPr/>
        </p:nvGrpSpPr>
        <p:grpSpPr>
          <a:xfrm>
            <a:off x="4329974" y="1189775"/>
            <a:ext cx="2541300" cy="3483050"/>
            <a:chOff x="4329974" y="1189775"/>
            <a:chExt cx="2541300" cy="3483050"/>
          </a:xfrm>
        </p:grpSpPr>
        <p:sp>
          <p:nvSpPr>
            <p:cNvPr id="151" name="Google Shape;151;p22"/>
            <p:cNvSpPr/>
            <p:nvPr/>
          </p:nvSpPr>
          <p:spPr>
            <a:xfrm>
              <a:off x="4329974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B02C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3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2" name="Google Shape;152;p22"/>
            <p:cNvSpPr txBox="1"/>
            <p:nvPr/>
          </p:nvSpPr>
          <p:spPr>
            <a:xfrm>
              <a:off x="4613553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Verify the project idea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" name="Google Shape;153;p22"/>
          <p:cNvGrpSpPr/>
          <p:nvPr/>
        </p:nvGrpSpPr>
        <p:grpSpPr>
          <a:xfrm>
            <a:off x="6396739" y="1189775"/>
            <a:ext cx="2541300" cy="3483050"/>
            <a:chOff x="6396739" y="1189775"/>
            <a:chExt cx="2541300" cy="3483050"/>
          </a:xfrm>
        </p:grpSpPr>
        <p:sp>
          <p:nvSpPr>
            <p:cNvPr id="154" name="Google Shape;154;p22"/>
            <p:cNvSpPr/>
            <p:nvPr/>
          </p:nvSpPr>
          <p:spPr>
            <a:xfrm>
              <a:off x="6396739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BE2F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4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22"/>
            <p:cNvSpPr txBox="1"/>
            <p:nvPr/>
          </p:nvSpPr>
          <p:spPr>
            <a:xfrm>
              <a:off x="6714905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Size the effort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the Data</a:t>
            </a:r>
            <a:endParaRPr/>
          </a:p>
        </p:txBody>
      </p:sp>
      <p:sp>
        <p:nvSpPr>
          <p:cNvPr id="161" name="Google Shape;161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At least two non-trivial data sets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Data need to be combined, joined, merged, etc. to answer the scientific questions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Have access to the data NOW!</a:t>
            </a:r>
            <a:endParaRPr sz="2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Public Data</a:t>
            </a:r>
            <a:endParaRPr/>
          </a:p>
        </p:txBody>
      </p:sp>
      <p:sp>
        <p:nvSpPr>
          <p:cNvPr id="167" name="Google Shape;16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http://drugbank.ca</a:t>
            </a:r>
            <a:endParaRPr dirty="0"/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https://www.nlm.nih.gov/toxnet/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https://data.seattle.gov/browse?tags=traffic&amp;sortBy=relevance&amp;pageSize=20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https://divvybikes.com/system-data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https://www.nyc.gov/site/tlc/about/tlc-trip-record-data.page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https://www.kaggle.com/datasets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https://www.seattle.gov/transportation/projects-and-programs/programs/new-mobility-program/scooter-bike-share-data </a:t>
            </a:r>
            <a:r>
              <a:rPr lang="en" u="sng" dirty="0">
                <a:solidFill>
                  <a:schemeClr val="hlink"/>
                </a:solidFill>
                <a:hlinkClick r:id="rId4"/>
              </a:rPr>
              <a:t>American Fact Finder Data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5"/>
              </a:rPr>
              <a:t>European union data (World bank)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6"/>
              </a:rPr>
              <a:t>Russian federation data (World bank)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7"/>
              </a:rPr>
              <a:t>China data (World bank)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Ideation</a:t>
            </a:r>
            <a:endParaRPr/>
          </a:p>
        </p:txBody>
      </p:sp>
      <p:sp>
        <p:nvSpPr>
          <p:cNvPr id="173" name="Google Shape;173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 the first few weeks: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areas are you interested in?  E.g. social good or a job demo.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data are available in that space?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tools already exist in that space?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type of project is this? (answer research question, create reusable data, create a tool, other?)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Give a one slide, 1 minute project idea pitch at the start of class #5!</a:t>
            </a:r>
            <a:endParaRPr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Academic Integrity</a:t>
            </a:r>
            <a:endParaRPr/>
          </a:p>
        </p:txBody>
      </p:sp>
      <p:sp>
        <p:nvSpPr>
          <p:cNvPr id="179" name="Google Shape;179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Software development is a highly collaborative endeavor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expect you to collaborate, but your work is your own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software, there is rarely one correct solution to any problem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Standing around a white board brainstorming is OK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Directly copying code someone else in your class is </a:t>
            </a:r>
            <a:r>
              <a:rPr lang="en" u="sng"/>
              <a:t>not OK</a:t>
            </a:r>
            <a:endParaRPr u="sng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point is for you to learn the concepts and copying answers can defeat that point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30DE1DDD-BB08-A005-C264-7A8D22934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>
            <a:extLst>
              <a:ext uri="{FF2B5EF4-FFF2-40B4-BE49-F238E27FC236}">
                <a16:creationId xmlns:a16="http://schemas.microsoft.com/office/drawing/2014/main" id="{39A3E895-57DC-3E8A-1B24-06DDD3E22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what about AI?</a:t>
            </a:r>
            <a:endParaRPr dirty="0"/>
          </a:p>
        </p:txBody>
      </p:sp>
      <p:sp>
        <p:nvSpPr>
          <p:cNvPr id="179" name="Google Shape;179;p26">
            <a:extLst>
              <a:ext uri="{FF2B5EF4-FFF2-40B4-BE49-F238E27FC236}">
                <a16:creationId xmlns:a16="http://schemas.microsoft.com/office/drawing/2014/main" id="{90830B90-67DB-119B-059B-1D4DE2CE6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007646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lol what </a:t>
            </a:r>
            <a:r>
              <a:rPr lang="en-US" b="1" i="1" dirty="0"/>
              <a:t>about </a:t>
            </a:r>
            <a:r>
              <a:rPr lang="en-US" dirty="0"/>
              <a:t>AI?? 🫠🫠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Working on getting content together for later in the quarter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the meantime though</a:t>
            </a:r>
            <a:r>
              <a:rPr lang="en-US" b="1" dirty="0"/>
              <a:t>: </a:t>
            </a:r>
            <a:r>
              <a:rPr lang="en-US" dirty="0"/>
              <a:t>treat AI as a classmate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might ask a classmate to help explain something to you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might even collaborate with a classmate when </a:t>
            </a:r>
            <a:r>
              <a:rPr lang="en-US" dirty="0" err="1"/>
              <a:t>OK’ed</a:t>
            </a:r>
            <a:r>
              <a:rPr lang="en-US" dirty="0"/>
              <a:t> by the instructor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wouldn’t copy a classmate’s answers on a solo homework assignment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wouldn’t ask a classmate if your answer is right or not</a:t>
            </a:r>
            <a:endParaRPr dirty="0"/>
          </a:p>
        </p:txBody>
      </p:sp>
      <p:pic>
        <p:nvPicPr>
          <p:cNvPr id="2" name="Picture 2" descr="An early AI rendition of the Mona Lisa">
            <a:extLst>
              <a:ext uri="{FF2B5EF4-FFF2-40B4-BE49-F238E27FC236}">
                <a16:creationId xmlns:a16="http://schemas.microsoft.com/office/drawing/2014/main" id="{B9873F6B-AAF5-7B02-7B3F-20838EF51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4029" y="574625"/>
            <a:ext cx="2822004" cy="420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661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798</Words>
  <Application>Microsoft Office PowerPoint</Application>
  <PresentationFormat>On-screen Show (16:9)</PresentationFormat>
  <Paragraphs>110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Roboto</vt:lpstr>
      <vt:lpstr>Arial</vt:lpstr>
      <vt:lpstr>Simple Light</vt:lpstr>
      <vt:lpstr>Software Design for Data Science</vt:lpstr>
      <vt:lpstr>Introductions: Course Instructor Professor Naomi! </vt:lpstr>
      <vt:lpstr>Introductions: Teaching Assistant Riyosha (She/Her) </vt:lpstr>
      <vt:lpstr>Software Engineering vs Data Science</vt:lpstr>
      <vt:lpstr>This course</vt:lpstr>
      <vt:lpstr>Course Website</vt:lpstr>
      <vt:lpstr>Course Project</vt:lpstr>
      <vt:lpstr>Course Project</vt:lpstr>
      <vt:lpstr>Course Project Types</vt:lpstr>
      <vt:lpstr>Getting Started</vt:lpstr>
      <vt:lpstr>More on the Data</vt:lpstr>
      <vt:lpstr>Some Public Data</vt:lpstr>
      <vt:lpstr>Project Ideation</vt:lpstr>
      <vt:lpstr>Academic Integrity</vt:lpstr>
      <vt:lpstr>But what about AI?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10</cp:revision>
  <dcterms:modified xsi:type="dcterms:W3CDTF">2026-01-06T08:43:40Z</dcterms:modified>
</cp:coreProperties>
</file>