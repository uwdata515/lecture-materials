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2"/>
  </p:notesMasterIdLst>
  <p:sldIdLst>
    <p:sldId id="273" r:id="rId2"/>
    <p:sldId id="257" r:id="rId3"/>
    <p:sldId id="275" r:id="rId4"/>
    <p:sldId id="258" r:id="rId5"/>
    <p:sldId id="259" r:id="rId6"/>
    <p:sldId id="276"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7" r:id="rId20"/>
    <p:sldId id="272" r:id="rId2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169" autoAdjust="0"/>
  </p:normalViewPr>
  <p:slideViewPr>
    <p:cSldViewPr snapToGrid="0">
      <p:cViewPr varScale="1">
        <p:scale>
          <a:sx n="84" d="100"/>
          <a:sy n="84" d="100"/>
        </p:scale>
        <p:origin x="1354" y="8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1c3fb56548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c3fb5654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mean, do we really need to ask questions?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6F135293-1783-485A-E870-1C1E98BC8ACF}"/>
            </a:ext>
          </a:extLst>
        </p:cNvPr>
        <p:cNvGrpSpPr/>
        <p:nvPr/>
      </p:nvGrpSpPr>
      <p:grpSpPr>
        <a:xfrm>
          <a:off x="0" y="0"/>
          <a:ext cx="0" cy="0"/>
          <a:chOff x="0" y="0"/>
          <a:chExt cx="0" cy="0"/>
        </a:xfrm>
      </p:grpSpPr>
      <p:sp>
        <p:nvSpPr>
          <p:cNvPr id="66" name="Google Shape;66;g1c3fb56548d_0_0:notes">
            <a:extLst>
              <a:ext uri="{FF2B5EF4-FFF2-40B4-BE49-F238E27FC236}">
                <a16:creationId xmlns:a16="http://schemas.microsoft.com/office/drawing/2014/main" id="{F9B86FF4-247A-4F60-7DB1-70B8B31CD4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c3fb56548d_0_0:notes">
            <a:extLst>
              <a:ext uri="{FF2B5EF4-FFF2-40B4-BE49-F238E27FC236}">
                <a16:creationId xmlns:a16="http://schemas.microsoft.com/office/drawing/2014/main" id="{1FA5BC1E-B448-0EF1-0496-B32D1C11BD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Historically, when I haven’t asked questions I just sit behind my computer and feel increasingly more stupid until I’m all shriveled up like picnic bear here.</a:t>
            </a:r>
          </a:p>
          <a:p>
            <a:pPr marL="0" lvl="0" indent="0" algn="l" rtl="0">
              <a:spcBef>
                <a:spcPts val="0"/>
              </a:spcBef>
              <a:spcAft>
                <a:spcPts val="0"/>
              </a:spcAft>
              <a:buNone/>
            </a:pPr>
            <a:r>
              <a:rPr lang="en" dirty="0"/>
              <a:t>Don’t be like picnic bear. Ask questions.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Everybody gets stuck sometimes.</a:t>
            </a:r>
            <a:endParaRPr dirty="0"/>
          </a:p>
          <a:p>
            <a:pPr marL="0" lvl="0" indent="0" algn="l" rtl="0">
              <a:spcBef>
                <a:spcPts val="0"/>
              </a:spcBef>
              <a:spcAft>
                <a:spcPts val="0"/>
              </a:spcAft>
              <a:buNone/>
            </a:pPr>
            <a:r>
              <a:rPr lang="en" dirty="0"/>
              <a:t>Everybody needs to ask questions.</a:t>
            </a:r>
            <a:endParaRPr dirty="0"/>
          </a:p>
          <a:p>
            <a:pPr marL="0" lvl="0" indent="0" algn="l" rtl="0">
              <a:spcBef>
                <a:spcPts val="0"/>
              </a:spcBef>
              <a:spcAft>
                <a:spcPts val="0"/>
              </a:spcAft>
              <a:buNone/>
            </a:pPr>
            <a:r>
              <a:rPr lang="en" dirty="0"/>
              <a:t>It is not shameful to ask questions.</a:t>
            </a:r>
            <a:endParaRPr dirty="0"/>
          </a:p>
          <a:p>
            <a:pPr marL="0" lvl="0" indent="0" algn="l" rtl="0">
              <a:spcBef>
                <a:spcPts val="0"/>
              </a:spcBef>
              <a:spcAft>
                <a:spcPts val="0"/>
              </a:spcAft>
              <a:buNone/>
            </a:pPr>
            <a:r>
              <a:rPr lang="en" dirty="0"/>
              <a:t>People like to help.</a:t>
            </a:r>
            <a:endParaRPr dirty="0"/>
          </a:p>
          <a:p>
            <a:pPr marL="0" lvl="0" indent="0" algn="l" rtl="0">
              <a:spcBef>
                <a:spcPts val="0"/>
              </a:spcBef>
              <a:spcAft>
                <a:spcPts val="0"/>
              </a:spcAft>
              <a:buNone/>
            </a:pPr>
            <a:r>
              <a:rPr lang="en" dirty="0"/>
              <a:t>Asking good questions is hard.</a:t>
            </a:r>
            <a:endParaRPr dirty="0"/>
          </a:p>
          <a:p>
            <a:pPr marL="0" lvl="0" indent="0" algn="l" rtl="0">
              <a:spcBef>
                <a:spcPts val="0"/>
              </a:spcBef>
              <a:spcAft>
                <a:spcPts val="0"/>
              </a:spcAft>
              <a:buNone/>
            </a:pPr>
            <a:r>
              <a:rPr lang="en" dirty="0"/>
              <a:t>Asking good questions will get you the answers you need quickly.</a:t>
            </a:r>
            <a:endParaRPr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148990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1c3fb56548d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1c3fb56548d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One of the most common ways that I’ve seen interns and new engineers struggle and fail is by not asking questions.</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i="1">
                <a:solidFill>
                  <a:schemeClr val="dk1"/>
                </a:solidFill>
              </a:rPr>
              <a:t>There is never a time in this class where you cannot ask a question.</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There’s a difference between "asking a question about your homework" and "asking a specific question about the code and concepts in your homework" - prefer the latter.</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1c3fb56548d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1c3fb56548d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1c3fb56548d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1c3fb56548d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1c3fb56548d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1c3fb56548d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Not all of these are applicable to every question.</a:t>
            </a:r>
            <a:endParaRPr/>
          </a:p>
          <a:p>
            <a:pPr marL="0" lvl="0" indent="0" algn="l" rtl="0">
              <a:spcBef>
                <a:spcPts val="0"/>
              </a:spcBef>
              <a:spcAft>
                <a:spcPts val="0"/>
              </a:spcAft>
              <a:buNone/>
            </a:pPr>
            <a:endParaRPr/>
          </a:p>
          <a:p>
            <a:pPr marL="0" lvl="0" indent="0" algn="l" rtl="0">
              <a:spcBef>
                <a:spcPts val="0"/>
              </a:spcBef>
              <a:spcAft>
                <a:spcPts val="0"/>
              </a:spcAft>
              <a:buNone/>
            </a:pPr>
            <a:r>
              <a:rPr lang="en"/>
              <a:t>Google is acceptable in this class! Please search for solutions. However, you should always try to understand the solutions you find, not just copy/paste - otherwise your next homework assignments will be harder than they need to be.</a:t>
            </a:r>
            <a:endParaRPr/>
          </a:p>
          <a:p>
            <a:pPr marL="0" lvl="0" indent="0" algn="l" rtl="0">
              <a:spcBef>
                <a:spcPts val="0"/>
              </a:spcBef>
              <a:spcAft>
                <a:spcPts val="0"/>
              </a:spcAft>
              <a:buNone/>
            </a:pPr>
            <a:endParaRPr/>
          </a:p>
          <a:p>
            <a:pPr marL="0" lvl="0" indent="0" algn="l" rtl="0">
              <a:spcBef>
                <a:spcPts val="0"/>
              </a:spcBef>
              <a:spcAft>
                <a:spcPts val="0"/>
              </a:spcAft>
              <a:buNone/>
            </a:pPr>
            <a:r>
              <a:rPr lang="en"/>
              <a:t>In the real world, we do a lot of searching. In a future class, we’ll talk more about strategies for searching through the Internet.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1c3fb56548d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1c3fb56548d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Questions often depend on a lot of context - information that you know, but that is often complicated and very important to help someone answer your question.</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What is your overall goal? What are you trying to accomplish, in the end?</a:t>
            </a:r>
            <a:endParaRPr/>
          </a:p>
          <a:p>
            <a:pPr marL="914400" lvl="1" indent="-298450" algn="l" rtl="0">
              <a:spcBef>
                <a:spcPts val="0"/>
              </a:spcBef>
              <a:spcAft>
                <a:spcPts val="0"/>
              </a:spcAft>
              <a:buSzPts val="1100"/>
              <a:buChar char="○"/>
            </a:pPr>
            <a:r>
              <a:rPr lang="en"/>
              <a:t>Sometimes we get stuck on one particular path that we think leads to our goal. If we only talk about the step that we’re stuck on, you might not realize that the path you’re on is wrong. Always provide your overall goal as context, so that the person answering your question can potentially help correct the path you’re on.</a:t>
            </a:r>
            <a:endParaRPr/>
          </a:p>
          <a:p>
            <a:pPr marL="457200" lvl="0" indent="-298450" algn="l" rtl="0">
              <a:spcBef>
                <a:spcPts val="0"/>
              </a:spcBef>
              <a:spcAft>
                <a:spcPts val="0"/>
              </a:spcAft>
              <a:buSzPts val="1100"/>
              <a:buChar char="●"/>
            </a:pPr>
            <a:r>
              <a:rPr lang="en"/>
              <a:t>What step of the process are you on?</a:t>
            </a:r>
            <a:endParaRPr/>
          </a:p>
          <a:p>
            <a:pPr marL="457200" lvl="0" indent="-298450" algn="l" rtl="0">
              <a:spcBef>
                <a:spcPts val="0"/>
              </a:spcBef>
              <a:spcAft>
                <a:spcPts val="0"/>
              </a:spcAft>
              <a:buSzPts val="1100"/>
              <a:buChar char="●"/>
            </a:pPr>
            <a:r>
              <a:rPr lang="en"/>
              <a:t>How did you encounter the problem? What were you doing when you got stuck?</a:t>
            </a:r>
            <a:endParaRPr/>
          </a:p>
          <a:p>
            <a:pPr marL="457200" lvl="0" indent="-298450" algn="l" rtl="0">
              <a:spcBef>
                <a:spcPts val="0"/>
              </a:spcBef>
              <a:spcAft>
                <a:spcPts val="0"/>
              </a:spcAft>
              <a:buSzPts val="1100"/>
              <a:buChar char="●"/>
            </a:pPr>
            <a:r>
              <a:rPr lang="en"/>
              <a:t>What assumptions have you made about the problem or the step you’re on?</a:t>
            </a:r>
            <a:endParaRPr/>
          </a:p>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1c3fb56548d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1c3fb56548d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1200"/>
              </a:spcBef>
              <a:spcAft>
                <a:spcPts val="0"/>
              </a:spcAft>
              <a:buClr>
                <a:schemeClr val="dk1"/>
              </a:buClr>
              <a:buSzPts val="1100"/>
              <a:buChar char="●"/>
            </a:pPr>
            <a:r>
              <a:rPr lang="en">
                <a:solidFill>
                  <a:schemeClr val="dk1"/>
                </a:solidFill>
              </a:rPr>
              <a:t>Describe the symptoms of your problem or bug carefully and clearly.</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Describe the environment in which it occurs (machine, OS, application, whatever). Provide your vendor's distribution and release level (e.g.: “Fedora Core 7”, “Slackware 9.1”, etc.).</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Describe the research you did to try and understand the problem before you asked the question.</a:t>
            </a:r>
            <a:endParaRPr>
              <a:solidFill>
                <a:schemeClr val="dk1"/>
              </a:solidFill>
            </a:endParaRPr>
          </a:p>
          <a:p>
            <a:pPr marL="914400" lvl="1" indent="-298450" algn="l" rtl="0">
              <a:spcBef>
                <a:spcPts val="0"/>
              </a:spcBef>
              <a:spcAft>
                <a:spcPts val="0"/>
              </a:spcAft>
              <a:buClr>
                <a:schemeClr val="dk1"/>
              </a:buClr>
              <a:buSzPts val="1100"/>
              <a:buAutoNum type="alphaLcPeriod"/>
            </a:pPr>
            <a:r>
              <a:rPr lang="en">
                <a:solidFill>
                  <a:schemeClr val="dk1"/>
                </a:solidFill>
              </a:rPr>
              <a:t>What have you tried already, and why didn’t that solve the problem?</a:t>
            </a:r>
            <a:endParaRPr>
              <a:solidFill>
                <a:schemeClr val="dk1"/>
              </a:solidFill>
            </a:endParaRPr>
          </a:p>
          <a:p>
            <a:pPr marL="914400" lvl="1" indent="-298450" algn="l" rtl="0">
              <a:spcBef>
                <a:spcPts val="0"/>
              </a:spcBef>
              <a:spcAft>
                <a:spcPts val="0"/>
              </a:spcAft>
              <a:buClr>
                <a:schemeClr val="dk1"/>
              </a:buClr>
              <a:buSzPts val="1100"/>
              <a:buAutoNum type="alphaLcPeriod"/>
            </a:pPr>
            <a:r>
              <a:rPr lang="en">
                <a:solidFill>
                  <a:schemeClr val="dk1"/>
                </a:solidFill>
              </a:rPr>
              <a:t>This proves to others that you’ve put in the “good faith” effort in Step 1 of asking a question.</a:t>
            </a:r>
            <a:endParaRPr>
              <a:solidFill>
                <a:schemeClr val="dk1"/>
              </a:solidFill>
            </a:endParaRPr>
          </a:p>
          <a:p>
            <a:pPr marL="0" lvl="0" indent="0" algn="l" rtl="0">
              <a:lnSpc>
                <a:spcPct val="115000"/>
              </a:lnSpc>
              <a:spcBef>
                <a:spcPts val="1200"/>
              </a:spcBef>
              <a:spcAft>
                <a:spcPts val="1200"/>
              </a:spcAft>
              <a:buNone/>
            </a:pPr>
            <a:r>
              <a:rPr lang="en">
                <a:solidFill>
                  <a:schemeClr val="dk1"/>
                </a:solidFill>
              </a:rPr>
              <a:t>Make sure you're telling them the raw symptoms of what goes wrong, rather than your interpretations and theories. Let the answerers do the interpretation and diagnosis. If you feel it's important to state your guess, clearly label it as such and describe why that answer isn't working for you.</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1c3fb56548d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1c3fb56548d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c3fb56548d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c3fb56548d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1c3fb56548d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 name="Google Shape;195;g1c3fb56548d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Reread the question - put yourself in the mind of who’s answering the question</a:t>
            </a:r>
            <a:endParaRPr/>
          </a:p>
          <a:p>
            <a:pPr marL="457200" lvl="0" indent="-298450" algn="l" rtl="0">
              <a:spcBef>
                <a:spcPts val="0"/>
              </a:spcBef>
              <a:spcAft>
                <a:spcPts val="0"/>
              </a:spcAft>
              <a:buSzPts val="1100"/>
              <a:buChar char="●"/>
            </a:pPr>
            <a:r>
              <a:rPr lang="en"/>
              <a:t>Is it clear? Is it concise? Is it specific?</a:t>
            </a:r>
            <a:endParaRPr/>
          </a:p>
          <a:p>
            <a:pPr marL="457200" lvl="0" indent="-298450" algn="l" rtl="0">
              <a:spcBef>
                <a:spcPts val="0"/>
              </a:spcBef>
              <a:spcAft>
                <a:spcPts val="0"/>
              </a:spcAft>
              <a:buSzPts val="1100"/>
              <a:buChar char="●"/>
            </a:pPr>
            <a:r>
              <a:rPr lang="en"/>
              <a:t>Is it easy to understand?</a:t>
            </a:r>
            <a:endParaRPr/>
          </a:p>
          <a:p>
            <a:pPr marL="457200" lvl="0" indent="-298450" algn="l" rtl="0">
              <a:spcBef>
                <a:spcPts val="0"/>
              </a:spcBef>
              <a:spcAft>
                <a:spcPts val="0"/>
              </a:spcAft>
              <a:buSzPts val="1100"/>
              <a:buChar char="●"/>
            </a:pPr>
            <a:r>
              <a:rPr lang="en"/>
              <a:t>Will someone need to ask for more context about any of it?</a:t>
            </a:r>
            <a:endParaRPr/>
          </a:p>
          <a:p>
            <a:pPr marL="0" lvl="0" indent="0" algn="l" rtl="0">
              <a:spcBef>
                <a:spcPts val="0"/>
              </a:spcBef>
              <a:spcAft>
                <a:spcPts val="0"/>
              </a:spcAft>
              <a:buNone/>
            </a:pPr>
            <a:r>
              <a:rPr lang="en"/>
              <a:t>Usually you can do this well even if you don’t know the answer!</a:t>
            </a:r>
            <a:endParaRPr/>
          </a:p>
          <a:p>
            <a:pPr marL="0" lvl="0" indent="0" algn="l" rtl="0">
              <a:spcBef>
                <a:spcPts val="0"/>
              </a:spcBef>
              <a:spcAft>
                <a:spcPts val="0"/>
              </a:spcAft>
              <a:buNone/>
            </a:pPr>
            <a:endParaRPr/>
          </a:p>
          <a:p>
            <a:pPr marL="0" lvl="0" indent="0" algn="l" rtl="0">
              <a:spcBef>
                <a:spcPts val="0"/>
              </a:spcBef>
              <a:spcAft>
                <a:spcPts val="0"/>
              </a:spcAft>
              <a:buNone/>
            </a:pPr>
            <a:r>
              <a:rPr lang="en"/>
              <a:t>“Rubberducking” - the process by which articulating the problem can lead you to the solution. From “The Pragmatic Programmer” which gives a story about a programmer carrying around a rubber duck and explaining the code line by line to the duck.</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1c3fb56548d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1c3fb56548d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1c3fb56548d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1c3fb56548d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I point out where a question could be better, don’t take it personally - I want you to improve and making mistakes is part of the process.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1c3fb56548d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1c3fb56548d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“Foo” and “Bar” are nonsense words that we often use in software as arbitrary names as a placeholder</a:t>
            </a:r>
            <a:endParaRPr/>
          </a:p>
          <a:p>
            <a:pPr marL="0" lvl="0" indent="0" algn="l" rtl="0">
              <a:spcBef>
                <a:spcPts val="0"/>
              </a:spcBef>
              <a:spcAft>
                <a:spcPts val="0"/>
              </a:spcAft>
              <a:buNone/>
            </a:pPr>
            <a:endParaRPr/>
          </a:p>
          <a:p>
            <a:pPr marL="0" lvl="0" indent="0" algn="l" rtl="0">
              <a:spcBef>
                <a:spcPts val="0"/>
              </a:spcBef>
              <a:spcAft>
                <a:spcPts val="0"/>
              </a:spcAft>
              <a:buNone/>
            </a:pPr>
            <a:r>
              <a:rPr lang="en"/>
              <a:t>This question does not indicate that the person did any prior research (ie google searching) even if they did.</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1c3fb56548d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1c3fb56548d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TOO MUCH CODE!</a:t>
            </a:r>
            <a:endParaRPr/>
          </a:p>
          <a:p>
            <a:pPr marL="0" lvl="0" indent="0" algn="l" rtl="0">
              <a:spcBef>
                <a:spcPts val="0"/>
              </a:spcBef>
              <a:spcAft>
                <a:spcPts val="0"/>
              </a:spcAft>
              <a:buNone/>
            </a:pPr>
            <a:r>
              <a:rPr lang="en"/>
              <a:t>Also not specific enough - make sure the question addresses a specific topic or issue - and also doesn’t say what doesn’t work, and also doesn’t show that the person has tried anything themselves.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1c3fb56548d_0_7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1c3fb56548d_0_7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instructions are you following? What is the error message? Which platform are you on? What step were you on? What have you tried?</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58783AC9-BB8F-BB03-44E3-CB7DEA230A03}"/>
            </a:ext>
          </a:extLst>
        </p:cNvPr>
        <p:cNvGrpSpPr/>
        <p:nvPr/>
      </p:nvGrpSpPr>
      <p:grpSpPr>
        <a:xfrm>
          <a:off x="0" y="0"/>
          <a:ext cx="0" cy="0"/>
          <a:chOff x="0" y="0"/>
          <a:chExt cx="0" cy="0"/>
        </a:xfrm>
      </p:grpSpPr>
      <p:sp>
        <p:nvSpPr>
          <p:cNvPr id="231" name="Google Shape;231;g1c3fb56548d_0_737:notes">
            <a:extLst>
              <a:ext uri="{FF2B5EF4-FFF2-40B4-BE49-F238E27FC236}">
                <a16:creationId xmlns:a16="http://schemas.microsoft.com/office/drawing/2014/main" id="{540D89BD-FF02-2CD1-5261-1C1BE2DA8F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1c3fb56548d_0_737:notes">
            <a:extLst>
              <a:ext uri="{FF2B5EF4-FFF2-40B4-BE49-F238E27FC236}">
                <a16:creationId xmlns:a16="http://schemas.microsoft.com/office/drawing/2014/main" id="{EE3F65AD-EF66-5EA9-9095-996172E091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88904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1c3fb56548d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1c3fb56548d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pic>
        <p:nvPicPr>
          <p:cNvPr id="11" name="Google Shape;11;p2"/>
          <p:cNvPicPr preferRelativeResize="0"/>
          <p:nvPr/>
        </p:nvPicPr>
        <p:blipFill rotWithShape="1">
          <a:blip r:embed="rId2">
            <a:alphaModFix/>
          </a:blip>
          <a:srcRect b="22311"/>
          <a:stretch/>
        </p:blipFill>
        <p:spPr>
          <a:xfrm>
            <a:off x="0" y="0"/>
            <a:ext cx="9144000" cy="5143499"/>
          </a:xfrm>
          <a:prstGeom prst="rect">
            <a:avLst/>
          </a:prstGeom>
          <a:noFill/>
          <a:ln>
            <a:noFill/>
          </a:ln>
        </p:spPr>
      </p:pic>
      <p:sp>
        <p:nvSpPr>
          <p:cNvPr id="12" name="Google Shape;12;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5200"/>
              <a:buNone/>
              <a:defRPr sz="5200">
                <a:solidFill>
                  <a:schemeClr val="lt1"/>
                </a:solidFill>
              </a:defRPr>
            </a:lvl1pPr>
            <a:lvl2pPr lvl="1" algn="ctr">
              <a:spcBef>
                <a:spcPts val="0"/>
              </a:spcBef>
              <a:spcAft>
                <a:spcPts val="0"/>
              </a:spcAft>
              <a:buClr>
                <a:schemeClr val="lt1"/>
              </a:buClr>
              <a:buSzPts val="5200"/>
              <a:buNone/>
              <a:defRPr sz="5200">
                <a:solidFill>
                  <a:schemeClr val="lt1"/>
                </a:solidFill>
              </a:defRPr>
            </a:lvl2pPr>
            <a:lvl3pPr lvl="2" algn="ctr">
              <a:spcBef>
                <a:spcPts val="0"/>
              </a:spcBef>
              <a:spcAft>
                <a:spcPts val="0"/>
              </a:spcAft>
              <a:buClr>
                <a:schemeClr val="lt1"/>
              </a:buClr>
              <a:buSzPts val="5200"/>
              <a:buNone/>
              <a:defRPr sz="5200">
                <a:solidFill>
                  <a:schemeClr val="lt1"/>
                </a:solidFill>
              </a:defRPr>
            </a:lvl3pPr>
            <a:lvl4pPr lvl="3" algn="ctr">
              <a:spcBef>
                <a:spcPts val="0"/>
              </a:spcBef>
              <a:spcAft>
                <a:spcPts val="0"/>
              </a:spcAft>
              <a:buClr>
                <a:schemeClr val="lt1"/>
              </a:buClr>
              <a:buSzPts val="5200"/>
              <a:buNone/>
              <a:defRPr sz="5200">
                <a:solidFill>
                  <a:schemeClr val="lt1"/>
                </a:solidFill>
              </a:defRPr>
            </a:lvl4pPr>
            <a:lvl5pPr lvl="4" algn="ctr">
              <a:spcBef>
                <a:spcPts val="0"/>
              </a:spcBef>
              <a:spcAft>
                <a:spcPts val="0"/>
              </a:spcAft>
              <a:buClr>
                <a:schemeClr val="lt1"/>
              </a:buClr>
              <a:buSzPts val="5200"/>
              <a:buNone/>
              <a:defRPr sz="5200">
                <a:solidFill>
                  <a:schemeClr val="lt1"/>
                </a:solidFill>
              </a:defRPr>
            </a:lvl5pPr>
            <a:lvl6pPr lvl="5" algn="ctr">
              <a:spcBef>
                <a:spcPts val="0"/>
              </a:spcBef>
              <a:spcAft>
                <a:spcPts val="0"/>
              </a:spcAft>
              <a:buClr>
                <a:schemeClr val="lt1"/>
              </a:buClr>
              <a:buSzPts val="5200"/>
              <a:buNone/>
              <a:defRPr sz="5200">
                <a:solidFill>
                  <a:schemeClr val="lt1"/>
                </a:solidFill>
              </a:defRPr>
            </a:lvl6pPr>
            <a:lvl7pPr lvl="6" algn="ctr">
              <a:spcBef>
                <a:spcPts val="0"/>
              </a:spcBef>
              <a:spcAft>
                <a:spcPts val="0"/>
              </a:spcAft>
              <a:buClr>
                <a:schemeClr val="lt1"/>
              </a:buClr>
              <a:buSzPts val="5200"/>
              <a:buNone/>
              <a:defRPr sz="5200">
                <a:solidFill>
                  <a:schemeClr val="lt1"/>
                </a:solidFill>
              </a:defRPr>
            </a:lvl7pPr>
            <a:lvl8pPr lvl="7" algn="ctr">
              <a:spcBef>
                <a:spcPts val="0"/>
              </a:spcBef>
              <a:spcAft>
                <a:spcPts val="0"/>
              </a:spcAft>
              <a:buClr>
                <a:schemeClr val="lt1"/>
              </a:buClr>
              <a:buSzPts val="5200"/>
              <a:buNone/>
              <a:defRPr sz="5200">
                <a:solidFill>
                  <a:schemeClr val="lt1"/>
                </a:solidFill>
              </a:defRPr>
            </a:lvl8pPr>
            <a:lvl9pPr lvl="8" algn="ctr">
              <a:spcBef>
                <a:spcPts val="0"/>
              </a:spcBef>
              <a:spcAft>
                <a:spcPts val="0"/>
              </a:spcAft>
              <a:buClr>
                <a:schemeClr val="lt1"/>
              </a:buClr>
              <a:buSzPts val="5200"/>
              <a:buNone/>
              <a:defRPr sz="5200">
                <a:solidFill>
                  <a:schemeClr val="lt1"/>
                </a:solidFill>
              </a:defRPr>
            </a:lvl9pPr>
          </a:lstStyle>
          <a:p>
            <a:endParaRPr/>
          </a:p>
        </p:txBody>
      </p:sp>
      <p:sp>
        <p:nvSpPr>
          <p:cNvPr id="13" name="Google Shape;13;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lt1"/>
              </a:buClr>
              <a:buSzPts val="2800"/>
              <a:buNone/>
              <a:defRPr sz="2800">
                <a:solidFill>
                  <a:schemeClr val="lt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5" name="Google Shape;15;p2"/>
          <p:cNvPicPr preferRelativeResize="0"/>
          <p:nvPr/>
        </p:nvPicPr>
        <p:blipFill>
          <a:blip r:embed="rId3">
            <a:alphaModFix/>
          </a:blip>
          <a:stretch>
            <a:fillRect/>
          </a:stretch>
        </p:blipFill>
        <p:spPr>
          <a:xfrm>
            <a:off x="109525" y="114901"/>
            <a:ext cx="3203124" cy="215775"/>
          </a:xfrm>
          <a:prstGeom prst="rect">
            <a:avLst/>
          </a:prstGeom>
          <a:noFill/>
          <a:ln>
            <a:noFill/>
          </a:ln>
        </p:spPr>
      </p:pic>
      <p:pic>
        <p:nvPicPr>
          <p:cNvPr id="16" name="Google Shape;16;p2"/>
          <p:cNvPicPr preferRelativeResize="0"/>
          <p:nvPr/>
        </p:nvPicPr>
        <p:blipFill>
          <a:blip r:embed="rId4">
            <a:alphaModFix/>
          </a:blip>
          <a:stretch>
            <a:fillRect/>
          </a:stretch>
        </p:blipFill>
        <p:spPr>
          <a:xfrm>
            <a:off x="8436596" y="4663214"/>
            <a:ext cx="584554" cy="393600"/>
          </a:xfrm>
          <a:prstGeom prst="rect">
            <a:avLst/>
          </a:prstGeom>
          <a:noFill/>
          <a:ln>
            <a:noFill/>
          </a:ln>
        </p:spPr>
      </p:pic>
      <p:sp>
        <p:nvSpPr>
          <p:cNvPr id="17" name="Google Shape;17;p2"/>
          <p:cNvSpPr txBox="1">
            <a:spLocks noGrp="1"/>
          </p:cNvSpPr>
          <p:nvPr>
            <p:ph type="subTitle" idx="2"/>
          </p:nvPr>
        </p:nvSpPr>
        <p:spPr>
          <a:xfrm>
            <a:off x="311700" y="366367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Clr>
                <a:schemeClr val="lt1"/>
              </a:buClr>
              <a:buSzPts val="2000"/>
              <a:buNone/>
              <a:defRPr sz="2000" i="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6" name="Google Shape;26;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7" name="Google Shape;2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 name="Google Shape;30;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5" name="Google Shape;3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b="1"/>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8" name="Google Shape;38;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9" name="Google Shape;39;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2" name="Google Shape;42;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
        <p:cNvGrpSpPr/>
        <p:nvPr/>
      </p:nvGrpSpPr>
      <p:grpSpPr>
        <a:xfrm>
          <a:off x="0" y="0"/>
          <a:ext cx="0" cy="0"/>
          <a:chOff x="0" y="0"/>
          <a:chExt cx="0" cy="0"/>
        </a:xfrm>
      </p:grpSpPr>
      <p:sp>
        <p:nvSpPr>
          <p:cNvPr id="44" name="Google Shape;44;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6" name="Google Shape;46;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7" name="Google Shape;47;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1" name="Google Shape;5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4" name="Google Shape;54;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a:blip r:embed="rId12">
            <a:alphaModFix/>
          </a:blip>
          <a:stretch>
            <a:fillRect/>
          </a:stretch>
        </p:blipFill>
        <p:spPr>
          <a:xfrm>
            <a:off x="95825" y="95825"/>
            <a:ext cx="8925324" cy="4961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izardzines.com/zines/wizard/"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jp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15.jpg"/><Relationship Id="rId4" Type="http://schemas.openxmlformats.org/officeDocument/2006/relationships/image" Target="../media/image18.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uwdata515.github.io/software.html"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rending"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hyperlink" Target="https://www.propublica.org/nerds/how-to-ask-programming-questio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Rubber_duck_debugging" TargetMode="External"/><Relationship Id="rId5" Type="http://schemas.openxmlformats.org/officeDocument/2006/relationships/hyperlink" Target="https://jvns.ca/blog/good-questions/" TargetMode="External"/><Relationship Id="rId4" Type="http://schemas.openxmlformats.org/officeDocument/2006/relationships/hyperlink" Target="https://stackoverflow.com/help/how-to-as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1855304" y="744575"/>
            <a:ext cx="5433408"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sz="4300" dirty="0"/>
              <a:t>Askin’ Questions</a:t>
            </a:r>
            <a:endParaRPr sz="4300" dirty="0"/>
          </a:p>
        </p:txBody>
      </p:sp>
      <p:sp>
        <p:nvSpPr>
          <p:cNvPr id="63" name="Google Shape;63;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r>
              <a:rPr lang="en" dirty="0"/>
              <a:t>Software Design for Data Science</a:t>
            </a:r>
            <a:endParaRPr dirty="0"/>
          </a:p>
        </p:txBody>
      </p:sp>
      <p:sp>
        <p:nvSpPr>
          <p:cNvPr id="64" name="Google Shape;64;p13"/>
          <p:cNvSpPr txBox="1">
            <a:spLocks noGrp="1"/>
          </p:cNvSpPr>
          <p:nvPr>
            <p:ph type="subTitle" idx="2"/>
          </p:nvPr>
        </p:nvSpPr>
        <p:spPr>
          <a:xfrm>
            <a:off x="311700" y="3663675"/>
            <a:ext cx="8520600" cy="792600"/>
          </a:xfrm>
          <a:prstGeom prst="rect">
            <a:avLst/>
          </a:prstGeom>
        </p:spPr>
        <p:txBody>
          <a:bodyPr spcFirstLastPara="1" wrap="square" lIns="91425" tIns="91425" rIns="91425" bIns="91425" anchor="t" anchorCtr="0">
            <a:normAutofit fontScale="92500" lnSpcReduction="20000"/>
          </a:bodyPr>
          <a:lstStyle/>
          <a:p>
            <a:pPr marL="0" lvl="0" indent="0" algn="ctr" rtl="0">
              <a:spcBef>
                <a:spcPts val="0"/>
              </a:spcBef>
              <a:spcAft>
                <a:spcPts val="0"/>
              </a:spcAft>
              <a:buNone/>
            </a:pPr>
            <a:r>
              <a:rPr lang="en-US" sz="1600" dirty="0"/>
              <a:t>Naomi Alterman</a:t>
            </a:r>
            <a:endParaRPr sz="1600" dirty="0"/>
          </a:p>
          <a:p>
            <a:pPr marL="0" lvl="0" indent="0" algn="ctr" rtl="0">
              <a:spcBef>
                <a:spcPts val="0"/>
              </a:spcBef>
              <a:spcAft>
                <a:spcPts val="0"/>
              </a:spcAft>
              <a:buNone/>
            </a:pPr>
            <a:r>
              <a:rPr lang="en" sz="1600" dirty="0"/>
              <a:t>University of Washington</a:t>
            </a:r>
            <a:endParaRPr sz="1600" dirty="0"/>
          </a:p>
          <a:p>
            <a:pPr marL="0" lvl="0" indent="0" algn="ctr" rtl="0">
              <a:spcBef>
                <a:spcPts val="0"/>
              </a:spcBef>
              <a:spcAft>
                <a:spcPts val="0"/>
              </a:spcAft>
              <a:buNone/>
            </a:pPr>
            <a:r>
              <a:rPr lang="en" sz="1600" dirty="0"/>
              <a:t>January 5, 2026</a:t>
            </a:r>
            <a:endParaRPr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Asking questions</a:t>
            </a:r>
            <a:endParaRPr/>
          </a:p>
        </p:txBody>
      </p:sp>
      <p:pic>
        <p:nvPicPr>
          <p:cNvPr id="1028" name="Picture 4" descr="man shrugging his shoulders">
            <a:extLst>
              <a:ext uri="{FF2B5EF4-FFF2-40B4-BE49-F238E27FC236}">
                <a16:creationId xmlns:a16="http://schemas.microsoft.com/office/drawing/2014/main" id="{2A443F24-53D5-467F-82FE-597F4332D0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6868" y="1579626"/>
            <a:ext cx="6885432" cy="344271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7CBA3393-0732-1DF4-E8CC-DCB4DC86BC8F}"/>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5087E9BB-9CC6-B0A4-E059-9D7F07137C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u="sng" dirty="0"/>
              <a:t>Not</a:t>
            </a:r>
            <a:r>
              <a:rPr lang="en" dirty="0"/>
              <a:t> asking questions:</a:t>
            </a:r>
            <a:endParaRPr dirty="0"/>
          </a:p>
        </p:txBody>
      </p:sp>
      <p:pic>
        <p:nvPicPr>
          <p:cNvPr id="1026" name="Picture 2" descr="Me too, picnic bear, me too.">
            <a:extLst>
              <a:ext uri="{FF2B5EF4-FFF2-40B4-BE49-F238E27FC236}">
                <a16:creationId xmlns:a16="http://schemas.microsoft.com/office/drawing/2014/main" id="{F80419EB-E5C2-D50A-278E-F073B1355F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34056" y="1030908"/>
            <a:ext cx="3794760" cy="3778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9813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When to ask questions</a:t>
            </a:r>
            <a:endParaRPr/>
          </a:p>
        </p:txBody>
      </p:sp>
      <p:sp>
        <p:nvSpPr>
          <p:cNvPr id="77" name="Google Shape;7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Trick question! Always ask questions.</a:t>
            </a:r>
            <a:endParaRPr dirty="0"/>
          </a:p>
          <a:p>
            <a:pPr marL="457200" lvl="0" indent="-342900" algn="l" rtl="0">
              <a:spcBef>
                <a:spcPts val="0"/>
              </a:spcBef>
              <a:spcAft>
                <a:spcPts val="0"/>
              </a:spcAft>
              <a:buSzPts val="1800"/>
              <a:buChar char="●"/>
            </a:pPr>
            <a:r>
              <a:rPr lang="en" dirty="0"/>
              <a:t>Especially for projects</a:t>
            </a:r>
            <a:endParaRPr dirty="0"/>
          </a:p>
          <a:p>
            <a:pPr marL="0" lvl="0" indent="0" algn="l" rtl="0">
              <a:spcBef>
                <a:spcPts val="1200"/>
              </a:spcBef>
              <a:spcAft>
                <a:spcPts val="0"/>
              </a:spcAft>
              <a:buNone/>
            </a:pPr>
            <a:endParaRPr dirty="0"/>
          </a:p>
          <a:p>
            <a:pPr marL="457200" lvl="0" indent="-342900" algn="l" rtl="0">
              <a:spcBef>
                <a:spcPts val="1200"/>
              </a:spcBef>
              <a:spcAft>
                <a:spcPts val="0"/>
              </a:spcAft>
              <a:buSzPts val="1800"/>
              <a:buChar char="●"/>
            </a:pPr>
            <a:r>
              <a:rPr lang="en" dirty="0"/>
              <a:t>However, for questions related to </a:t>
            </a:r>
            <a:r>
              <a:rPr lang="en" u="sng" dirty="0"/>
              <a:t>homeworks</a:t>
            </a:r>
            <a:r>
              <a:rPr lang="en" dirty="0"/>
              <a:t>:</a:t>
            </a:r>
            <a:endParaRPr dirty="0"/>
          </a:p>
          <a:p>
            <a:pPr marL="914400" lvl="1" indent="-317500" algn="l" rtl="0">
              <a:spcBef>
                <a:spcPts val="0"/>
              </a:spcBef>
              <a:spcAft>
                <a:spcPts val="0"/>
              </a:spcAft>
              <a:buSzPts val="1400"/>
              <a:buChar char="○"/>
            </a:pPr>
            <a:r>
              <a:rPr lang="en" u="sng" dirty="0"/>
              <a:t>Class discussion forum only</a:t>
            </a:r>
            <a:r>
              <a:rPr lang="en" dirty="0"/>
              <a:t> (don’t make a post on Stack Overflow)</a:t>
            </a:r>
            <a:endParaRPr dirty="0"/>
          </a:p>
          <a:p>
            <a:pPr marL="914400" lvl="1" indent="-317500" algn="l" rtl="0">
              <a:spcBef>
                <a:spcPts val="0"/>
              </a:spcBef>
              <a:spcAft>
                <a:spcPts val="0"/>
              </a:spcAft>
              <a:buSzPts val="1400"/>
              <a:buChar char="○"/>
            </a:pPr>
            <a:r>
              <a:rPr lang="en" dirty="0"/>
              <a:t>Don’t provide direct code from your homework in your questions</a:t>
            </a:r>
            <a:endParaRPr dirty="0"/>
          </a:p>
          <a:p>
            <a:pPr marL="914400" lvl="1" indent="-317500" algn="l" rtl="0">
              <a:spcBef>
                <a:spcPts val="0"/>
              </a:spcBef>
              <a:spcAft>
                <a:spcPts val="0"/>
              </a:spcAft>
              <a:buSzPts val="1400"/>
              <a:buChar char="○"/>
            </a:pPr>
            <a:r>
              <a:rPr lang="en" dirty="0"/>
              <a:t>Don’t provide direct code from your homework in your answers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7">
                                            <p:txEl>
                                              <p:pRg st="0" end="0"/>
                                            </p:txEl>
                                          </p:spTgt>
                                        </p:tgtEl>
                                        <p:attrNameLst>
                                          <p:attrName>style.visibility</p:attrName>
                                        </p:attrNameLst>
                                      </p:cBhvr>
                                      <p:to>
                                        <p:strVal val="visible"/>
                                      </p:to>
                                    </p:set>
                                    <p:animEffect transition="in" filter="fade">
                                      <p:cBhvr>
                                        <p:cTn id="7" dur="1"/>
                                        <p:tgtEl>
                                          <p:spTgt spid="7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
                                            <p:txEl>
                                              <p:pRg st="1" end="1"/>
                                            </p:txEl>
                                          </p:spTgt>
                                        </p:tgtEl>
                                        <p:attrNameLst>
                                          <p:attrName>style.visibility</p:attrName>
                                        </p:attrNameLst>
                                      </p:cBhvr>
                                      <p:to>
                                        <p:strVal val="visible"/>
                                      </p:to>
                                    </p:set>
                                    <p:animEffect transition="in" filter="fade">
                                      <p:cBhvr>
                                        <p:cTn id="12" dur="1"/>
                                        <p:tgtEl>
                                          <p:spTgt spid="7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7">
                                            <p:txEl>
                                              <p:pRg st="2" end="2"/>
                                            </p:txEl>
                                          </p:spTgt>
                                        </p:tgtEl>
                                        <p:attrNameLst>
                                          <p:attrName>style.visibility</p:attrName>
                                        </p:attrNameLst>
                                      </p:cBhvr>
                                      <p:to>
                                        <p:strVal val="visible"/>
                                      </p:to>
                                    </p:set>
                                    <p:animEffect transition="in" filter="fade">
                                      <p:cBhvr>
                                        <p:cTn id="17" dur="1"/>
                                        <p:tgtEl>
                                          <p:spTgt spid="7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7">
                                            <p:txEl>
                                              <p:pRg st="3" end="3"/>
                                            </p:txEl>
                                          </p:spTgt>
                                        </p:tgtEl>
                                        <p:attrNameLst>
                                          <p:attrName>style.visibility</p:attrName>
                                        </p:attrNameLst>
                                      </p:cBhvr>
                                      <p:to>
                                        <p:strVal val="visible"/>
                                      </p:to>
                                    </p:set>
                                    <p:animEffect transition="in" filter="fade">
                                      <p:cBhvr>
                                        <p:cTn id="22" dur="1"/>
                                        <p:tgtEl>
                                          <p:spTgt spid="7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7">
                                            <p:txEl>
                                              <p:pRg st="4" end="4"/>
                                            </p:txEl>
                                          </p:spTgt>
                                        </p:tgtEl>
                                        <p:attrNameLst>
                                          <p:attrName>style.visibility</p:attrName>
                                        </p:attrNameLst>
                                      </p:cBhvr>
                                      <p:to>
                                        <p:strVal val="visible"/>
                                      </p:to>
                                    </p:set>
                                    <p:animEffect transition="in" filter="fade">
                                      <p:cBhvr>
                                        <p:cTn id="27" dur="1"/>
                                        <p:tgtEl>
                                          <p:spTgt spid="7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7">
                                            <p:txEl>
                                              <p:pRg st="5" end="5"/>
                                            </p:txEl>
                                          </p:spTgt>
                                        </p:tgtEl>
                                        <p:attrNameLst>
                                          <p:attrName>style.visibility</p:attrName>
                                        </p:attrNameLst>
                                      </p:cBhvr>
                                      <p:to>
                                        <p:strVal val="visible"/>
                                      </p:to>
                                    </p:set>
                                    <p:animEffect transition="in" filter="fade">
                                      <p:cBhvr>
                                        <p:cTn id="32" dur="1"/>
                                        <p:tgtEl>
                                          <p:spTgt spid="7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7">
                                            <p:txEl>
                                              <p:pRg st="6" end="6"/>
                                            </p:txEl>
                                          </p:spTgt>
                                        </p:tgtEl>
                                        <p:attrNameLst>
                                          <p:attrName>style.visibility</p:attrName>
                                        </p:attrNameLst>
                                      </p:cBhvr>
                                      <p:to>
                                        <p:strVal val="visible"/>
                                      </p:to>
                                    </p:set>
                                    <p:animEffect transition="in" filter="fade">
                                      <p:cBhvr>
                                        <p:cTn id="37" dur="1"/>
                                        <p:tgtEl>
                                          <p:spTgt spid="7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Who to ask questions</a:t>
            </a:r>
            <a:endParaRPr/>
          </a:p>
        </p:txBody>
      </p:sp>
      <p:sp>
        <p:nvSpPr>
          <p:cNvPr id="83" name="Google Shape;8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In order of preference:</a:t>
            </a:r>
            <a:endParaRPr/>
          </a:p>
        </p:txBody>
      </p:sp>
      <p:grpSp>
        <p:nvGrpSpPr>
          <p:cNvPr id="84" name="Google Shape;84;p16"/>
          <p:cNvGrpSpPr/>
          <p:nvPr/>
        </p:nvGrpSpPr>
        <p:grpSpPr>
          <a:xfrm>
            <a:off x="6205270" y="2455168"/>
            <a:ext cx="1841475" cy="2538582"/>
            <a:chOff x="5141545" y="2778793"/>
            <a:chExt cx="1841475" cy="2538582"/>
          </a:xfrm>
        </p:grpSpPr>
        <p:pic>
          <p:nvPicPr>
            <p:cNvPr id="85" name="Google Shape;85;p16"/>
            <p:cNvPicPr preferRelativeResize="0"/>
            <p:nvPr/>
          </p:nvPicPr>
          <p:blipFill>
            <a:blip r:embed="rId3">
              <a:alphaModFix/>
            </a:blip>
            <a:stretch>
              <a:fillRect/>
            </a:stretch>
          </p:blipFill>
          <p:spPr>
            <a:xfrm>
              <a:off x="5141545" y="2778793"/>
              <a:ext cx="1841475" cy="1964234"/>
            </a:xfrm>
            <a:prstGeom prst="rect">
              <a:avLst/>
            </a:prstGeom>
            <a:noFill/>
            <a:ln>
              <a:noFill/>
            </a:ln>
          </p:spPr>
        </p:pic>
        <p:sp>
          <p:nvSpPr>
            <p:cNvPr id="86" name="Google Shape;86;p16"/>
            <p:cNvSpPr txBox="1"/>
            <p:nvPr/>
          </p:nvSpPr>
          <p:spPr>
            <a:xfrm>
              <a:off x="5179988" y="4855675"/>
              <a:ext cx="17646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4. The internet</a:t>
              </a:r>
              <a:endParaRPr/>
            </a:p>
          </p:txBody>
        </p:sp>
      </p:grpSp>
      <p:grpSp>
        <p:nvGrpSpPr>
          <p:cNvPr id="87" name="Google Shape;87;p16"/>
          <p:cNvGrpSpPr/>
          <p:nvPr/>
        </p:nvGrpSpPr>
        <p:grpSpPr>
          <a:xfrm>
            <a:off x="2245800" y="2217975"/>
            <a:ext cx="3717000" cy="2775775"/>
            <a:chOff x="1657600" y="315750"/>
            <a:chExt cx="3717000" cy="2775775"/>
          </a:xfrm>
        </p:grpSpPr>
        <p:pic>
          <p:nvPicPr>
            <p:cNvPr id="88" name="Google Shape;88;p16"/>
            <p:cNvPicPr preferRelativeResize="0"/>
            <p:nvPr/>
          </p:nvPicPr>
          <p:blipFill rotWithShape="1">
            <a:blip r:embed="rId4">
              <a:alphaModFix/>
            </a:blip>
            <a:srcRect b="5087"/>
            <a:stretch/>
          </p:blipFill>
          <p:spPr>
            <a:xfrm>
              <a:off x="1890650" y="315750"/>
              <a:ext cx="3250900" cy="2314074"/>
            </a:xfrm>
            <a:prstGeom prst="rect">
              <a:avLst/>
            </a:prstGeom>
            <a:noFill/>
            <a:ln>
              <a:noFill/>
            </a:ln>
          </p:spPr>
        </p:pic>
        <p:sp>
          <p:nvSpPr>
            <p:cNvPr id="89" name="Google Shape;89;p16"/>
            <p:cNvSpPr txBox="1"/>
            <p:nvPr/>
          </p:nvSpPr>
          <p:spPr>
            <a:xfrm>
              <a:off x="1657600" y="2629825"/>
              <a:ext cx="37170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3. Office hours</a:t>
              </a:r>
              <a:endParaRPr/>
            </a:p>
          </p:txBody>
        </p:sp>
      </p:grpSp>
      <p:grpSp>
        <p:nvGrpSpPr>
          <p:cNvPr id="90" name="Google Shape;90;p16"/>
          <p:cNvGrpSpPr/>
          <p:nvPr/>
        </p:nvGrpSpPr>
        <p:grpSpPr>
          <a:xfrm>
            <a:off x="-497962" y="1585425"/>
            <a:ext cx="3867000" cy="2550500"/>
            <a:chOff x="753488" y="1628025"/>
            <a:chExt cx="3867000" cy="2550500"/>
          </a:xfrm>
        </p:grpSpPr>
        <p:pic>
          <p:nvPicPr>
            <p:cNvPr id="91" name="Google Shape;91;p16"/>
            <p:cNvPicPr preferRelativeResize="0"/>
            <p:nvPr/>
          </p:nvPicPr>
          <p:blipFill>
            <a:blip r:embed="rId5">
              <a:alphaModFix/>
            </a:blip>
            <a:stretch>
              <a:fillRect/>
            </a:stretch>
          </p:blipFill>
          <p:spPr>
            <a:xfrm>
              <a:off x="1528825" y="1628025"/>
              <a:ext cx="2316325" cy="2316325"/>
            </a:xfrm>
            <a:prstGeom prst="rect">
              <a:avLst/>
            </a:prstGeom>
            <a:noFill/>
            <a:ln>
              <a:noFill/>
            </a:ln>
          </p:spPr>
        </p:pic>
        <p:sp>
          <p:nvSpPr>
            <p:cNvPr id="92" name="Google Shape;92;p16"/>
            <p:cNvSpPr txBox="1"/>
            <p:nvPr/>
          </p:nvSpPr>
          <p:spPr>
            <a:xfrm>
              <a:off x="753488" y="3716825"/>
              <a:ext cx="38670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1. Your teammates</a:t>
              </a:r>
              <a:endParaRPr/>
            </a:p>
          </p:txBody>
        </p:sp>
      </p:grpSp>
      <p:grpSp>
        <p:nvGrpSpPr>
          <p:cNvPr id="93" name="Google Shape;93;p16"/>
          <p:cNvGrpSpPr/>
          <p:nvPr/>
        </p:nvGrpSpPr>
        <p:grpSpPr>
          <a:xfrm>
            <a:off x="4445900" y="400997"/>
            <a:ext cx="4167300" cy="2337553"/>
            <a:chOff x="4445900" y="400997"/>
            <a:chExt cx="4167300" cy="2337553"/>
          </a:xfrm>
        </p:grpSpPr>
        <p:sp>
          <p:nvSpPr>
            <p:cNvPr id="94" name="Google Shape;94;p16"/>
            <p:cNvSpPr txBox="1"/>
            <p:nvPr/>
          </p:nvSpPr>
          <p:spPr>
            <a:xfrm>
              <a:off x="4445900" y="1865850"/>
              <a:ext cx="4167300" cy="872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n" sz="1800">
                  <a:solidFill>
                    <a:schemeClr val="dk2"/>
                  </a:solidFill>
                </a:rPr>
                <a:t>2. The class discussion board</a:t>
              </a:r>
              <a:endParaRPr sz="1800">
                <a:solidFill>
                  <a:schemeClr val="dk2"/>
                </a:solidFill>
              </a:endParaRPr>
            </a:p>
            <a:p>
              <a:pPr marL="0" lvl="0" indent="0" algn="ctr" rtl="0">
                <a:spcBef>
                  <a:spcPts val="1200"/>
                </a:spcBef>
                <a:spcAft>
                  <a:spcPts val="0"/>
                </a:spcAft>
                <a:buNone/>
              </a:pPr>
              <a:endParaRPr/>
            </a:p>
          </p:txBody>
        </p:sp>
        <p:pic>
          <p:nvPicPr>
            <p:cNvPr id="95" name="Google Shape;95;p16"/>
            <p:cNvPicPr preferRelativeResize="0"/>
            <p:nvPr/>
          </p:nvPicPr>
          <p:blipFill>
            <a:blip r:embed="rId6">
              <a:alphaModFix/>
            </a:blip>
            <a:stretch>
              <a:fillRect/>
            </a:stretch>
          </p:blipFill>
          <p:spPr>
            <a:xfrm>
              <a:off x="5680709" y="400997"/>
              <a:ext cx="1697675" cy="1498775"/>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AD230-C858-2AE8-EBAB-D14136B4E22C}"/>
              </a:ext>
            </a:extLst>
          </p:cNvPr>
          <p:cNvSpPr>
            <a:spLocks noGrp="1"/>
          </p:cNvSpPr>
          <p:nvPr>
            <p:ph type="title"/>
          </p:nvPr>
        </p:nvSpPr>
        <p:spPr>
          <a:xfrm>
            <a:off x="311700" y="445025"/>
            <a:ext cx="4388316" cy="572700"/>
          </a:xfrm>
        </p:spPr>
        <p:txBody>
          <a:bodyPr>
            <a:normAutofit fontScale="90000"/>
          </a:bodyPr>
          <a:lstStyle/>
          <a:p>
            <a:r>
              <a:rPr lang="en-US" dirty="0"/>
              <a:t>Take advice from your wizards</a:t>
            </a:r>
          </a:p>
        </p:txBody>
      </p:sp>
      <p:sp>
        <p:nvSpPr>
          <p:cNvPr id="3" name="Text Placeholder 2">
            <a:extLst>
              <a:ext uri="{FF2B5EF4-FFF2-40B4-BE49-F238E27FC236}">
                <a16:creationId xmlns:a16="http://schemas.microsoft.com/office/drawing/2014/main" id="{B304E276-3ACA-02BF-8440-DFA2C7830F02}"/>
              </a:ext>
            </a:extLst>
          </p:cNvPr>
          <p:cNvSpPr>
            <a:spLocks noGrp="1"/>
          </p:cNvSpPr>
          <p:nvPr>
            <p:ph type="body" idx="1"/>
          </p:nvPr>
        </p:nvSpPr>
        <p:spPr>
          <a:xfrm>
            <a:off x="311700" y="1472183"/>
            <a:ext cx="4388316" cy="3096691"/>
          </a:xfrm>
        </p:spPr>
        <p:txBody>
          <a:bodyPr/>
          <a:lstStyle/>
          <a:p>
            <a:pPr marL="114300" indent="0">
              <a:buNone/>
            </a:pPr>
            <a:r>
              <a:rPr lang="en-US" dirty="0"/>
              <a:t>Tech learner and teacher Julia Evans published a 💯tip-top💯 free zine about asking questions (among other difficult engineering basics):</a:t>
            </a:r>
          </a:p>
          <a:p>
            <a:pPr marL="114300" indent="0">
              <a:buNone/>
            </a:pPr>
            <a:r>
              <a:rPr lang="en-US" dirty="0">
                <a:hlinkClick r:id="rId2"/>
              </a:rPr>
              <a:t>https://wizardzines.com/zines/wizard/</a:t>
            </a:r>
            <a:endParaRPr lang="en-US" dirty="0"/>
          </a:p>
          <a:p>
            <a:pPr marL="114300" indent="0">
              <a:buNone/>
            </a:pPr>
            <a:endParaRPr lang="en-US" dirty="0"/>
          </a:p>
        </p:txBody>
      </p:sp>
      <p:pic>
        <p:nvPicPr>
          <p:cNvPr id="7" name="Picture 6">
            <a:extLst>
              <a:ext uri="{FF2B5EF4-FFF2-40B4-BE49-F238E27FC236}">
                <a16:creationId xmlns:a16="http://schemas.microsoft.com/office/drawing/2014/main" id="{96E573D6-1DE0-626B-B9B8-CF7F2B1C0935}"/>
              </a:ext>
            </a:extLst>
          </p:cNvPr>
          <p:cNvPicPr>
            <a:picLocks noChangeAspect="1"/>
          </p:cNvPicPr>
          <p:nvPr/>
        </p:nvPicPr>
        <p:blipFill>
          <a:blip r:embed="rId3"/>
          <a:stretch>
            <a:fillRect/>
          </a:stretch>
        </p:blipFill>
        <p:spPr>
          <a:xfrm>
            <a:off x="5522976" y="492517"/>
            <a:ext cx="3062436" cy="4158465"/>
          </a:xfrm>
          <a:prstGeom prst="rect">
            <a:avLst/>
          </a:prstGeom>
        </p:spPr>
      </p:pic>
    </p:spTree>
    <p:extLst>
      <p:ext uri="{BB962C8B-B14F-4D97-AF65-F5344CB8AC3E}">
        <p14:creationId xmlns:p14="http://schemas.microsoft.com/office/powerpoint/2010/main" val="27859850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Asking a good question</a:t>
            </a:r>
            <a:endParaRPr/>
          </a:p>
        </p:txBody>
      </p:sp>
      <p:sp>
        <p:nvSpPr>
          <p:cNvPr id="101" name="Google Shape;10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AutoNum type="arabicPeriod"/>
            </a:pPr>
            <a:r>
              <a:rPr lang="en" sz="2400"/>
              <a:t>Research</a:t>
            </a:r>
            <a:endParaRPr sz="2400"/>
          </a:p>
          <a:p>
            <a:pPr marL="457200" lvl="0" indent="-381000" algn="l" rtl="0">
              <a:spcBef>
                <a:spcPts val="0"/>
              </a:spcBef>
              <a:spcAft>
                <a:spcPts val="0"/>
              </a:spcAft>
              <a:buSzPts val="2400"/>
              <a:buAutoNum type="arabicPeriod"/>
            </a:pPr>
            <a:r>
              <a:rPr lang="en" sz="2400"/>
              <a:t>Give context</a:t>
            </a:r>
            <a:endParaRPr sz="2400"/>
          </a:p>
          <a:p>
            <a:pPr marL="457200" lvl="0" indent="-381000" algn="l" rtl="0">
              <a:spcBef>
                <a:spcPts val="0"/>
              </a:spcBef>
              <a:spcAft>
                <a:spcPts val="0"/>
              </a:spcAft>
              <a:buSzPts val="2400"/>
              <a:buAutoNum type="arabicPeriod"/>
            </a:pPr>
            <a:r>
              <a:rPr lang="en" sz="2400"/>
              <a:t>Be specific</a:t>
            </a:r>
            <a:endParaRPr sz="2400"/>
          </a:p>
          <a:p>
            <a:pPr marL="457200" lvl="0" indent="-381000" algn="l" rtl="0">
              <a:spcBef>
                <a:spcPts val="0"/>
              </a:spcBef>
              <a:spcAft>
                <a:spcPts val="0"/>
              </a:spcAft>
              <a:buSzPts val="2400"/>
              <a:buAutoNum type="arabicPeriod"/>
            </a:pPr>
            <a:r>
              <a:rPr lang="en" sz="2400"/>
              <a:t>Be clear</a:t>
            </a:r>
            <a:endParaRPr sz="2400"/>
          </a:p>
          <a:p>
            <a:pPr marL="457200" lvl="0" indent="-381000" algn="l" rtl="0">
              <a:spcBef>
                <a:spcPts val="0"/>
              </a:spcBef>
              <a:spcAft>
                <a:spcPts val="0"/>
              </a:spcAft>
              <a:buSzPts val="2400"/>
              <a:buAutoNum type="arabicPeriod"/>
            </a:pPr>
            <a:r>
              <a:rPr lang="en" sz="2400"/>
              <a:t>Be concise</a:t>
            </a:r>
            <a:endParaRPr sz="2400"/>
          </a:p>
          <a:p>
            <a:pPr marL="457200" lvl="0" indent="-381000" algn="l" rtl="0">
              <a:spcBef>
                <a:spcPts val="0"/>
              </a:spcBef>
              <a:spcAft>
                <a:spcPts val="0"/>
              </a:spcAft>
              <a:buSzPts val="2400"/>
              <a:buAutoNum type="arabicPeriod"/>
            </a:pPr>
            <a:r>
              <a:rPr lang="en" sz="2400"/>
              <a:t>Proofread</a:t>
            </a:r>
            <a:endParaRPr sz="2400"/>
          </a:p>
          <a:p>
            <a:pPr marL="457200" lvl="0" indent="-381000" algn="l" rtl="0">
              <a:spcBef>
                <a:spcPts val="0"/>
              </a:spcBef>
              <a:spcAft>
                <a:spcPts val="0"/>
              </a:spcAft>
              <a:buSzPts val="2400"/>
              <a:buAutoNum type="arabicPeriod"/>
            </a:pPr>
            <a:r>
              <a:rPr lang="en" sz="2400"/>
              <a:t>Follow up with answers</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1. Research</a:t>
            </a:r>
            <a:endParaRPr/>
          </a:p>
        </p:txBody>
      </p:sp>
      <p:sp>
        <p:nvSpPr>
          <p:cNvPr id="107" name="Google Shape;107;p18"/>
          <p:cNvSpPr txBox="1">
            <a:spLocks noGrp="1"/>
          </p:cNvSpPr>
          <p:nvPr>
            <p:ph type="body" idx="1"/>
          </p:nvPr>
        </p:nvSpPr>
        <p:spPr>
          <a:xfrm>
            <a:off x="311700" y="1152475"/>
            <a:ext cx="8520600" cy="2536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Put in a good faith effort</a:t>
            </a: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b="1"/>
          </a:p>
        </p:txBody>
      </p:sp>
      <p:grpSp>
        <p:nvGrpSpPr>
          <p:cNvPr id="108" name="Google Shape;108;p18"/>
          <p:cNvGrpSpPr/>
          <p:nvPr/>
        </p:nvGrpSpPr>
        <p:grpSpPr>
          <a:xfrm>
            <a:off x="388413" y="2165048"/>
            <a:ext cx="3278700" cy="1351577"/>
            <a:chOff x="5657063" y="575673"/>
            <a:chExt cx="3278700" cy="1351577"/>
          </a:xfrm>
        </p:grpSpPr>
        <p:pic>
          <p:nvPicPr>
            <p:cNvPr id="109" name="Google Shape;109;p18"/>
            <p:cNvPicPr preferRelativeResize="0"/>
            <p:nvPr/>
          </p:nvPicPr>
          <p:blipFill>
            <a:blip r:embed="rId3">
              <a:alphaModFix/>
            </a:blip>
            <a:stretch>
              <a:fillRect/>
            </a:stretch>
          </p:blipFill>
          <p:spPr>
            <a:xfrm>
              <a:off x="6037000" y="575673"/>
              <a:ext cx="2518822" cy="852075"/>
            </a:xfrm>
            <a:prstGeom prst="rect">
              <a:avLst/>
            </a:prstGeom>
            <a:noFill/>
            <a:ln>
              <a:noFill/>
            </a:ln>
          </p:spPr>
        </p:pic>
        <p:sp>
          <p:nvSpPr>
            <p:cNvPr id="110" name="Google Shape;110;p18"/>
            <p:cNvSpPr txBox="1"/>
            <p:nvPr/>
          </p:nvSpPr>
          <p:spPr>
            <a:xfrm>
              <a:off x="5657063" y="146555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Search engine (Google, etc)</a:t>
              </a:r>
              <a:endParaRPr/>
            </a:p>
          </p:txBody>
        </p:sp>
      </p:grpSp>
      <p:grpSp>
        <p:nvGrpSpPr>
          <p:cNvPr id="111" name="Google Shape;111;p18"/>
          <p:cNvGrpSpPr/>
          <p:nvPr/>
        </p:nvGrpSpPr>
        <p:grpSpPr>
          <a:xfrm>
            <a:off x="6100250" y="569825"/>
            <a:ext cx="3278700" cy="1738350"/>
            <a:chOff x="6174975" y="1766625"/>
            <a:chExt cx="3278700" cy="1738350"/>
          </a:xfrm>
        </p:grpSpPr>
        <p:pic>
          <p:nvPicPr>
            <p:cNvPr id="112" name="Google Shape;112;p18"/>
            <p:cNvPicPr preferRelativeResize="0"/>
            <p:nvPr/>
          </p:nvPicPr>
          <p:blipFill>
            <a:blip r:embed="rId4">
              <a:alphaModFix/>
            </a:blip>
            <a:stretch>
              <a:fillRect/>
            </a:stretch>
          </p:blipFill>
          <p:spPr>
            <a:xfrm flipH="1">
              <a:off x="7245952" y="1766625"/>
              <a:ext cx="1136749" cy="1136749"/>
            </a:xfrm>
            <a:prstGeom prst="rect">
              <a:avLst/>
            </a:prstGeom>
            <a:noFill/>
            <a:ln>
              <a:noFill/>
            </a:ln>
          </p:spPr>
        </p:pic>
        <p:sp>
          <p:nvSpPr>
            <p:cNvPr id="113" name="Google Shape;113;p18"/>
            <p:cNvSpPr txBox="1"/>
            <p:nvPr/>
          </p:nvSpPr>
          <p:spPr>
            <a:xfrm>
              <a:off x="6174975" y="3043275"/>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Manual/documentation</a:t>
              </a:r>
              <a:endParaRPr/>
            </a:p>
          </p:txBody>
        </p:sp>
      </p:grpSp>
      <p:grpSp>
        <p:nvGrpSpPr>
          <p:cNvPr id="114" name="Google Shape;114;p18"/>
          <p:cNvGrpSpPr/>
          <p:nvPr/>
        </p:nvGrpSpPr>
        <p:grpSpPr>
          <a:xfrm>
            <a:off x="3545875" y="550650"/>
            <a:ext cx="3278700" cy="1776700"/>
            <a:chOff x="4459450" y="1927250"/>
            <a:chExt cx="3278700" cy="1776700"/>
          </a:xfrm>
        </p:grpSpPr>
        <p:pic>
          <p:nvPicPr>
            <p:cNvPr id="115" name="Google Shape;115;p18"/>
            <p:cNvPicPr preferRelativeResize="0"/>
            <p:nvPr/>
          </p:nvPicPr>
          <p:blipFill>
            <a:blip r:embed="rId5">
              <a:alphaModFix/>
            </a:blip>
            <a:stretch>
              <a:fillRect/>
            </a:stretch>
          </p:blipFill>
          <p:spPr>
            <a:xfrm>
              <a:off x="5454300" y="1927250"/>
              <a:ext cx="1288999" cy="1289000"/>
            </a:xfrm>
            <a:prstGeom prst="rect">
              <a:avLst/>
            </a:prstGeom>
            <a:noFill/>
            <a:ln>
              <a:noFill/>
            </a:ln>
          </p:spPr>
        </p:pic>
        <p:sp>
          <p:nvSpPr>
            <p:cNvPr id="116" name="Google Shape;116;p18"/>
            <p:cNvSpPr txBox="1"/>
            <p:nvPr/>
          </p:nvSpPr>
          <p:spPr>
            <a:xfrm>
              <a:off x="4459450" y="324225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README or FAQ</a:t>
              </a:r>
              <a:endParaRPr/>
            </a:p>
          </p:txBody>
        </p:sp>
      </p:grpSp>
      <p:grpSp>
        <p:nvGrpSpPr>
          <p:cNvPr id="117" name="Google Shape;117;p18"/>
          <p:cNvGrpSpPr/>
          <p:nvPr/>
        </p:nvGrpSpPr>
        <p:grpSpPr>
          <a:xfrm>
            <a:off x="3271950" y="2687725"/>
            <a:ext cx="3278700" cy="1473325"/>
            <a:chOff x="6100250" y="3242250"/>
            <a:chExt cx="3278700" cy="1473325"/>
          </a:xfrm>
        </p:grpSpPr>
        <p:pic>
          <p:nvPicPr>
            <p:cNvPr id="118" name="Google Shape;118;p18"/>
            <p:cNvPicPr preferRelativeResize="0"/>
            <p:nvPr/>
          </p:nvPicPr>
          <p:blipFill>
            <a:blip r:embed="rId6">
              <a:alphaModFix/>
            </a:blip>
            <a:stretch>
              <a:fillRect/>
            </a:stretch>
          </p:blipFill>
          <p:spPr>
            <a:xfrm>
              <a:off x="6860800" y="3242250"/>
              <a:ext cx="1757599" cy="988651"/>
            </a:xfrm>
            <a:prstGeom prst="rect">
              <a:avLst/>
            </a:prstGeom>
            <a:noFill/>
            <a:ln>
              <a:noFill/>
            </a:ln>
          </p:spPr>
        </p:pic>
        <p:sp>
          <p:nvSpPr>
            <p:cNvPr id="119" name="Google Shape;119;p18"/>
            <p:cNvSpPr txBox="1"/>
            <p:nvPr/>
          </p:nvSpPr>
          <p:spPr>
            <a:xfrm>
              <a:off x="6100250" y="4253875"/>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Source code</a:t>
              </a:r>
              <a:endParaRPr/>
            </a:p>
          </p:txBody>
        </p:sp>
      </p:grpSp>
      <p:grpSp>
        <p:nvGrpSpPr>
          <p:cNvPr id="120" name="Google Shape;120;p18"/>
          <p:cNvGrpSpPr/>
          <p:nvPr/>
        </p:nvGrpSpPr>
        <p:grpSpPr>
          <a:xfrm>
            <a:off x="5781225" y="2687715"/>
            <a:ext cx="3278700" cy="2191635"/>
            <a:chOff x="4204400" y="3413565"/>
            <a:chExt cx="3278700" cy="2191635"/>
          </a:xfrm>
        </p:grpSpPr>
        <p:pic>
          <p:nvPicPr>
            <p:cNvPr id="121" name="Google Shape;121;p18"/>
            <p:cNvPicPr preferRelativeResize="0"/>
            <p:nvPr/>
          </p:nvPicPr>
          <p:blipFill>
            <a:blip r:embed="rId7">
              <a:alphaModFix/>
            </a:blip>
            <a:stretch>
              <a:fillRect/>
            </a:stretch>
          </p:blipFill>
          <p:spPr>
            <a:xfrm>
              <a:off x="5199250" y="3413565"/>
              <a:ext cx="1289001" cy="1729935"/>
            </a:xfrm>
            <a:prstGeom prst="rect">
              <a:avLst/>
            </a:prstGeom>
            <a:noFill/>
            <a:ln>
              <a:noFill/>
            </a:ln>
          </p:spPr>
        </p:pic>
        <p:sp>
          <p:nvSpPr>
            <p:cNvPr id="122" name="Google Shape;122;p18"/>
            <p:cNvSpPr txBox="1"/>
            <p:nvPr/>
          </p:nvSpPr>
          <p:spPr>
            <a:xfrm>
              <a:off x="4204400" y="514350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Experiment with solutions</a:t>
              </a:r>
              <a:endParaRPr/>
            </a:p>
          </p:txBody>
        </p:sp>
      </p:grpSp>
      <p:sp>
        <p:nvSpPr>
          <p:cNvPr id="123" name="Google Shape;123;p18"/>
          <p:cNvSpPr txBox="1"/>
          <p:nvPr/>
        </p:nvSpPr>
        <p:spPr>
          <a:xfrm>
            <a:off x="186088" y="4247105"/>
            <a:ext cx="5622299" cy="1089499"/>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n" sz="1600" b="1" dirty="0">
                <a:solidFill>
                  <a:schemeClr val="dk2"/>
                </a:solidFill>
              </a:rPr>
              <a:t>“Timeboxing”: </a:t>
            </a:r>
            <a:r>
              <a:rPr lang="en" sz="1600" dirty="0">
                <a:solidFill>
                  <a:schemeClr val="dk2"/>
                </a:solidFill>
              </a:rPr>
              <a:t>set a short deadline to try on your own (like half an hour). If stuck longer than that, ask a question</a:t>
            </a:r>
            <a:endParaRPr sz="1600" dirty="0">
              <a:solidFill>
                <a:schemeClr val="dk2"/>
              </a:solidFill>
            </a:endParaRPr>
          </a:p>
          <a:p>
            <a:pPr marL="0" lvl="0" indent="0" algn="l" rtl="0">
              <a:spcBef>
                <a:spcPts val="1200"/>
              </a:spcBef>
              <a:spcAft>
                <a:spcPts val="0"/>
              </a:spcAft>
              <a:buNone/>
            </a:pP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1"/>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
                                        </p:tgtEl>
                                        <p:attrNameLst>
                                          <p:attrName>style.visibility</p:attrName>
                                        </p:attrNameLst>
                                      </p:cBhvr>
                                      <p:to>
                                        <p:strVal val="visible"/>
                                      </p:to>
                                    </p:set>
                                    <p:animEffect transition="in" filter="fade">
                                      <p:cBhvr>
                                        <p:cTn id="12" dur="1"/>
                                        <p:tgtEl>
                                          <p:spTgt spid="1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fade">
                                      <p:cBhvr>
                                        <p:cTn id="17" dur="1"/>
                                        <p:tgtEl>
                                          <p:spTgt spid="1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7"/>
                                        </p:tgtEl>
                                        <p:attrNameLst>
                                          <p:attrName>style.visibility</p:attrName>
                                        </p:attrNameLst>
                                      </p:cBhvr>
                                      <p:to>
                                        <p:strVal val="visible"/>
                                      </p:to>
                                    </p:set>
                                    <p:animEffect transition="in" filter="fade">
                                      <p:cBhvr>
                                        <p:cTn id="22" dur="1"/>
                                        <p:tgtEl>
                                          <p:spTgt spid="1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1"/>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1"/>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2. Give context</a:t>
            </a:r>
            <a:endParaRPr/>
          </a:p>
        </p:txBody>
      </p:sp>
      <p:sp>
        <p:nvSpPr>
          <p:cNvPr id="129" name="Google Shape;129;p19"/>
          <p:cNvSpPr txBox="1"/>
          <p:nvPr/>
        </p:nvSpPr>
        <p:spPr>
          <a:xfrm>
            <a:off x="247175" y="2571750"/>
            <a:ext cx="13548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Goal</a:t>
            </a:r>
            <a:endParaRPr sz="2400" b="1">
              <a:solidFill>
                <a:srgbClr val="351C75"/>
              </a:solidFill>
            </a:endParaRPr>
          </a:p>
        </p:txBody>
      </p:sp>
      <p:sp>
        <p:nvSpPr>
          <p:cNvPr id="130" name="Google Shape;130;p19"/>
          <p:cNvSpPr txBox="1"/>
          <p:nvPr/>
        </p:nvSpPr>
        <p:spPr>
          <a:xfrm>
            <a:off x="994550" y="3547975"/>
            <a:ext cx="2483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Step you’re on</a:t>
            </a:r>
            <a:endParaRPr sz="2400" b="1">
              <a:solidFill>
                <a:srgbClr val="351C75"/>
              </a:solidFill>
            </a:endParaRPr>
          </a:p>
        </p:txBody>
      </p:sp>
      <p:sp>
        <p:nvSpPr>
          <p:cNvPr id="131" name="Google Shape;131;p19"/>
          <p:cNvSpPr txBox="1"/>
          <p:nvPr/>
        </p:nvSpPr>
        <p:spPr>
          <a:xfrm>
            <a:off x="6220950" y="3547975"/>
            <a:ext cx="2483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Assumptions</a:t>
            </a:r>
            <a:endParaRPr sz="2400" b="1">
              <a:solidFill>
                <a:srgbClr val="351C75"/>
              </a:solidFill>
            </a:endParaRPr>
          </a:p>
        </p:txBody>
      </p:sp>
      <p:sp>
        <p:nvSpPr>
          <p:cNvPr id="132" name="Google Shape;132;p19"/>
          <p:cNvSpPr txBox="1"/>
          <p:nvPr/>
        </p:nvSpPr>
        <p:spPr>
          <a:xfrm>
            <a:off x="2073150" y="1404675"/>
            <a:ext cx="35925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What you were doing</a:t>
            </a:r>
            <a:endParaRPr sz="2400" b="1">
              <a:solidFill>
                <a:srgbClr val="351C75"/>
              </a:solidFill>
            </a:endParaRPr>
          </a:p>
        </p:txBody>
      </p:sp>
      <p:sp>
        <p:nvSpPr>
          <p:cNvPr id="133" name="Google Shape;133;p19"/>
          <p:cNvSpPr/>
          <p:nvPr/>
        </p:nvSpPr>
        <p:spPr>
          <a:xfrm>
            <a:off x="1391275" y="1958775"/>
            <a:ext cx="7313375" cy="1770825"/>
          </a:xfrm>
          <a:custGeom>
            <a:avLst/>
            <a:gdLst/>
            <a:ahLst/>
            <a:cxnLst/>
            <a:rect l="l" t="t" r="r" b="b"/>
            <a:pathLst>
              <a:path w="292535" h="70833" extrusionOk="0">
                <a:moveTo>
                  <a:pt x="0" y="34416"/>
                </a:moveTo>
                <a:cubicBezTo>
                  <a:pt x="5391" y="33338"/>
                  <a:pt x="11021" y="33002"/>
                  <a:pt x="16476" y="33684"/>
                </a:cubicBezTo>
                <a:cubicBezTo>
                  <a:pt x="24869" y="34733"/>
                  <a:pt x="32659" y="43646"/>
                  <a:pt x="34050" y="51990"/>
                </a:cubicBezTo>
                <a:cubicBezTo>
                  <a:pt x="34592" y="55243"/>
                  <a:pt x="31078" y="59136"/>
                  <a:pt x="27826" y="59679"/>
                </a:cubicBezTo>
                <a:cubicBezTo>
                  <a:pt x="24434" y="60246"/>
                  <a:pt x="19099" y="58331"/>
                  <a:pt x="18673" y="54919"/>
                </a:cubicBezTo>
                <a:cubicBezTo>
                  <a:pt x="17603" y="46356"/>
                  <a:pt x="32795" y="41518"/>
                  <a:pt x="41372" y="42471"/>
                </a:cubicBezTo>
                <a:cubicBezTo>
                  <a:pt x="46605" y="43052"/>
                  <a:pt x="48986" y="49776"/>
                  <a:pt x="52356" y="53821"/>
                </a:cubicBezTo>
                <a:cubicBezTo>
                  <a:pt x="53418" y="55096"/>
                  <a:pt x="54995" y="57407"/>
                  <a:pt x="53821" y="58580"/>
                </a:cubicBezTo>
                <a:cubicBezTo>
                  <a:pt x="51402" y="60997"/>
                  <a:pt x="46240" y="61081"/>
                  <a:pt x="43569" y="58946"/>
                </a:cubicBezTo>
                <a:cubicBezTo>
                  <a:pt x="41344" y="57167"/>
                  <a:pt x="40831" y="53073"/>
                  <a:pt x="42105" y="50525"/>
                </a:cubicBezTo>
                <a:cubicBezTo>
                  <a:pt x="43798" y="47140"/>
                  <a:pt x="49021" y="47291"/>
                  <a:pt x="52722" y="46498"/>
                </a:cubicBezTo>
                <a:cubicBezTo>
                  <a:pt x="57593" y="45455"/>
                  <a:pt x="61484" y="41705"/>
                  <a:pt x="65537" y="38809"/>
                </a:cubicBezTo>
                <a:cubicBezTo>
                  <a:pt x="67190" y="37628"/>
                  <a:pt x="70663" y="37545"/>
                  <a:pt x="70663" y="35514"/>
                </a:cubicBezTo>
                <a:cubicBezTo>
                  <a:pt x="70663" y="32163"/>
                  <a:pt x="65289" y="31418"/>
                  <a:pt x="62242" y="30022"/>
                </a:cubicBezTo>
                <a:cubicBezTo>
                  <a:pt x="56383" y="27337"/>
                  <a:pt x="50255" y="22535"/>
                  <a:pt x="43935" y="23798"/>
                </a:cubicBezTo>
                <a:cubicBezTo>
                  <a:pt x="40464" y="24492"/>
                  <a:pt x="37195" y="27996"/>
                  <a:pt x="36613" y="31487"/>
                </a:cubicBezTo>
                <a:cubicBezTo>
                  <a:pt x="34605" y="43541"/>
                  <a:pt x="60733" y="35464"/>
                  <a:pt x="72859" y="36979"/>
                </a:cubicBezTo>
                <a:cubicBezTo>
                  <a:pt x="78566" y="37692"/>
                  <a:pt x="82862" y="50405"/>
                  <a:pt x="77985" y="53454"/>
                </a:cubicBezTo>
                <a:cubicBezTo>
                  <a:pt x="73013" y="56562"/>
                  <a:pt x="66232" y="54886"/>
                  <a:pt x="60411" y="54187"/>
                </a:cubicBezTo>
                <a:cubicBezTo>
                  <a:pt x="54879" y="53523"/>
                  <a:pt x="45766" y="51703"/>
                  <a:pt x="45766" y="46132"/>
                </a:cubicBezTo>
                <a:cubicBezTo>
                  <a:pt x="45766" y="42739"/>
                  <a:pt x="50702" y="41245"/>
                  <a:pt x="53821" y="39908"/>
                </a:cubicBezTo>
                <a:cubicBezTo>
                  <a:pt x="59454" y="37494"/>
                  <a:pt x="65542" y="34461"/>
                  <a:pt x="68832" y="29290"/>
                </a:cubicBezTo>
                <a:cubicBezTo>
                  <a:pt x="71318" y="25383"/>
                  <a:pt x="73644" y="20722"/>
                  <a:pt x="73225" y="16110"/>
                </a:cubicBezTo>
                <a:cubicBezTo>
                  <a:pt x="72904" y="12577"/>
                  <a:pt x="71071" y="7554"/>
                  <a:pt x="73958" y="5492"/>
                </a:cubicBezTo>
                <a:cubicBezTo>
                  <a:pt x="79429" y="1586"/>
                  <a:pt x="86640" y="0"/>
                  <a:pt x="93362" y="0"/>
                </a:cubicBezTo>
                <a:cubicBezTo>
                  <a:pt x="96314" y="0"/>
                  <a:pt x="97271" y="4777"/>
                  <a:pt x="97756" y="7689"/>
                </a:cubicBezTo>
                <a:cubicBezTo>
                  <a:pt x="99019" y="15269"/>
                  <a:pt x="79858" y="27673"/>
                  <a:pt x="78351" y="20137"/>
                </a:cubicBezTo>
                <a:cubicBezTo>
                  <a:pt x="77404" y="15403"/>
                  <a:pt x="87438" y="16244"/>
                  <a:pt x="92264" y="16110"/>
                </a:cubicBezTo>
                <a:cubicBezTo>
                  <a:pt x="99391" y="15912"/>
                  <a:pt x="109223" y="12967"/>
                  <a:pt x="113499" y="18672"/>
                </a:cubicBezTo>
                <a:cubicBezTo>
                  <a:pt x="116890" y="23196"/>
                  <a:pt x="113004" y="30733"/>
                  <a:pt x="109472" y="35148"/>
                </a:cubicBezTo>
                <a:cubicBezTo>
                  <a:pt x="107314" y="37845"/>
                  <a:pt x="103492" y="40516"/>
                  <a:pt x="103980" y="43935"/>
                </a:cubicBezTo>
                <a:cubicBezTo>
                  <a:pt x="104610" y="48345"/>
                  <a:pt x="112813" y="42704"/>
                  <a:pt x="117161" y="41738"/>
                </a:cubicBezTo>
                <a:cubicBezTo>
                  <a:pt x="125458" y="39894"/>
                  <a:pt x="142161" y="40999"/>
                  <a:pt x="140959" y="32585"/>
                </a:cubicBezTo>
                <a:cubicBezTo>
                  <a:pt x="139937" y="25428"/>
                  <a:pt x="123416" y="17782"/>
                  <a:pt x="120822" y="24530"/>
                </a:cubicBezTo>
                <a:cubicBezTo>
                  <a:pt x="119068" y="29092"/>
                  <a:pt x="117157" y="35265"/>
                  <a:pt x="120090" y="39175"/>
                </a:cubicBezTo>
                <a:cubicBezTo>
                  <a:pt x="124060" y="44466"/>
                  <a:pt x="135205" y="42786"/>
                  <a:pt x="137297" y="49061"/>
                </a:cubicBezTo>
                <a:cubicBezTo>
                  <a:pt x="137871" y="50782"/>
                  <a:pt x="136918" y="53098"/>
                  <a:pt x="135467" y="54187"/>
                </a:cubicBezTo>
                <a:cubicBezTo>
                  <a:pt x="130874" y="57632"/>
                  <a:pt x="123994" y="55176"/>
                  <a:pt x="118259" y="54919"/>
                </a:cubicBezTo>
                <a:cubicBezTo>
                  <a:pt x="111171" y="54602"/>
                  <a:pt x="104102" y="53948"/>
                  <a:pt x="97024" y="53454"/>
                </a:cubicBezTo>
                <a:cubicBezTo>
                  <a:pt x="93264" y="53191"/>
                  <a:pt x="84725" y="50859"/>
                  <a:pt x="87138" y="47963"/>
                </a:cubicBezTo>
                <a:cubicBezTo>
                  <a:pt x="96556" y="36662"/>
                  <a:pt x="115449" y="39669"/>
                  <a:pt x="129975" y="37345"/>
                </a:cubicBezTo>
                <a:cubicBezTo>
                  <a:pt x="140457" y="35668"/>
                  <a:pt x="150933" y="33929"/>
                  <a:pt x="161462" y="32585"/>
                </a:cubicBezTo>
                <a:cubicBezTo>
                  <a:pt x="164016" y="32259"/>
                  <a:pt x="167172" y="31669"/>
                  <a:pt x="169150" y="33317"/>
                </a:cubicBezTo>
                <a:cubicBezTo>
                  <a:pt x="172651" y="36234"/>
                  <a:pt x="175948" y="42056"/>
                  <a:pt x="173910" y="46132"/>
                </a:cubicBezTo>
                <a:cubicBezTo>
                  <a:pt x="171743" y="50465"/>
                  <a:pt x="163722" y="50872"/>
                  <a:pt x="162926" y="55651"/>
                </a:cubicBezTo>
                <a:cubicBezTo>
                  <a:pt x="162307" y="59367"/>
                  <a:pt x="169370" y="62533"/>
                  <a:pt x="167686" y="65903"/>
                </a:cubicBezTo>
                <a:cubicBezTo>
                  <a:pt x="164685" y="71908"/>
                  <a:pt x="147624" y="63119"/>
                  <a:pt x="149746" y="56750"/>
                </a:cubicBezTo>
                <a:cubicBezTo>
                  <a:pt x="151347" y="51947"/>
                  <a:pt x="160050" y="50117"/>
                  <a:pt x="164391" y="52722"/>
                </a:cubicBezTo>
                <a:cubicBezTo>
                  <a:pt x="172896" y="57826"/>
                  <a:pt x="180984" y="75512"/>
                  <a:pt x="188921" y="69564"/>
                </a:cubicBezTo>
                <a:cubicBezTo>
                  <a:pt x="194014" y="65747"/>
                  <a:pt x="193917" y="55821"/>
                  <a:pt x="190386" y="50525"/>
                </a:cubicBezTo>
                <a:cubicBezTo>
                  <a:pt x="188505" y="47704"/>
                  <a:pt x="184976" y="45093"/>
                  <a:pt x="181599" y="45400"/>
                </a:cubicBezTo>
                <a:cubicBezTo>
                  <a:pt x="177537" y="45769"/>
                  <a:pt x="172921" y="50962"/>
                  <a:pt x="173910" y="54919"/>
                </a:cubicBezTo>
                <a:cubicBezTo>
                  <a:pt x="176814" y="66537"/>
                  <a:pt x="198938" y="61814"/>
                  <a:pt x="209790" y="56750"/>
                </a:cubicBezTo>
                <a:cubicBezTo>
                  <a:pt x="214330" y="54631"/>
                  <a:pt x="210376" y="46572"/>
                  <a:pt x="209058" y="41738"/>
                </a:cubicBezTo>
                <a:cubicBezTo>
                  <a:pt x="207397" y="35646"/>
                  <a:pt x="202645" y="29316"/>
                  <a:pt x="196610" y="27459"/>
                </a:cubicBezTo>
                <a:cubicBezTo>
                  <a:pt x="187974" y="24802"/>
                  <a:pt x="177557" y="29364"/>
                  <a:pt x="170615" y="35148"/>
                </a:cubicBezTo>
                <a:cubicBezTo>
                  <a:pt x="169103" y="36408"/>
                  <a:pt x="166911" y="38465"/>
                  <a:pt x="167686" y="40274"/>
                </a:cubicBezTo>
                <a:cubicBezTo>
                  <a:pt x="170954" y="47903"/>
                  <a:pt x="184436" y="42224"/>
                  <a:pt x="192583" y="40640"/>
                </a:cubicBezTo>
                <a:cubicBezTo>
                  <a:pt x="199560" y="39284"/>
                  <a:pt x="210443" y="41380"/>
                  <a:pt x="213086" y="34782"/>
                </a:cubicBezTo>
                <a:cubicBezTo>
                  <a:pt x="216956" y="25121"/>
                  <a:pt x="185958" y="17979"/>
                  <a:pt x="193315" y="10618"/>
                </a:cubicBezTo>
                <a:cubicBezTo>
                  <a:pt x="200203" y="3727"/>
                  <a:pt x="212179" y="3424"/>
                  <a:pt x="221873" y="4394"/>
                </a:cubicBezTo>
                <a:cubicBezTo>
                  <a:pt x="227742" y="4981"/>
                  <a:pt x="235542" y="6346"/>
                  <a:pt x="237982" y="11716"/>
                </a:cubicBezTo>
                <a:cubicBezTo>
                  <a:pt x="239946" y="16038"/>
                  <a:pt x="232718" y="20880"/>
                  <a:pt x="228097" y="21968"/>
                </a:cubicBezTo>
                <a:cubicBezTo>
                  <a:pt x="224428" y="22832"/>
                  <a:pt x="215798" y="19372"/>
                  <a:pt x="218211" y="16476"/>
                </a:cubicBezTo>
                <a:cubicBezTo>
                  <a:pt x="227986" y="4748"/>
                  <a:pt x="251552" y="5773"/>
                  <a:pt x="263977" y="14645"/>
                </a:cubicBezTo>
                <a:cubicBezTo>
                  <a:pt x="268357" y="17773"/>
                  <a:pt x="272229" y="22836"/>
                  <a:pt x="272764" y="28192"/>
                </a:cubicBezTo>
                <a:cubicBezTo>
                  <a:pt x="273235" y="32907"/>
                  <a:pt x="272342" y="38753"/>
                  <a:pt x="275693" y="42104"/>
                </a:cubicBezTo>
                <a:cubicBezTo>
                  <a:pt x="279696" y="46107"/>
                  <a:pt x="286873" y="44301"/>
                  <a:pt x="292535" y="44301"/>
                </a:cubicBezTo>
              </a:path>
            </a:pathLst>
          </a:custGeom>
          <a:noFill/>
          <a:ln w="38100" cap="flat" cmpd="sng">
            <a:solidFill>
              <a:schemeClr val="dk2"/>
            </a:solidFill>
            <a:prstDash val="solid"/>
            <a:round/>
            <a:headEnd type="none" w="med" len="med"/>
            <a:tailEnd type="non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9"/>
                                        </p:tgtEl>
                                        <p:attrNameLst>
                                          <p:attrName>style.visibility</p:attrName>
                                        </p:attrNameLst>
                                      </p:cBhvr>
                                      <p:to>
                                        <p:strVal val="visible"/>
                                      </p:to>
                                    </p:set>
                                    <p:animEffect transition="in" filter="fade">
                                      <p:cBhvr>
                                        <p:cTn id="7" dur="1"/>
                                        <p:tgtEl>
                                          <p:spTgt spid="1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1"/>
                                        <p:tgtEl>
                                          <p:spTgt spid="1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2"/>
                                        </p:tgtEl>
                                        <p:attrNameLst>
                                          <p:attrName>style.visibility</p:attrName>
                                        </p:attrNameLst>
                                      </p:cBhvr>
                                      <p:to>
                                        <p:strVal val="visible"/>
                                      </p:to>
                                    </p:set>
                                    <p:animEffect transition="in" filter="fade">
                                      <p:cBhvr>
                                        <p:cTn id="17" dur="1"/>
                                        <p:tgtEl>
                                          <p:spTgt spid="1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1"/>
                                        </p:tgtEl>
                                        <p:attrNameLst>
                                          <p:attrName>style.visibility</p:attrName>
                                        </p:attrNameLst>
                                      </p:cBhvr>
                                      <p:to>
                                        <p:strVal val="visible"/>
                                      </p:to>
                                    </p:set>
                                    <p:animEffect transition="in" filter="fade">
                                      <p:cBhvr>
                                        <p:cTn id="22" dur="1"/>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3. Be specific</a:t>
            </a:r>
            <a:endParaRPr/>
          </a:p>
        </p:txBody>
      </p:sp>
      <p:grpSp>
        <p:nvGrpSpPr>
          <p:cNvPr id="139" name="Google Shape;139;p20"/>
          <p:cNvGrpSpPr/>
          <p:nvPr/>
        </p:nvGrpSpPr>
        <p:grpSpPr>
          <a:xfrm>
            <a:off x="443663" y="3062250"/>
            <a:ext cx="3483000" cy="1820425"/>
            <a:chOff x="1395613" y="3487350"/>
            <a:chExt cx="3483000" cy="1820425"/>
          </a:xfrm>
        </p:grpSpPr>
        <p:grpSp>
          <p:nvGrpSpPr>
            <p:cNvPr id="140" name="Google Shape;140;p20"/>
            <p:cNvGrpSpPr/>
            <p:nvPr/>
          </p:nvGrpSpPr>
          <p:grpSpPr>
            <a:xfrm>
              <a:off x="2169301" y="3487350"/>
              <a:ext cx="1903873" cy="1081526"/>
              <a:chOff x="5958701" y="3414125"/>
              <a:chExt cx="1903873" cy="1081526"/>
            </a:xfrm>
          </p:grpSpPr>
          <p:pic>
            <p:nvPicPr>
              <p:cNvPr id="141" name="Google Shape;141;p20"/>
              <p:cNvPicPr preferRelativeResize="0"/>
              <p:nvPr/>
            </p:nvPicPr>
            <p:blipFill>
              <a:blip r:embed="rId3">
                <a:alphaModFix/>
              </a:blip>
              <a:stretch>
                <a:fillRect/>
              </a:stretch>
            </p:blipFill>
            <p:spPr>
              <a:xfrm>
                <a:off x="6128300" y="3414125"/>
                <a:ext cx="649324" cy="649324"/>
              </a:xfrm>
              <a:prstGeom prst="rect">
                <a:avLst/>
              </a:prstGeom>
              <a:noFill/>
              <a:ln>
                <a:noFill/>
              </a:ln>
            </p:spPr>
          </p:pic>
          <p:pic>
            <p:nvPicPr>
              <p:cNvPr id="142" name="Google Shape;142;p20"/>
              <p:cNvPicPr preferRelativeResize="0"/>
              <p:nvPr/>
            </p:nvPicPr>
            <p:blipFill>
              <a:blip r:embed="rId4">
                <a:alphaModFix/>
              </a:blip>
              <a:stretch>
                <a:fillRect/>
              </a:stretch>
            </p:blipFill>
            <p:spPr>
              <a:xfrm>
                <a:off x="5958701" y="3795726"/>
                <a:ext cx="699924" cy="699924"/>
              </a:xfrm>
              <a:prstGeom prst="rect">
                <a:avLst/>
              </a:prstGeom>
              <a:noFill/>
              <a:ln>
                <a:noFill/>
              </a:ln>
            </p:spPr>
          </p:pic>
          <p:pic>
            <p:nvPicPr>
              <p:cNvPr id="143" name="Google Shape;143;p20"/>
              <p:cNvPicPr preferRelativeResize="0"/>
              <p:nvPr/>
            </p:nvPicPr>
            <p:blipFill>
              <a:blip r:embed="rId5">
                <a:alphaModFix/>
              </a:blip>
              <a:stretch>
                <a:fillRect/>
              </a:stretch>
            </p:blipFill>
            <p:spPr>
              <a:xfrm>
                <a:off x="6601852" y="3452426"/>
                <a:ext cx="649321" cy="572700"/>
              </a:xfrm>
              <a:prstGeom prst="rect">
                <a:avLst/>
              </a:prstGeom>
              <a:noFill/>
              <a:ln>
                <a:noFill/>
              </a:ln>
            </p:spPr>
          </p:pic>
          <p:pic>
            <p:nvPicPr>
              <p:cNvPr id="144" name="Google Shape;144;p20"/>
              <p:cNvPicPr preferRelativeResize="0"/>
              <p:nvPr/>
            </p:nvPicPr>
            <p:blipFill>
              <a:blip r:embed="rId6">
                <a:alphaModFix/>
              </a:blip>
              <a:stretch>
                <a:fillRect/>
              </a:stretch>
            </p:blipFill>
            <p:spPr>
              <a:xfrm rot="10800000" flipH="1">
                <a:off x="6233326" y="4063451"/>
                <a:ext cx="1629248" cy="337950"/>
              </a:xfrm>
              <a:prstGeom prst="rect">
                <a:avLst/>
              </a:prstGeom>
              <a:noFill/>
              <a:ln>
                <a:noFill/>
              </a:ln>
            </p:spPr>
          </p:pic>
        </p:grpSp>
        <p:sp>
          <p:nvSpPr>
            <p:cNvPr id="145" name="Google Shape;145;p20"/>
            <p:cNvSpPr txBox="1"/>
            <p:nvPr/>
          </p:nvSpPr>
          <p:spPr>
            <a:xfrm>
              <a:off x="1395613" y="4568875"/>
              <a:ext cx="34830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Tools/environment you’re using (including version numbers)</a:t>
              </a:r>
              <a:endParaRPr sz="1800"/>
            </a:p>
          </p:txBody>
        </p:sp>
      </p:grpSp>
      <p:grpSp>
        <p:nvGrpSpPr>
          <p:cNvPr id="146" name="Google Shape;146;p20"/>
          <p:cNvGrpSpPr/>
          <p:nvPr/>
        </p:nvGrpSpPr>
        <p:grpSpPr>
          <a:xfrm>
            <a:off x="6173975" y="2807275"/>
            <a:ext cx="2453100" cy="1562275"/>
            <a:chOff x="5789550" y="2880475"/>
            <a:chExt cx="2453100" cy="1562275"/>
          </a:xfrm>
        </p:grpSpPr>
        <p:pic>
          <p:nvPicPr>
            <p:cNvPr id="147" name="Google Shape;147;p20"/>
            <p:cNvPicPr preferRelativeResize="0"/>
            <p:nvPr/>
          </p:nvPicPr>
          <p:blipFill>
            <a:blip r:embed="rId7">
              <a:alphaModFix/>
            </a:blip>
            <a:stretch>
              <a:fillRect/>
            </a:stretch>
          </p:blipFill>
          <p:spPr>
            <a:xfrm>
              <a:off x="6425526" y="2880475"/>
              <a:ext cx="1181178" cy="1100575"/>
            </a:xfrm>
            <a:prstGeom prst="rect">
              <a:avLst/>
            </a:prstGeom>
            <a:noFill/>
            <a:ln>
              <a:noFill/>
            </a:ln>
          </p:spPr>
        </p:pic>
        <p:sp>
          <p:nvSpPr>
            <p:cNvPr id="148" name="Google Shape;148;p20"/>
            <p:cNvSpPr txBox="1"/>
            <p:nvPr/>
          </p:nvSpPr>
          <p:spPr>
            <a:xfrm>
              <a:off x="5789550" y="3981050"/>
              <a:ext cx="24531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Any error messages*</a:t>
              </a:r>
              <a:endParaRPr sz="1800"/>
            </a:p>
          </p:txBody>
        </p:sp>
      </p:grpSp>
      <p:grpSp>
        <p:nvGrpSpPr>
          <p:cNvPr id="149" name="Google Shape;149;p20"/>
          <p:cNvGrpSpPr/>
          <p:nvPr/>
        </p:nvGrpSpPr>
        <p:grpSpPr>
          <a:xfrm>
            <a:off x="3621213" y="963450"/>
            <a:ext cx="2865000" cy="2578075"/>
            <a:chOff x="3483913" y="2171650"/>
            <a:chExt cx="2865000" cy="2578075"/>
          </a:xfrm>
        </p:grpSpPr>
        <p:pic>
          <p:nvPicPr>
            <p:cNvPr id="150" name="Google Shape;150;p20"/>
            <p:cNvPicPr preferRelativeResize="0"/>
            <p:nvPr/>
          </p:nvPicPr>
          <p:blipFill>
            <a:blip r:embed="rId8">
              <a:alphaModFix/>
            </a:blip>
            <a:stretch>
              <a:fillRect/>
            </a:stretch>
          </p:blipFill>
          <p:spPr>
            <a:xfrm>
              <a:off x="4135275" y="2171650"/>
              <a:ext cx="1562276" cy="1562276"/>
            </a:xfrm>
            <a:prstGeom prst="rect">
              <a:avLst/>
            </a:prstGeom>
            <a:noFill/>
            <a:ln>
              <a:noFill/>
            </a:ln>
          </p:spPr>
        </p:pic>
        <p:sp>
          <p:nvSpPr>
            <p:cNvPr id="151" name="Google Shape;151;p20"/>
            <p:cNvSpPr txBox="1"/>
            <p:nvPr/>
          </p:nvSpPr>
          <p:spPr>
            <a:xfrm>
              <a:off x="3483913" y="3733925"/>
              <a:ext cx="2865000" cy="1015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What you’ve already searched for or tried</a:t>
              </a:r>
              <a:endParaRPr sz="1800"/>
            </a:p>
            <a:p>
              <a:pPr marL="0" lvl="0" indent="0" algn="ctr" rtl="0">
                <a:spcBef>
                  <a:spcPts val="0"/>
                </a:spcBef>
                <a:spcAft>
                  <a:spcPts val="0"/>
                </a:spcAft>
                <a:buNone/>
              </a:pPr>
              <a:r>
                <a:rPr lang="en" sz="1800"/>
                <a:t>(and what happened)</a:t>
              </a:r>
              <a:endParaRPr sz="1800"/>
            </a:p>
          </p:txBody>
        </p:sp>
      </p:grpSp>
      <p:grpSp>
        <p:nvGrpSpPr>
          <p:cNvPr id="152" name="Google Shape;152;p20"/>
          <p:cNvGrpSpPr/>
          <p:nvPr/>
        </p:nvGrpSpPr>
        <p:grpSpPr>
          <a:xfrm>
            <a:off x="393625" y="1080438"/>
            <a:ext cx="3340800" cy="1919075"/>
            <a:chOff x="-411850" y="2407275"/>
            <a:chExt cx="3340800" cy="1919075"/>
          </a:xfrm>
        </p:grpSpPr>
        <p:pic>
          <p:nvPicPr>
            <p:cNvPr id="153" name="Google Shape;153;p20"/>
            <p:cNvPicPr preferRelativeResize="0"/>
            <p:nvPr/>
          </p:nvPicPr>
          <p:blipFill>
            <a:blip r:embed="rId9">
              <a:alphaModFix/>
            </a:blip>
            <a:stretch>
              <a:fillRect/>
            </a:stretch>
          </p:blipFill>
          <p:spPr>
            <a:xfrm>
              <a:off x="311702" y="2407275"/>
              <a:ext cx="1893698" cy="1180175"/>
            </a:xfrm>
            <a:prstGeom prst="rect">
              <a:avLst/>
            </a:prstGeom>
            <a:noFill/>
            <a:ln>
              <a:noFill/>
            </a:ln>
          </p:spPr>
        </p:pic>
        <p:sp>
          <p:nvSpPr>
            <p:cNvPr id="154" name="Google Shape;154;p20"/>
            <p:cNvSpPr txBox="1"/>
            <p:nvPr/>
          </p:nvSpPr>
          <p:spPr>
            <a:xfrm>
              <a:off x="-411850" y="3587450"/>
              <a:ext cx="33408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dirty="0"/>
                <a:t>The symptoms - what do you expect, what is happening</a:t>
              </a:r>
              <a:endParaRPr sz="1800" dirty="0"/>
            </a:p>
          </p:txBody>
        </p:sp>
      </p:grpSp>
      <p:grpSp>
        <p:nvGrpSpPr>
          <p:cNvPr id="155" name="Google Shape;155;p20"/>
          <p:cNvGrpSpPr/>
          <p:nvPr/>
        </p:nvGrpSpPr>
        <p:grpSpPr>
          <a:xfrm>
            <a:off x="6247650" y="820475"/>
            <a:ext cx="2453100" cy="1450350"/>
            <a:chOff x="6247650" y="820475"/>
            <a:chExt cx="2453100" cy="1450350"/>
          </a:xfrm>
        </p:grpSpPr>
        <p:pic>
          <p:nvPicPr>
            <p:cNvPr id="156" name="Google Shape;156;p20"/>
            <p:cNvPicPr preferRelativeResize="0"/>
            <p:nvPr/>
          </p:nvPicPr>
          <p:blipFill>
            <a:blip r:embed="rId10">
              <a:alphaModFix/>
            </a:blip>
            <a:stretch>
              <a:fillRect/>
            </a:stretch>
          </p:blipFill>
          <p:spPr>
            <a:xfrm>
              <a:off x="6595400" y="820475"/>
              <a:ext cx="1757599" cy="988651"/>
            </a:xfrm>
            <a:prstGeom prst="rect">
              <a:avLst/>
            </a:prstGeom>
            <a:noFill/>
            <a:ln>
              <a:noFill/>
            </a:ln>
          </p:spPr>
        </p:pic>
        <p:sp>
          <p:nvSpPr>
            <p:cNvPr id="157" name="Google Shape;157;p20"/>
            <p:cNvSpPr txBox="1"/>
            <p:nvPr/>
          </p:nvSpPr>
          <p:spPr>
            <a:xfrm>
              <a:off x="6247650" y="1809125"/>
              <a:ext cx="24531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Relevant code*</a:t>
              </a:r>
              <a:endParaRPr sz="1800"/>
            </a:p>
          </p:txBody>
        </p:sp>
      </p:grpSp>
      <p:sp>
        <p:nvSpPr>
          <p:cNvPr id="158" name="Google Shape;158;p20"/>
          <p:cNvSpPr txBox="1"/>
          <p:nvPr/>
        </p:nvSpPr>
        <p:spPr>
          <a:xfrm>
            <a:off x="6672650" y="4604025"/>
            <a:ext cx="2297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i="1"/>
              <a:t>* see Step 5: be concise</a:t>
            </a:r>
            <a:endParaRPr i="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
                                        </p:tgtEl>
                                        <p:attrNameLst>
                                          <p:attrName>style.visibility</p:attrName>
                                        </p:attrNameLst>
                                      </p:cBhvr>
                                      <p:to>
                                        <p:strVal val="visible"/>
                                      </p:to>
                                    </p:set>
                                    <p:animEffect transition="in" filter="fade">
                                      <p:cBhvr>
                                        <p:cTn id="7" dur="1"/>
                                        <p:tgtEl>
                                          <p:spTgt spid="1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9"/>
                                        </p:tgtEl>
                                        <p:attrNameLst>
                                          <p:attrName>style.visibility</p:attrName>
                                        </p:attrNameLst>
                                      </p:cBhvr>
                                      <p:to>
                                        <p:strVal val="visible"/>
                                      </p:to>
                                    </p:set>
                                    <p:animEffect transition="in" filter="fade">
                                      <p:cBhvr>
                                        <p:cTn id="12" dur="1"/>
                                        <p:tgtEl>
                                          <p:spTgt spid="1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9"/>
                                        </p:tgtEl>
                                        <p:attrNameLst>
                                          <p:attrName>style.visibility</p:attrName>
                                        </p:attrNameLst>
                                      </p:cBhvr>
                                      <p:to>
                                        <p:strVal val="visible"/>
                                      </p:to>
                                    </p:set>
                                    <p:animEffect transition="in" filter="fade">
                                      <p:cBhvr>
                                        <p:cTn id="17" dur="1"/>
                                        <p:tgtEl>
                                          <p:spTgt spid="1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5"/>
                                        </p:tgtEl>
                                        <p:attrNameLst>
                                          <p:attrName>style.visibility</p:attrName>
                                        </p:attrNameLst>
                                      </p:cBhvr>
                                      <p:to>
                                        <p:strVal val="visible"/>
                                      </p:to>
                                    </p:set>
                                    <p:animEffect transition="in" filter="fade">
                                      <p:cBhvr>
                                        <p:cTn id="22" dur="1"/>
                                        <p:tgtEl>
                                          <p:spTgt spid="155"/>
                                        </p:tgtEl>
                                      </p:cBhvr>
                                    </p:animEffect>
                                  </p:childTnLst>
                                </p:cTn>
                              </p:par>
                              <p:par>
                                <p:cTn id="23" presetID="10" presetClass="entr" presetSubtype="0" fill="hold" nodeType="withEffect">
                                  <p:stCondLst>
                                    <p:cond delay="0"/>
                                  </p:stCondLst>
                                  <p:childTnLst>
                                    <p:set>
                                      <p:cBhvr>
                                        <p:cTn id="24" dur="1" fill="hold">
                                          <p:stCondLst>
                                            <p:cond delay="0"/>
                                          </p:stCondLst>
                                        </p:cTn>
                                        <p:tgtEl>
                                          <p:spTgt spid="158"/>
                                        </p:tgtEl>
                                        <p:attrNameLst>
                                          <p:attrName>style.visibility</p:attrName>
                                        </p:attrNameLst>
                                      </p:cBhvr>
                                      <p:to>
                                        <p:strVal val="visible"/>
                                      </p:to>
                                    </p:set>
                                    <p:animEffect transition="in" filter="fade">
                                      <p:cBhvr>
                                        <p:cTn id="25" dur="1"/>
                                        <p:tgtEl>
                                          <p:spTgt spid="15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46"/>
                                        </p:tgtEl>
                                        <p:attrNameLst>
                                          <p:attrName>style.visibility</p:attrName>
                                        </p:attrNameLst>
                                      </p:cBhvr>
                                      <p:to>
                                        <p:strVal val="visible"/>
                                      </p:to>
                                    </p:set>
                                    <p:animEffect transition="in" filter="fade">
                                      <p:cBhvr>
                                        <p:cTn id="30" dur="1"/>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4. Be clear</a:t>
            </a:r>
            <a:endParaRPr/>
          </a:p>
        </p:txBody>
      </p:sp>
      <p:sp>
        <p:nvSpPr>
          <p:cNvPr id="164" name="Google Shape;164;p21"/>
          <p:cNvSpPr txBox="1">
            <a:spLocks noGrp="1"/>
          </p:cNvSpPr>
          <p:nvPr>
            <p:ph type="body" idx="1"/>
          </p:nvPr>
        </p:nvSpPr>
        <p:spPr>
          <a:xfrm>
            <a:off x="1071150" y="1620125"/>
            <a:ext cx="7001700" cy="2628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t>Summary of the problem or object-deviation</a:t>
            </a:r>
            <a:endParaRPr b="1" dirty="0"/>
          </a:p>
          <a:p>
            <a:pPr marL="0" lvl="0" indent="0" algn="l" rtl="0">
              <a:spcBef>
                <a:spcPts val="1200"/>
              </a:spcBef>
              <a:spcAft>
                <a:spcPts val="0"/>
              </a:spcAft>
              <a:buNone/>
            </a:pPr>
            <a:r>
              <a:rPr lang="en" dirty="0"/>
              <a:t>Context context context context context context context context context context context context context context context context context context context context context context. </a:t>
            </a:r>
            <a:r>
              <a:rPr lang="en" b="1" dirty="0"/>
              <a:t>Clear question in question words with a question mark at the end?</a:t>
            </a:r>
            <a:r>
              <a:rPr lang="en" dirty="0"/>
              <a:t> Other stuff including code samples or things you’ve tried</a:t>
            </a:r>
            <a:endParaRPr dirty="0"/>
          </a:p>
          <a:p>
            <a:pPr marL="0" lvl="0" indent="0" algn="l" rtl="0">
              <a:spcBef>
                <a:spcPts val="1200"/>
              </a:spcBef>
              <a:spcAft>
                <a:spcPts val="1200"/>
              </a:spcAft>
              <a:buNone/>
            </a:pPr>
            <a:endParaRPr dirty="0"/>
          </a:p>
        </p:txBody>
      </p:sp>
      <p:grpSp>
        <p:nvGrpSpPr>
          <p:cNvPr id="165" name="Google Shape;165;p21"/>
          <p:cNvGrpSpPr/>
          <p:nvPr/>
        </p:nvGrpSpPr>
        <p:grpSpPr>
          <a:xfrm>
            <a:off x="311700" y="1041875"/>
            <a:ext cx="869700" cy="743100"/>
            <a:chOff x="311700" y="1041875"/>
            <a:chExt cx="869700" cy="743100"/>
          </a:xfrm>
        </p:grpSpPr>
        <p:sp>
          <p:nvSpPr>
            <p:cNvPr id="166" name="Google Shape;166;p21"/>
            <p:cNvSpPr txBox="1"/>
            <p:nvPr/>
          </p:nvSpPr>
          <p:spPr>
            <a:xfrm>
              <a:off x="311700" y="1041875"/>
              <a:ext cx="869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Title</a:t>
              </a:r>
              <a:endParaRPr sz="2400" b="1">
                <a:solidFill>
                  <a:srgbClr val="351C75"/>
                </a:solidFill>
              </a:endParaRPr>
            </a:p>
          </p:txBody>
        </p:sp>
        <p:cxnSp>
          <p:nvCxnSpPr>
            <p:cNvPr id="167" name="Google Shape;167;p21"/>
            <p:cNvCxnSpPr>
              <a:stCxn id="166" idx="2"/>
            </p:cNvCxnSpPr>
            <p:nvPr/>
          </p:nvCxnSpPr>
          <p:spPr>
            <a:xfrm>
              <a:off x="746550" y="1595975"/>
              <a:ext cx="360900" cy="189000"/>
            </a:xfrm>
            <a:prstGeom prst="straightConnector1">
              <a:avLst/>
            </a:prstGeom>
            <a:noFill/>
            <a:ln w="28575" cap="flat" cmpd="sng">
              <a:solidFill>
                <a:srgbClr val="351C75"/>
              </a:solidFill>
              <a:prstDash val="solid"/>
              <a:round/>
              <a:headEnd type="none" w="med" len="med"/>
              <a:tailEnd type="triangle" w="med" len="med"/>
            </a:ln>
          </p:spPr>
        </p:cxnSp>
      </p:grpSp>
      <p:grpSp>
        <p:nvGrpSpPr>
          <p:cNvPr id="168" name="Google Shape;168;p21"/>
          <p:cNvGrpSpPr/>
          <p:nvPr/>
        </p:nvGrpSpPr>
        <p:grpSpPr>
          <a:xfrm>
            <a:off x="3267675" y="645100"/>
            <a:ext cx="2211900" cy="1364750"/>
            <a:chOff x="3267675" y="645100"/>
            <a:chExt cx="2211900" cy="1364750"/>
          </a:xfrm>
        </p:grpSpPr>
        <p:sp>
          <p:nvSpPr>
            <p:cNvPr id="169" name="Google Shape;169;p21"/>
            <p:cNvSpPr txBox="1"/>
            <p:nvPr/>
          </p:nvSpPr>
          <p:spPr>
            <a:xfrm>
              <a:off x="3267675" y="645100"/>
              <a:ext cx="22119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rgbClr val="351C75"/>
                  </a:solidFill>
                </a:rPr>
                <a:t>The thing having the problem</a:t>
              </a:r>
              <a:endParaRPr sz="1800" b="1">
                <a:solidFill>
                  <a:srgbClr val="351C75"/>
                </a:solidFill>
              </a:endParaRPr>
            </a:p>
          </p:txBody>
        </p:sp>
        <p:cxnSp>
          <p:nvCxnSpPr>
            <p:cNvPr id="170" name="Google Shape;170;p21"/>
            <p:cNvCxnSpPr>
              <a:stCxn id="169" idx="2"/>
              <a:endCxn id="171" idx="0"/>
            </p:cNvCxnSpPr>
            <p:nvPr/>
          </p:nvCxnSpPr>
          <p:spPr>
            <a:xfrm>
              <a:off x="4373625" y="1384000"/>
              <a:ext cx="157200" cy="345900"/>
            </a:xfrm>
            <a:prstGeom prst="straightConnector1">
              <a:avLst/>
            </a:prstGeom>
            <a:noFill/>
            <a:ln w="28575" cap="flat" cmpd="sng">
              <a:solidFill>
                <a:srgbClr val="351C75"/>
              </a:solidFill>
              <a:prstDash val="solid"/>
              <a:round/>
              <a:headEnd type="none" w="med" len="med"/>
              <a:tailEnd type="triangle" w="med" len="med"/>
            </a:ln>
          </p:spPr>
        </p:cxnSp>
        <p:sp>
          <p:nvSpPr>
            <p:cNvPr id="171" name="Google Shape;171;p21"/>
            <p:cNvSpPr/>
            <p:nvPr/>
          </p:nvSpPr>
          <p:spPr>
            <a:xfrm>
              <a:off x="4137150" y="1729950"/>
              <a:ext cx="787200" cy="279900"/>
            </a:xfrm>
            <a:prstGeom prst="ellipse">
              <a:avLst/>
            </a:prstGeom>
            <a:noFill/>
            <a:ln w="28575" cap="flat" cmpd="sng">
              <a:solidFill>
                <a:srgbClr val="351C7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 name="Google Shape;172;p21"/>
          <p:cNvGrpSpPr/>
          <p:nvPr/>
        </p:nvGrpSpPr>
        <p:grpSpPr>
          <a:xfrm>
            <a:off x="4924400" y="736625"/>
            <a:ext cx="3468550" cy="1273225"/>
            <a:chOff x="4924400" y="736625"/>
            <a:chExt cx="3468550" cy="1273225"/>
          </a:xfrm>
        </p:grpSpPr>
        <p:grpSp>
          <p:nvGrpSpPr>
            <p:cNvPr id="173" name="Google Shape;173;p21"/>
            <p:cNvGrpSpPr/>
            <p:nvPr/>
          </p:nvGrpSpPr>
          <p:grpSpPr>
            <a:xfrm>
              <a:off x="5692650" y="736625"/>
              <a:ext cx="2700300" cy="1050000"/>
              <a:chOff x="5692650" y="736625"/>
              <a:chExt cx="2700300" cy="1050000"/>
            </a:xfrm>
          </p:grpSpPr>
          <p:sp>
            <p:nvSpPr>
              <p:cNvPr id="174" name="Google Shape;174;p21"/>
              <p:cNvSpPr txBox="1"/>
              <p:nvPr/>
            </p:nvSpPr>
            <p:spPr>
              <a:xfrm>
                <a:off x="5692650" y="736625"/>
                <a:ext cx="27003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rgbClr val="351C75"/>
                    </a:solidFill>
                  </a:rPr>
                  <a:t>Difference between expectation and reality</a:t>
                </a:r>
                <a:endParaRPr sz="1800" b="1">
                  <a:solidFill>
                    <a:srgbClr val="351C75"/>
                  </a:solidFill>
                </a:endParaRPr>
              </a:p>
            </p:txBody>
          </p:sp>
          <p:cxnSp>
            <p:nvCxnSpPr>
              <p:cNvPr id="175" name="Google Shape;175;p21"/>
              <p:cNvCxnSpPr>
                <a:stCxn id="174" idx="2"/>
                <a:endCxn id="176" idx="7"/>
              </p:cNvCxnSpPr>
              <p:nvPr/>
            </p:nvCxnSpPr>
            <p:spPr>
              <a:xfrm flipH="1">
                <a:off x="5885400" y="1475525"/>
                <a:ext cx="1157400" cy="311100"/>
              </a:xfrm>
              <a:prstGeom prst="straightConnector1">
                <a:avLst/>
              </a:prstGeom>
              <a:noFill/>
              <a:ln w="28575" cap="flat" cmpd="sng">
                <a:solidFill>
                  <a:srgbClr val="351C75"/>
                </a:solidFill>
                <a:prstDash val="solid"/>
                <a:round/>
                <a:headEnd type="none" w="med" len="med"/>
                <a:tailEnd type="triangle" w="med" len="med"/>
              </a:ln>
            </p:spPr>
          </p:cxnSp>
        </p:grpSp>
        <p:sp>
          <p:nvSpPr>
            <p:cNvPr id="176" name="Google Shape;176;p21"/>
            <p:cNvSpPr/>
            <p:nvPr/>
          </p:nvSpPr>
          <p:spPr>
            <a:xfrm>
              <a:off x="4924400" y="1748250"/>
              <a:ext cx="1125900" cy="261600"/>
            </a:xfrm>
            <a:prstGeom prst="ellipse">
              <a:avLst/>
            </a:prstGeom>
            <a:noFill/>
            <a:ln w="28575" cap="flat" cmpd="sng">
              <a:solidFill>
                <a:srgbClr val="351C7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 name="Google Shape;177;p21"/>
          <p:cNvGrpSpPr/>
          <p:nvPr/>
        </p:nvGrpSpPr>
        <p:grpSpPr>
          <a:xfrm>
            <a:off x="109850" y="3258450"/>
            <a:ext cx="2910600" cy="1349100"/>
            <a:chOff x="220100" y="1728575"/>
            <a:chExt cx="2910600" cy="1349100"/>
          </a:xfrm>
        </p:grpSpPr>
        <p:sp>
          <p:nvSpPr>
            <p:cNvPr id="178" name="Google Shape;178;p21"/>
            <p:cNvSpPr txBox="1"/>
            <p:nvPr/>
          </p:nvSpPr>
          <p:spPr>
            <a:xfrm>
              <a:off x="220100" y="2154275"/>
              <a:ext cx="291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Bold question (NOT open-ended)</a:t>
              </a:r>
              <a:endParaRPr sz="2400" b="1">
                <a:solidFill>
                  <a:srgbClr val="351C75"/>
                </a:solidFill>
              </a:endParaRPr>
            </a:p>
          </p:txBody>
        </p:sp>
        <p:cxnSp>
          <p:nvCxnSpPr>
            <p:cNvPr id="179" name="Google Shape;179;p21"/>
            <p:cNvCxnSpPr>
              <a:stCxn id="178" idx="0"/>
            </p:cNvCxnSpPr>
            <p:nvPr/>
          </p:nvCxnSpPr>
          <p:spPr>
            <a:xfrm rot="10800000" flipH="1">
              <a:off x="1675400" y="1728575"/>
              <a:ext cx="274500" cy="425700"/>
            </a:xfrm>
            <a:prstGeom prst="straightConnector1">
              <a:avLst/>
            </a:prstGeom>
            <a:noFill/>
            <a:ln w="28575" cap="flat" cmpd="sng">
              <a:solidFill>
                <a:srgbClr val="351C75"/>
              </a:solidFill>
              <a:prstDash val="solid"/>
              <a:round/>
              <a:headEnd type="none" w="med" len="med"/>
              <a:tailEnd type="triangle" w="med" len="med"/>
            </a:ln>
          </p:spPr>
        </p:cxnSp>
      </p:grpSp>
      <p:sp>
        <p:nvSpPr>
          <p:cNvPr id="180" name="Google Shape;180;p21"/>
          <p:cNvSpPr txBox="1"/>
          <p:nvPr/>
        </p:nvSpPr>
        <p:spPr>
          <a:xfrm>
            <a:off x="3761400" y="3909600"/>
            <a:ext cx="5070900" cy="46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rgbClr val="980000"/>
                </a:solidFill>
              </a:rPr>
              <a:t>Bad title: Why doesn’t this work? Please help!</a:t>
            </a:r>
            <a:endParaRPr sz="1800">
              <a:solidFill>
                <a:srgbClr val="980000"/>
              </a:solidFill>
            </a:endParaRPr>
          </a:p>
        </p:txBody>
      </p:sp>
      <p:sp>
        <p:nvSpPr>
          <p:cNvPr id="181" name="Google Shape;181;p21"/>
          <p:cNvSpPr txBox="1"/>
          <p:nvPr/>
        </p:nvSpPr>
        <p:spPr>
          <a:xfrm>
            <a:off x="3761400" y="4519650"/>
            <a:ext cx="5070900" cy="46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rgbClr val="38761D"/>
                </a:solidFill>
              </a:rPr>
              <a:t>Good title: Jupyter notebook crashes on startup</a:t>
            </a:r>
            <a:endParaRPr sz="1800">
              <a:solidFill>
                <a:srgbClr val="38761D"/>
              </a:solidFill>
            </a:endParaRPr>
          </a:p>
        </p:txBody>
      </p:sp>
      <p:grpSp>
        <p:nvGrpSpPr>
          <p:cNvPr id="182" name="Google Shape;182;p21"/>
          <p:cNvGrpSpPr/>
          <p:nvPr/>
        </p:nvGrpSpPr>
        <p:grpSpPr>
          <a:xfrm>
            <a:off x="4884475" y="4519650"/>
            <a:ext cx="3820200" cy="461700"/>
            <a:chOff x="4884475" y="4519650"/>
            <a:chExt cx="3820200" cy="461700"/>
          </a:xfrm>
        </p:grpSpPr>
        <p:sp>
          <p:nvSpPr>
            <p:cNvPr id="183" name="Google Shape;183;p21"/>
            <p:cNvSpPr/>
            <p:nvPr/>
          </p:nvSpPr>
          <p:spPr>
            <a:xfrm>
              <a:off x="4884475" y="4519650"/>
              <a:ext cx="1879800" cy="461700"/>
            </a:xfrm>
            <a:prstGeom prst="ellipse">
              <a:avLst/>
            </a:prstGeom>
            <a:noFill/>
            <a:ln w="28575" cap="flat" cmpd="sng">
              <a:solidFill>
                <a:srgbClr val="274E1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1"/>
            <p:cNvSpPr/>
            <p:nvPr/>
          </p:nvSpPr>
          <p:spPr>
            <a:xfrm>
              <a:off x="6764275" y="4519650"/>
              <a:ext cx="1940400" cy="461700"/>
            </a:xfrm>
            <a:prstGeom prst="ellipse">
              <a:avLst/>
            </a:prstGeom>
            <a:noFill/>
            <a:ln w="28575" cap="flat" cmpd="sng">
              <a:solidFill>
                <a:srgbClr val="274E1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5"/>
                                        </p:tgtEl>
                                        <p:attrNameLst>
                                          <p:attrName>style.visibility</p:attrName>
                                        </p:attrNameLst>
                                      </p:cBhvr>
                                      <p:to>
                                        <p:strVal val="visible"/>
                                      </p:to>
                                    </p:set>
                                    <p:animEffect transition="in" filter="fade">
                                      <p:cBhvr>
                                        <p:cTn id="7" dur="1"/>
                                        <p:tgtEl>
                                          <p:spTgt spid="1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8"/>
                                        </p:tgtEl>
                                        <p:attrNameLst>
                                          <p:attrName>style.visibility</p:attrName>
                                        </p:attrNameLst>
                                      </p:cBhvr>
                                      <p:to>
                                        <p:strVal val="visible"/>
                                      </p:to>
                                    </p:set>
                                    <p:animEffect transition="in" filter="fade">
                                      <p:cBhvr>
                                        <p:cTn id="12" dur="1"/>
                                        <p:tgtEl>
                                          <p:spTgt spid="1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2"/>
                                        </p:tgtEl>
                                        <p:attrNameLst>
                                          <p:attrName>style.visibility</p:attrName>
                                        </p:attrNameLst>
                                      </p:cBhvr>
                                      <p:to>
                                        <p:strVal val="visible"/>
                                      </p:to>
                                    </p:set>
                                    <p:animEffect transition="in" filter="fade">
                                      <p:cBhvr>
                                        <p:cTn id="17" dur="1"/>
                                        <p:tgtEl>
                                          <p:spTgt spid="17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77"/>
                                        </p:tgtEl>
                                        <p:attrNameLst>
                                          <p:attrName>style.visibility</p:attrName>
                                        </p:attrNameLst>
                                      </p:cBhvr>
                                      <p:to>
                                        <p:strVal val="visible"/>
                                      </p:to>
                                    </p:set>
                                    <p:animEffect transition="in" filter="fade">
                                      <p:cBhvr>
                                        <p:cTn id="22" dur="1"/>
                                        <p:tgtEl>
                                          <p:spTgt spid="17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0"/>
                                        </p:tgtEl>
                                        <p:attrNameLst>
                                          <p:attrName>style.visibility</p:attrName>
                                        </p:attrNameLst>
                                      </p:cBhvr>
                                      <p:to>
                                        <p:strVal val="visible"/>
                                      </p:to>
                                    </p:set>
                                    <p:animEffect transition="in" filter="fade">
                                      <p:cBhvr>
                                        <p:cTn id="27" dur="1"/>
                                        <p:tgtEl>
                                          <p:spTgt spid="18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1"/>
                                        </p:tgtEl>
                                        <p:attrNameLst>
                                          <p:attrName>style.visibility</p:attrName>
                                        </p:attrNameLst>
                                      </p:cBhvr>
                                      <p:to>
                                        <p:strVal val="visible"/>
                                      </p:to>
                                    </p:set>
                                    <p:animEffect transition="in" filter="fade">
                                      <p:cBhvr>
                                        <p:cTn id="32" dur="1"/>
                                        <p:tgtEl>
                                          <p:spTgt spid="18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2"/>
                                        </p:tgtEl>
                                        <p:attrNameLst>
                                          <p:attrName>style.visibility</p:attrName>
                                        </p:attrNameLst>
                                      </p:cBhvr>
                                      <p:to>
                                        <p:strVal val="visible"/>
                                      </p:to>
                                    </p:set>
                                    <p:animEffect transition="in" filter="fade">
                                      <p:cBhvr>
                                        <p:cTn id="37" dur="1"/>
                                        <p:tgtEl>
                                          <p:spTgt spid="1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5. Be concise</a:t>
            </a:r>
            <a:endParaRPr/>
          </a:p>
        </p:txBody>
      </p:sp>
      <p:sp>
        <p:nvSpPr>
          <p:cNvPr id="190" name="Google Shape;190;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Text not images - no screenshots!</a:t>
            </a:r>
            <a:endParaRPr/>
          </a:p>
          <a:p>
            <a:pPr marL="914400" lvl="1" indent="-317500" algn="l" rtl="0">
              <a:spcBef>
                <a:spcPts val="0"/>
              </a:spcBef>
              <a:spcAft>
                <a:spcPts val="0"/>
              </a:spcAft>
              <a:buSzPts val="1400"/>
              <a:buChar char="○"/>
            </a:pPr>
            <a:r>
              <a:rPr lang="en"/>
              <a:t>Unless you’re asking about interface or graphical/chart-related issues</a:t>
            </a:r>
            <a:endParaRPr/>
          </a:p>
          <a:p>
            <a:pPr marL="914400" lvl="1" indent="-317500" algn="l" rtl="0">
              <a:spcBef>
                <a:spcPts val="0"/>
              </a:spcBef>
              <a:spcAft>
                <a:spcPts val="0"/>
              </a:spcAft>
              <a:buSzPts val="1400"/>
              <a:buChar char="○"/>
            </a:pPr>
            <a:r>
              <a:rPr lang="en"/>
              <a:t>Format code if possible - use “code” under Format  in Canvas or ``` in Markdown</a:t>
            </a:r>
            <a:endParaRPr/>
          </a:p>
          <a:p>
            <a:pPr marL="457200" lvl="0" indent="-342900" algn="l" rtl="0">
              <a:spcBef>
                <a:spcPts val="0"/>
              </a:spcBef>
              <a:spcAft>
                <a:spcPts val="0"/>
              </a:spcAft>
              <a:buSzPts val="1800"/>
              <a:buChar char="●"/>
            </a:pPr>
            <a:r>
              <a:rPr lang="en"/>
              <a:t>Don't just copy in your entire program/data/error message! Sample, simplify</a:t>
            </a:r>
            <a:endParaRPr/>
          </a:p>
        </p:txBody>
      </p:sp>
      <p:sp>
        <p:nvSpPr>
          <p:cNvPr id="191" name="Google Shape;191;p22"/>
          <p:cNvSpPr txBox="1"/>
          <p:nvPr/>
        </p:nvSpPr>
        <p:spPr>
          <a:xfrm>
            <a:off x="237975" y="2398125"/>
            <a:ext cx="86955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t>BAD: Here’s all my data:</a:t>
            </a:r>
            <a:endParaRPr sz="1800"/>
          </a:p>
          <a:p>
            <a:pPr marL="0" lvl="0" indent="0" algn="l" rtl="0">
              <a:spcBef>
                <a:spcPts val="0"/>
              </a:spcBef>
              <a:spcAft>
                <a:spcPts val="0"/>
              </a:spcAft>
              <a:buNone/>
            </a:pPr>
            <a:r>
              <a:rPr lang="en" sz="800"/>
              <a:t>431,10/13/2014 10:31:00 AM,10/13/2014 10:48:00 AM,SEA00298,985.935,2nd Ave &amp; Spring St,Occidental Park / Occidental Ave S &amp; S Washington St,CBD-06,PS-04,Member,Male,1960</a:t>
            </a:r>
            <a:endParaRPr sz="800"/>
          </a:p>
          <a:p>
            <a:pPr marL="0" lvl="0" indent="0" algn="l" rtl="0">
              <a:spcBef>
                <a:spcPts val="0"/>
              </a:spcBef>
              <a:spcAft>
                <a:spcPts val="0"/>
              </a:spcAft>
              <a:buNone/>
            </a:pPr>
            <a:r>
              <a:rPr lang="en" sz="800"/>
              <a:t>432,10/13/2014 10:32:00 AM,10/13/2014 10:48:00 AM,SEA00195,926.375,2nd Ave &amp; Spring St,Occidental Park / Occidental Ave S &amp; S Washington St,CBD-06,PS-04,Member,Male,1970</a:t>
            </a:r>
            <a:endParaRPr sz="800"/>
          </a:p>
          <a:p>
            <a:pPr marL="0" lvl="0" indent="0" algn="l" rtl="0">
              <a:spcBef>
                <a:spcPts val="0"/>
              </a:spcBef>
              <a:spcAft>
                <a:spcPts val="0"/>
              </a:spcAft>
              <a:buNone/>
            </a:pPr>
            <a:r>
              <a:rPr lang="en" sz="800"/>
              <a:t>433,10/13/2014 10:33:00 AM,10/13/2014 10:48:00 AM,SEA00486,883.831,2nd Ave &amp; Spring St,Occidental Park / Occidental Ave S &amp; S Washington St,CBD-06,PS-04,Member,Female,1988</a:t>
            </a:r>
            <a:endParaRPr sz="800"/>
          </a:p>
          <a:p>
            <a:pPr marL="0" lvl="0" indent="0" algn="l" rtl="0">
              <a:spcBef>
                <a:spcPts val="0"/>
              </a:spcBef>
              <a:spcAft>
                <a:spcPts val="0"/>
              </a:spcAft>
              <a:buNone/>
            </a:pPr>
            <a:r>
              <a:rPr lang="en" sz="800"/>
              <a:t>434,10/13/2014 10:34:00 AM,10/13/2014 10:48:00 AM,SEA00333,865.937,2nd Ave &amp; Spring St,Occidental Park / Occidental Ave S &amp; S Washington St,CBD-06,PS-04,Member,Female,1977</a:t>
            </a:r>
            <a:endParaRPr sz="800"/>
          </a:p>
          <a:p>
            <a:pPr marL="0" lvl="0" indent="0" algn="l" rtl="0">
              <a:spcBef>
                <a:spcPts val="0"/>
              </a:spcBef>
              <a:spcAft>
                <a:spcPts val="0"/>
              </a:spcAft>
              <a:buNone/>
            </a:pPr>
            <a:r>
              <a:rPr lang="en" sz="800"/>
              <a:t>435,10/13/2014 10:34:00 AM,10/13/2014 10:49:00 AM,SEA00202,923.923,2nd Ave &amp; Spring St,Occidental Park / Occidental Ave S &amp; S Washington St,CBD-06,PS-04,Member,Male,1971</a:t>
            </a:r>
            <a:endParaRPr sz="800"/>
          </a:p>
          <a:p>
            <a:pPr marL="0" lvl="0" indent="0" algn="l" rtl="0">
              <a:spcBef>
                <a:spcPts val="0"/>
              </a:spcBef>
              <a:spcAft>
                <a:spcPts val="0"/>
              </a:spcAft>
              <a:buNone/>
            </a:pPr>
            <a:r>
              <a:rPr lang="en" sz="800"/>
              <a:t>436,10/13/2014 10:34:00 AM,10/13/2014 10:47:00 AM,SEA00337,808.805,2nd Ave &amp; Spring St,Occidental Park / Occidental Ave S &amp; S Washington St,CBD-06,PS-04,Member,Male,1974</a:t>
            </a:r>
            <a:endParaRPr sz="800"/>
          </a:p>
          <a:p>
            <a:pPr marL="0" lvl="0" indent="0" algn="l" rtl="0">
              <a:spcBef>
                <a:spcPts val="0"/>
              </a:spcBef>
              <a:spcAft>
                <a:spcPts val="0"/>
              </a:spcAft>
              <a:buNone/>
            </a:pPr>
            <a:r>
              <a:rPr lang="en" sz="1200" b="1">
                <a:solidFill>
                  <a:srgbClr val="FF0000"/>
                </a:solidFill>
              </a:rPr>
              <a:t>…1000 more lines</a:t>
            </a:r>
            <a:endParaRPr sz="1200" b="1">
              <a:solidFill>
                <a:srgbClr val="FF0000"/>
              </a:solidFill>
            </a:endParaRPr>
          </a:p>
        </p:txBody>
      </p:sp>
      <p:sp>
        <p:nvSpPr>
          <p:cNvPr id="192" name="Google Shape;192;p22"/>
          <p:cNvSpPr txBox="1"/>
          <p:nvPr/>
        </p:nvSpPr>
        <p:spPr>
          <a:xfrm>
            <a:off x="237975" y="3938973"/>
            <a:ext cx="9144000" cy="1139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dirty="0"/>
              <a:t>BETTER: A sample row in my data looks like:</a:t>
            </a:r>
            <a:endParaRPr sz="1800" dirty="0"/>
          </a:p>
          <a:p>
            <a:pPr marL="0" lvl="0" indent="0" algn="l" rtl="0">
              <a:spcBef>
                <a:spcPts val="0"/>
              </a:spcBef>
              <a:spcAft>
                <a:spcPts val="0"/>
              </a:spcAft>
              <a:buNone/>
            </a:pPr>
            <a:endParaRPr sz="1800" dirty="0"/>
          </a:p>
          <a:p>
            <a:pPr marL="0" lvl="0" indent="0" algn="l" rtl="0">
              <a:spcBef>
                <a:spcPts val="0"/>
              </a:spcBef>
              <a:spcAft>
                <a:spcPts val="0"/>
              </a:spcAft>
              <a:buNone/>
            </a:pPr>
            <a:r>
              <a:rPr lang="en" sz="800" dirty="0"/>
              <a:t>431,10/13/2014 10:31:00 AM,10/13/2014 10:48:00 AM,SEA00298,985.935,2nd Ave &amp; Spring St,Occidental Park / Occidental Ave S &amp; S Washington St,CBD-06,PS-04,Member,Male,1960</a:t>
            </a:r>
            <a:endParaRPr sz="800" dirty="0"/>
          </a:p>
          <a:p>
            <a:pPr marL="0" lvl="0" indent="0" algn="l" rtl="0">
              <a:spcBef>
                <a:spcPts val="0"/>
              </a:spcBef>
              <a:spcAft>
                <a:spcPts val="0"/>
              </a:spcAft>
              <a:buNone/>
            </a:pPr>
            <a:endParaRPr sz="1800"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1"/>
                                        </p:tgtEl>
                                        <p:attrNameLst>
                                          <p:attrName>style.visibility</p:attrName>
                                        </p:attrNameLst>
                                      </p:cBhvr>
                                      <p:to>
                                        <p:strVal val="visible"/>
                                      </p:to>
                                    </p:set>
                                    <p:animEffect transition="in" filter="fade">
                                      <p:cBhvr>
                                        <p:cTn id="7" dur="1"/>
                                        <p:tgtEl>
                                          <p:spTgt spid="19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2"/>
                                        </p:tgtEl>
                                        <p:attrNameLst>
                                          <p:attrName>style.visibility</p:attrName>
                                        </p:attrNameLst>
                                      </p:cBhvr>
                                      <p:to>
                                        <p:strVal val="visible"/>
                                      </p:to>
                                    </p:set>
                                    <p:animEffect transition="in" filter="fade">
                                      <p:cBhvr>
                                        <p:cTn id="12" dur="1"/>
                                        <p:tgtEl>
                                          <p:spTgt spid="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6. Proofread</a:t>
            </a:r>
            <a:endParaRPr/>
          </a:p>
        </p:txBody>
      </p:sp>
      <p:sp>
        <p:nvSpPr>
          <p:cNvPr id="198" name="Google Shape;198;p23"/>
          <p:cNvSpPr txBox="1">
            <a:spLocks noGrp="1"/>
          </p:cNvSpPr>
          <p:nvPr>
            <p:ph type="body" idx="1"/>
          </p:nvPr>
        </p:nvSpPr>
        <p:spPr>
          <a:xfrm>
            <a:off x="842100" y="1152475"/>
            <a:ext cx="7990200" cy="36132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r>
              <a:rPr lang="en"/>
              <a:t>Clear?</a:t>
            </a:r>
            <a:endParaRPr/>
          </a:p>
          <a:p>
            <a:pPr marL="0" lvl="0" indent="0" algn="l" rtl="0">
              <a:spcBef>
                <a:spcPts val="1200"/>
              </a:spcBef>
              <a:spcAft>
                <a:spcPts val="0"/>
              </a:spcAft>
              <a:buNone/>
            </a:pPr>
            <a:r>
              <a:rPr lang="en"/>
              <a:t>Concise?</a:t>
            </a:r>
            <a:endParaRPr/>
          </a:p>
          <a:p>
            <a:pPr marL="0" lvl="0" indent="0" algn="l" rtl="0">
              <a:spcBef>
                <a:spcPts val="1200"/>
              </a:spcBef>
              <a:spcAft>
                <a:spcPts val="0"/>
              </a:spcAft>
              <a:buNone/>
            </a:pPr>
            <a:r>
              <a:rPr lang="en"/>
              <a:t>Specific?</a:t>
            </a:r>
            <a:endParaRPr/>
          </a:p>
          <a:p>
            <a:pPr marL="0" lvl="0" indent="0" algn="l" rtl="0">
              <a:spcBef>
                <a:spcPts val="1200"/>
              </a:spcBef>
              <a:spcAft>
                <a:spcPts val="1200"/>
              </a:spcAft>
              <a:buNone/>
            </a:pPr>
            <a:r>
              <a:rPr lang="en"/>
              <a:t>Enough context?</a:t>
            </a:r>
            <a:endParaRPr/>
          </a:p>
        </p:txBody>
      </p:sp>
      <p:pic>
        <p:nvPicPr>
          <p:cNvPr id="199" name="Google Shape;199;p23"/>
          <p:cNvPicPr preferRelativeResize="0"/>
          <p:nvPr/>
        </p:nvPicPr>
        <p:blipFill>
          <a:blip r:embed="rId3">
            <a:alphaModFix/>
          </a:blip>
          <a:stretch>
            <a:fillRect/>
          </a:stretch>
        </p:blipFill>
        <p:spPr>
          <a:xfrm>
            <a:off x="572749" y="1017725"/>
            <a:ext cx="2467576" cy="2903025"/>
          </a:xfrm>
          <a:prstGeom prst="rect">
            <a:avLst/>
          </a:prstGeom>
          <a:noFill/>
          <a:ln>
            <a:noFill/>
          </a:ln>
        </p:spPr>
      </p:pic>
      <p:grpSp>
        <p:nvGrpSpPr>
          <p:cNvPr id="200" name="Google Shape;200;p23"/>
          <p:cNvGrpSpPr/>
          <p:nvPr/>
        </p:nvGrpSpPr>
        <p:grpSpPr>
          <a:xfrm>
            <a:off x="4870613" y="1357900"/>
            <a:ext cx="2904000" cy="2940900"/>
            <a:chOff x="6005613" y="1824725"/>
            <a:chExt cx="2904000" cy="2940900"/>
          </a:xfrm>
        </p:grpSpPr>
        <p:pic>
          <p:nvPicPr>
            <p:cNvPr id="201" name="Google Shape;201;p23"/>
            <p:cNvPicPr preferRelativeResize="0"/>
            <p:nvPr/>
          </p:nvPicPr>
          <p:blipFill>
            <a:blip r:embed="rId4">
              <a:alphaModFix/>
            </a:blip>
            <a:stretch>
              <a:fillRect/>
            </a:stretch>
          </p:blipFill>
          <p:spPr>
            <a:xfrm>
              <a:off x="6507724" y="1824725"/>
              <a:ext cx="1899774" cy="2479200"/>
            </a:xfrm>
            <a:prstGeom prst="rect">
              <a:avLst/>
            </a:prstGeom>
            <a:noFill/>
            <a:ln>
              <a:noFill/>
            </a:ln>
          </p:spPr>
        </p:pic>
        <p:sp>
          <p:nvSpPr>
            <p:cNvPr id="202" name="Google Shape;202;p23"/>
            <p:cNvSpPr txBox="1"/>
            <p:nvPr/>
          </p:nvSpPr>
          <p:spPr>
            <a:xfrm>
              <a:off x="6005613" y="4303925"/>
              <a:ext cx="29040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“Rubber ducking”</a:t>
              </a:r>
              <a:endParaRPr sz="18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1"/>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7. Follow up with answers</a:t>
            </a:r>
            <a:endParaRPr/>
          </a:p>
        </p:txBody>
      </p:sp>
      <p:sp>
        <p:nvSpPr>
          <p:cNvPr id="208" name="Google Shape;208;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If an answer given doesn’t work, post a comment:</a:t>
            </a:r>
            <a:endParaRPr/>
          </a:p>
          <a:p>
            <a:pPr marL="457200" lvl="0" indent="-342900" algn="l" rtl="0">
              <a:spcBef>
                <a:spcPts val="1200"/>
              </a:spcBef>
              <a:spcAft>
                <a:spcPts val="0"/>
              </a:spcAft>
              <a:buSzPts val="1800"/>
              <a:buChar char="●"/>
            </a:pPr>
            <a:r>
              <a:rPr lang="en"/>
              <a:t>What your updated code looks like</a:t>
            </a:r>
            <a:endParaRPr/>
          </a:p>
          <a:p>
            <a:pPr marL="457200" lvl="0" indent="-342900" algn="l" rtl="0">
              <a:spcBef>
                <a:spcPts val="0"/>
              </a:spcBef>
              <a:spcAft>
                <a:spcPts val="0"/>
              </a:spcAft>
              <a:buSzPts val="1800"/>
              <a:buChar char="●"/>
            </a:pPr>
            <a:r>
              <a:rPr lang="en"/>
              <a:t>The new error message</a:t>
            </a:r>
            <a:endParaRPr/>
          </a:p>
          <a:p>
            <a:pPr marL="457200" lvl="0" indent="-342900" algn="l" rtl="0">
              <a:spcBef>
                <a:spcPts val="0"/>
              </a:spcBef>
              <a:spcAft>
                <a:spcPts val="0"/>
              </a:spcAft>
              <a:buSzPts val="1800"/>
              <a:buChar char="●"/>
            </a:pPr>
            <a:r>
              <a:rPr lang="en"/>
              <a:t>Anything else you were inspired to try since you posted your question</a:t>
            </a:r>
            <a:endParaRPr/>
          </a:p>
          <a:p>
            <a:pPr marL="0" lvl="0" indent="0" algn="l" rtl="0">
              <a:spcBef>
                <a:spcPts val="1200"/>
              </a:spcBef>
              <a:spcAft>
                <a:spcPts val="0"/>
              </a:spcAft>
              <a:buNone/>
            </a:pPr>
            <a:r>
              <a:rPr lang="en"/>
              <a:t>If a proposed solution does work:</a:t>
            </a:r>
            <a:endParaRPr/>
          </a:p>
          <a:p>
            <a:pPr marL="457200" lvl="0" indent="-342900" algn="l" rtl="0">
              <a:spcBef>
                <a:spcPts val="1200"/>
              </a:spcBef>
              <a:spcAft>
                <a:spcPts val="0"/>
              </a:spcAft>
              <a:buSzPts val="1800"/>
              <a:buChar char="●"/>
            </a:pPr>
            <a:r>
              <a:rPr lang="en"/>
              <a:t>Respond so others with the same problem will know that the solution worked </a:t>
            </a:r>
            <a:endParaRPr/>
          </a:p>
          <a:p>
            <a:pPr marL="457200" lvl="0" indent="-342900" algn="l" rtl="0">
              <a:spcBef>
                <a:spcPts val="0"/>
              </a:spcBef>
              <a:spcAft>
                <a:spcPts val="0"/>
              </a:spcAft>
              <a:buSzPts val="1800"/>
              <a:buChar char="●"/>
            </a:pPr>
            <a:r>
              <a:rPr lang="en"/>
              <a:t>Thank the person for helping you!</a:t>
            </a:r>
            <a:endParaRPr/>
          </a:p>
          <a:p>
            <a:pPr marL="0" lvl="0" indent="0" algn="l" rtl="0">
              <a:spcBef>
                <a:spcPts val="1200"/>
              </a:spcBef>
              <a:spcAft>
                <a:spcPts val="1200"/>
              </a:spcAft>
              <a:buNone/>
            </a:pPr>
            <a:r>
              <a:rPr lang="en"/>
              <a:t>Also helpful - ask how the person figured it out, or how you could figure it out on your own next time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Whoops! I asked a bad question</a:t>
            </a:r>
            <a:endParaRPr/>
          </a:p>
        </p:txBody>
      </p:sp>
      <p:sp>
        <p:nvSpPr>
          <p:cNvPr id="214" name="Google Shape;214;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It’s ok! We all do it</a:t>
            </a:r>
            <a:endParaRPr/>
          </a:p>
          <a:p>
            <a:pPr marL="457200" lvl="0" indent="-342900" algn="l" rtl="0">
              <a:spcBef>
                <a:spcPts val="0"/>
              </a:spcBef>
              <a:spcAft>
                <a:spcPts val="0"/>
              </a:spcAft>
              <a:buSzPts val="1800"/>
              <a:buChar char="●"/>
            </a:pPr>
            <a:r>
              <a:rPr lang="en"/>
              <a:t>But you’ll get far better answers with good questions</a:t>
            </a:r>
            <a:endParaRPr/>
          </a:p>
          <a:p>
            <a:pPr marL="457200" lvl="0" indent="-342900" algn="l" rtl="0">
              <a:spcBef>
                <a:spcPts val="0"/>
              </a:spcBef>
              <a:spcAft>
                <a:spcPts val="0"/>
              </a:spcAft>
              <a:buSzPts val="1800"/>
              <a:buChar char="●"/>
            </a:pPr>
            <a:r>
              <a:rPr lang="en"/>
              <a:t>Keep practicing!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1</a:t>
            </a:r>
            <a:endParaRPr/>
          </a:p>
        </p:txBody>
      </p:sp>
      <p:sp>
        <p:nvSpPr>
          <p:cNvPr id="220" name="Google Shape;220;p26"/>
          <p:cNvSpPr txBox="1">
            <a:spLocks noGrp="1"/>
          </p:cNvSpPr>
          <p:nvPr>
            <p:ph type="body" idx="1"/>
          </p:nvPr>
        </p:nvSpPr>
        <p:spPr>
          <a:xfrm>
            <a:off x="311700" y="1152475"/>
            <a:ext cx="8520600" cy="121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Foo Bar library help</a:t>
            </a:r>
            <a:endParaRPr b="1"/>
          </a:p>
          <a:p>
            <a:pPr marL="0" lvl="0" indent="0" algn="l" rtl="0">
              <a:spcBef>
                <a:spcPts val="1200"/>
              </a:spcBef>
              <a:spcAft>
                <a:spcPts val="1200"/>
              </a:spcAft>
              <a:buNone/>
            </a:pPr>
            <a:r>
              <a:rPr lang="en"/>
              <a:t>Where can I find out stuff about the Foo Bar library?</a:t>
            </a:r>
            <a:endParaRPr/>
          </a:p>
        </p:txBody>
      </p:sp>
      <p:sp>
        <p:nvSpPr>
          <p:cNvPr id="221" name="Google Shape;221;p26"/>
          <p:cNvSpPr txBox="1">
            <a:spLocks noGrp="1"/>
          </p:cNvSpPr>
          <p:nvPr>
            <p:ph type="body" idx="1"/>
          </p:nvPr>
        </p:nvSpPr>
        <p:spPr>
          <a:xfrm>
            <a:off x="311700" y="2867950"/>
            <a:ext cx="8520600" cy="1701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BETTER: </a:t>
            </a:r>
            <a:r>
              <a:rPr lang="en" b="1"/>
              <a:t>How to find Foo Bar library information?</a:t>
            </a:r>
            <a:endParaRPr b="1"/>
          </a:p>
          <a:p>
            <a:pPr marL="0" lvl="0" indent="0" algn="l" rtl="0">
              <a:spcBef>
                <a:spcPts val="1200"/>
              </a:spcBef>
              <a:spcAft>
                <a:spcPts val="1200"/>
              </a:spcAft>
              <a:buNone/>
            </a:pPr>
            <a:r>
              <a:rPr lang="en"/>
              <a:t>I used Google to try to find the “Foo Bar” library, but I got no useful hits. Can I get a pointer to programming information on this library?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1"/>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2</a:t>
            </a:r>
            <a:endParaRPr/>
          </a:p>
        </p:txBody>
      </p:sp>
      <p:sp>
        <p:nvSpPr>
          <p:cNvPr id="227" name="Google Shape;227;p27"/>
          <p:cNvSpPr txBox="1">
            <a:spLocks noGrp="1"/>
          </p:cNvSpPr>
          <p:nvPr>
            <p:ph type="body" idx="1"/>
          </p:nvPr>
        </p:nvSpPr>
        <p:spPr>
          <a:xfrm>
            <a:off x="311700" y="1152475"/>
            <a:ext cx="8520600" cy="14193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b="1"/>
              <a:t>Homework 2 debugging</a:t>
            </a:r>
            <a:endParaRPr b="1"/>
          </a:p>
          <a:p>
            <a:pPr marL="0" lvl="0" indent="0" algn="l" rtl="0">
              <a:spcBef>
                <a:spcPts val="1200"/>
              </a:spcBef>
              <a:spcAft>
                <a:spcPts val="1200"/>
              </a:spcAft>
              <a:buNone/>
            </a:pPr>
            <a:r>
              <a:rPr lang="en"/>
              <a:t>Can anyone help me figure out why my Python code for Homework 2 doesn’t work? Here’s my code:</a:t>
            </a:r>
            <a:endParaRPr/>
          </a:p>
        </p:txBody>
      </p:sp>
      <p:pic>
        <p:nvPicPr>
          <p:cNvPr id="228" name="Google Shape;228;p27"/>
          <p:cNvPicPr preferRelativeResize="0"/>
          <p:nvPr/>
        </p:nvPicPr>
        <p:blipFill>
          <a:blip r:embed="rId3">
            <a:alphaModFix/>
          </a:blip>
          <a:stretch>
            <a:fillRect/>
          </a:stretch>
        </p:blipFill>
        <p:spPr>
          <a:xfrm>
            <a:off x="2814400" y="2020125"/>
            <a:ext cx="1757599" cy="988651"/>
          </a:xfrm>
          <a:prstGeom prst="rect">
            <a:avLst/>
          </a:prstGeom>
          <a:noFill/>
          <a:ln>
            <a:noFill/>
          </a:ln>
        </p:spPr>
      </p:pic>
      <p:sp>
        <p:nvSpPr>
          <p:cNvPr id="229" name="Google Shape;229;p27"/>
          <p:cNvSpPr txBox="1">
            <a:spLocks noGrp="1"/>
          </p:cNvSpPr>
          <p:nvPr>
            <p:ph type="body" idx="1"/>
          </p:nvPr>
        </p:nvSpPr>
        <p:spPr>
          <a:xfrm>
            <a:off x="311700" y="3159450"/>
            <a:ext cx="8520600" cy="18147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a:t>BETTER: </a:t>
            </a:r>
            <a:r>
              <a:rPr lang="en" b="1"/>
              <a:t>Allowing emails containing a single quote</a:t>
            </a:r>
            <a:endParaRPr b="1"/>
          </a:p>
          <a:p>
            <a:pPr marL="0" lvl="0" indent="0" algn="l" rtl="0">
              <a:spcBef>
                <a:spcPts val="1200"/>
              </a:spcBef>
              <a:spcAft>
                <a:spcPts val="1200"/>
              </a:spcAft>
              <a:buNone/>
            </a:pPr>
            <a:r>
              <a:rPr lang="en"/>
              <a:t>When processing emails, I’m having trouble allowing the single quote character (</a:t>
            </a:r>
            <a:r>
              <a:rPr lang="en">
                <a:highlight>
                  <a:schemeClr val="lt2"/>
                </a:highlight>
                <a:latin typeface="Courier New"/>
                <a:ea typeface="Courier New"/>
                <a:cs typeface="Courier New"/>
                <a:sym typeface="Courier New"/>
              </a:rPr>
              <a:t>‘</a:t>
            </a:r>
            <a:r>
              <a:rPr lang="en"/>
              <a:t>) because that’s the character that I use to start a string - I can’t enclose a single quote in a string like </a:t>
            </a:r>
            <a:r>
              <a:rPr lang="en">
                <a:highlight>
                  <a:schemeClr val="lt2"/>
                </a:highlight>
                <a:latin typeface="Courier New"/>
                <a:ea typeface="Courier New"/>
                <a:cs typeface="Courier New"/>
                <a:sym typeface="Courier New"/>
              </a:rPr>
              <a:t>‘‘‘</a:t>
            </a:r>
            <a:r>
              <a:rPr lang="en"/>
              <a:t>. Google doesn’t help because it doesn’t search for quotes themselves. </a:t>
            </a:r>
            <a:r>
              <a:rPr lang="en" b="1"/>
              <a:t>How do I express a single quote in Python?</a:t>
            </a:r>
            <a:endParaRPr b="1">
              <a:highlight>
                <a:schemeClr val="lt1"/>
              </a:highlight>
              <a:latin typeface="Courier New"/>
              <a:ea typeface="Courier New"/>
              <a:cs typeface="Courier New"/>
              <a:sym typeface="Courier New"/>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fade">
                                      <p:cBhvr>
                                        <p:cTn id="7" dur="1"/>
                                        <p:tgtEl>
                                          <p:spTgt spid="2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3</a:t>
            </a:r>
            <a:endParaRPr/>
          </a:p>
        </p:txBody>
      </p:sp>
      <p:sp>
        <p:nvSpPr>
          <p:cNvPr id="235" name="Google Shape;235;p28"/>
          <p:cNvSpPr txBox="1">
            <a:spLocks noGrp="1"/>
          </p:cNvSpPr>
          <p:nvPr>
            <p:ph type="body" idx="1"/>
          </p:nvPr>
        </p:nvSpPr>
        <p:spPr>
          <a:xfrm>
            <a:off x="311700" y="1152475"/>
            <a:ext cx="8520600" cy="1123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Can’t install Jupyter notebooks</a:t>
            </a:r>
            <a:endParaRPr b="1"/>
          </a:p>
          <a:p>
            <a:pPr marL="0" lvl="0" indent="0" algn="l" rtl="0">
              <a:spcBef>
                <a:spcPts val="1200"/>
              </a:spcBef>
              <a:spcAft>
                <a:spcPts val="1200"/>
              </a:spcAft>
              <a:buNone/>
            </a:pPr>
            <a:r>
              <a:rPr lang="en"/>
              <a:t>How do I install Jupyter notebooks?</a:t>
            </a:r>
            <a:endParaRPr/>
          </a:p>
        </p:txBody>
      </p:sp>
      <p:sp>
        <p:nvSpPr>
          <p:cNvPr id="236" name="Google Shape;236;p28"/>
          <p:cNvSpPr txBox="1">
            <a:spLocks noGrp="1"/>
          </p:cNvSpPr>
          <p:nvPr>
            <p:ph type="body" idx="1"/>
          </p:nvPr>
        </p:nvSpPr>
        <p:spPr>
          <a:xfrm>
            <a:off x="311700" y="2410425"/>
            <a:ext cx="8520600" cy="2507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BETTER: </a:t>
            </a:r>
            <a:r>
              <a:rPr lang="en" b="1"/>
              <a:t>Conda command not found when installing Jupyter notebooks</a:t>
            </a:r>
            <a:endParaRPr b="1"/>
          </a:p>
          <a:p>
            <a:pPr marL="0" lvl="0" indent="0" algn="l" rtl="0">
              <a:spcBef>
                <a:spcPts val="1200"/>
              </a:spcBef>
              <a:spcAft>
                <a:spcPts val="0"/>
              </a:spcAft>
              <a:buNone/>
            </a:pPr>
            <a:r>
              <a:rPr lang="en"/>
              <a:t>I’m following the instructions on </a:t>
            </a:r>
            <a:r>
              <a:rPr lang="en" u="sng">
                <a:solidFill>
                  <a:schemeClr val="hlink"/>
                </a:solidFill>
                <a:hlinkClick r:id="rId3"/>
              </a:rPr>
              <a:t>the course website</a:t>
            </a:r>
            <a:r>
              <a:rPr lang="en"/>
              <a:t> to install Jupyter notebooks on my Windows 11 computer. I successfully installed miniconda, but when I tried to run </a:t>
            </a:r>
            <a:r>
              <a:rPr lang="en">
                <a:highlight>
                  <a:schemeClr val="lt2"/>
                </a:highlight>
                <a:latin typeface="Courier New"/>
                <a:ea typeface="Courier New"/>
                <a:cs typeface="Courier New"/>
                <a:sym typeface="Courier New"/>
              </a:rPr>
              <a:t>conda install jupyter notebook</a:t>
            </a:r>
            <a:r>
              <a:rPr lang="en"/>
              <a:t> I got this error message:</a:t>
            </a:r>
            <a:endParaRPr/>
          </a:p>
          <a:p>
            <a:pPr marL="457200" lvl="0" indent="0" algn="l" rtl="0">
              <a:spcBef>
                <a:spcPts val="1200"/>
              </a:spcBef>
              <a:spcAft>
                <a:spcPts val="0"/>
              </a:spcAft>
              <a:buNone/>
            </a:pPr>
            <a:r>
              <a:rPr lang="en">
                <a:highlight>
                  <a:schemeClr val="lt2"/>
                </a:highlight>
                <a:latin typeface="Courier New"/>
                <a:ea typeface="Courier New"/>
                <a:cs typeface="Courier New"/>
                <a:sym typeface="Courier New"/>
              </a:rPr>
              <a:t>bash: conda: command not found</a:t>
            </a:r>
            <a:endParaRPr>
              <a:highlight>
                <a:schemeClr val="lt2"/>
              </a:highlight>
              <a:latin typeface="Courier New"/>
              <a:ea typeface="Courier New"/>
              <a:cs typeface="Courier New"/>
              <a:sym typeface="Courier New"/>
            </a:endParaRPr>
          </a:p>
          <a:p>
            <a:pPr marL="0" lvl="0" indent="0" algn="l" rtl="0">
              <a:spcBef>
                <a:spcPts val="1200"/>
              </a:spcBef>
              <a:spcAft>
                <a:spcPts val="1200"/>
              </a:spcAft>
              <a:buNone/>
            </a:pPr>
            <a:r>
              <a:rPr lang="en"/>
              <a:t>Why can’t bash find conda? I already tried reinstalling miniconda.</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6"/>
                                        </p:tgtEl>
                                        <p:attrNameLst>
                                          <p:attrName>style.visibility</p:attrName>
                                        </p:attrNameLst>
                                      </p:cBhvr>
                                      <p:to>
                                        <p:strVal val="visible"/>
                                      </p:to>
                                    </p:set>
                                    <p:animEffect transition="in" filter="fade">
                                      <p:cBhvr>
                                        <p:cTn id="7" dur="1"/>
                                        <p:tgtEl>
                                          <p:spTgt spid="2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18C71BCD-A1DD-05C5-27F6-5B8E02040EE0}"/>
            </a:ext>
          </a:extLst>
        </p:cNvPr>
        <p:cNvGrpSpPr/>
        <p:nvPr/>
      </p:nvGrpSpPr>
      <p:grpSpPr>
        <a:xfrm>
          <a:off x="0" y="0"/>
          <a:ext cx="0" cy="0"/>
          <a:chOff x="0" y="0"/>
          <a:chExt cx="0" cy="0"/>
        </a:xfrm>
      </p:grpSpPr>
      <p:sp>
        <p:nvSpPr>
          <p:cNvPr id="234" name="Google Shape;234;p28">
            <a:extLst>
              <a:ext uri="{FF2B5EF4-FFF2-40B4-BE49-F238E27FC236}">
                <a16:creationId xmlns:a16="http://schemas.microsoft.com/office/drawing/2014/main" id="{0669264E-97F7-E029-6801-210275E32A1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Challenge!</a:t>
            </a:r>
            <a:endParaRPr dirty="0"/>
          </a:p>
        </p:txBody>
      </p:sp>
      <p:sp>
        <p:nvSpPr>
          <p:cNvPr id="235" name="Google Shape;235;p28">
            <a:extLst>
              <a:ext uri="{FF2B5EF4-FFF2-40B4-BE49-F238E27FC236}">
                <a16:creationId xmlns:a16="http://schemas.microsoft.com/office/drawing/2014/main" id="{AA231C76-42C8-A356-724E-F3506ADA8B93}"/>
              </a:ext>
            </a:extLst>
          </p:cNvPr>
          <p:cNvSpPr txBox="1">
            <a:spLocks noGrp="1"/>
          </p:cNvSpPr>
          <p:nvPr>
            <p:ph type="body" idx="1"/>
          </p:nvPr>
        </p:nvSpPr>
        <p:spPr>
          <a:xfrm>
            <a:off x="311700" y="1152474"/>
            <a:ext cx="8520600" cy="3712134"/>
          </a:xfrm>
          <a:prstGeom prst="rect">
            <a:avLst/>
          </a:prstGeom>
        </p:spPr>
        <p:txBody>
          <a:bodyPr spcFirstLastPara="1" wrap="square" lIns="91425" tIns="91425" rIns="91425" bIns="91425" anchor="t" anchorCtr="0">
            <a:normAutofit/>
          </a:bodyPr>
          <a:lstStyle/>
          <a:p>
            <a:pPr marL="0" lvl="0" indent="0">
              <a:buNone/>
            </a:pPr>
            <a:r>
              <a:rPr lang="en-US" dirty="0"/>
              <a:t>Take a look at trending open source projects on GitHub:</a:t>
            </a:r>
            <a:br>
              <a:rPr lang="en-US" dirty="0"/>
            </a:br>
            <a:r>
              <a:rPr lang="en-US" b="1" dirty="0">
                <a:hlinkClick r:id="rId3"/>
              </a:rPr>
              <a:t>https://github.com/trending</a:t>
            </a:r>
            <a:endParaRPr lang="en-US" b="1" dirty="0"/>
          </a:p>
          <a:p>
            <a:pPr marL="0" lvl="0" indent="0">
              <a:buNone/>
            </a:pPr>
            <a:endParaRPr lang="en-US" b="1" dirty="0"/>
          </a:p>
          <a:p>
            <a:pPr marL="0" lvl="0" indent="0">
              <a:buNone/>
            </a:pPr>
            <a:r>
              <a:rPr lang="en-US" dirty="0"/>
              <a:t>Go to the issues tab at the top of the project page:</a:t>
            </a:r>
          </a:p>
          <a:p>
            <a:pPr marL="0" lvl="0" indent="0">
              <a:buNone/>
            </a:pPr>
            <a:endParaRPr lang="en-US" dirty="0"/>
          </a:p>
          <a:p>
            <a:pPr marL="0" lvl="0" indent="0">
              <a:buNone/>
            </a:pPr>
            <a:endParaRPr lang="en-US" b="1" dirty="0"/>
          </a:p>
          <a:p>
            <a:pPr marL="0" lvl="0" indent="0">
              <a:buNone/>
            </a:pPr>
            <a:endParaRPr lang="en-US" b="1" dirty="0"/>
          </a:p>
          <a:p>
            <a:pPr marL="0" lvl="0" indent="0">
              <a:buNone/>
            </a:pPr>
            <a:endParaRPr lang="en-US" b="1" dirty="0"/>
          </a:p>
          <a:p>
            <a:pPr marL="0" lvl="0" indent="0">
              <a:buNone/>
            </a:pPr>
            <a:endParaRPr lang="en-US" b="1" dirty="0"/>
          </a:p>
          <a:p>
            <a:pPr marL="0" lvl="0" indent="0">
              <a:buNone/>
            </a:pPr>
            <a:r>
              <a:rPr lang="en-US" dirty="0"/>
              <a:t>Find the </a:t>
            </a:r>
            <a:r>
              <a:rPr lang="en-US" b="1" dirty="0"/>
              <a:t>best question</a:t>
            </a:r>
            <a:r>
              <a:rPr lang="en-US" dirty="0"/>
              <a:t> and the </a:t>
            </a:r>
            <a:r>
              <a:rPr lang="en-US" b="1" dirty="0"/>
              <a:t>worst question</a:t>
            </a:r>
            <a:r>
              <a:rPr lang="en-US" dirty="0"/>
              <a:t> that you can. Post them in </a:t>
            </a:r>
            <a:r>
              <a:rPr lang="en-US" dirty="0" err="1"/>
              <a:t>EdStem</a:t>
            </a:r>
            <a:r>
              <a:rPr lang="en-US" dirty="0"/>
              <a:t> chat.</a:t>
            </a:r>
            <a:endParaRPr dirty="0"/>
          </a:p>
        </p:txBody>
      </p:sp>
      <p:pic>
        <p:nvPicPr>
          <p:cNvPr id="9" name="Picture 8">
            <a:extLst>
              <a:ext uri="{FF2B5EF4-FFF2-40B4-BE49-F238E27FC236}">
                <a16:creationId xmlns:a16="http://schemas.microsoft.com/office/drawing/2014/main" id="{6ED9A477-0EB4-F827-C6B1-F4038AF70B0D}"/>
              </a:ext>
            </a:extLst>
          </p:cNvPr>
          <p:cNvPicPr>
            <a:picLocks noChangeAspect="1"/>
          </p:cNvPicPr>
          <p:nvPr/>
        </p:nvPicPr>
        <p:blipFill>
          <a:blip r:embed="rId4"/>
          <a:stretch>
            <a:fillRect/>
          </a:stretch>
        </p:blipFill>
        <p:spPr>
          <a:xfrm>
            <a:off x="441602" y="2571750"/>
            <a:ext cx="4130398" cy="1158340"/>
          </a:xfrm>
          <a:prstGeom prst="rect">
            <a:avLst/>
          </a:prstGeom>
        </p:spPr>
      </p:pic>
    </p:spTree>
    <p:extLst>
      <p:ext uri="{BB962C8B-B14F-4D97-AF65-F5344CB8AC3E}">
        <p14:creationId xmlns:p14="http://schemas.microsoft.com/office/powerpoint/2010/main" val="14629592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More guidance on asking questions</a:t>
            </a:r>
            <a:endParaRPr/>
          </a:p>
        </p:txBody>
      </p:sp>
      <p:sp>
        <p:nvSpPr>
          <p:cNvPr id="242" name="Google Shape;242;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u="sng" dirty="0">
                <a:solidFill>
                  <a:schemeClr val="hlink"/>
                </a:solidFill>
                <a:hlinkClick r:id="rId3"/>
              </a:rPr>
              <a:t>How to ask programming questions (ProPublica)</a:t>
            </a:r>
            <a:endParaRPr dirty="0"/>
          </a:p>
          <a:p>
            <a:pPr marL="0" lvl="0" indent="0" algn="l" rtl="0">
              <a:spcBef>
                <a:spcPts val="1200"/>
              </a:spcBef>
              <a:spcAft>
                <a:spcPts val="0"/>
              </a:spcAft>
              <a:buNone/>
            </a:pPr>
            <a:r>
              <a:rPr lang="en" u="sng" dirty="0">
                <a:solidFill>
                  <a:schemeClr val="hlink"/>
                </a:solidFill>
                <a:hlinkClick r:id="rId4"/>
              </a:rPr>
              <a:t>How do I ask a good question? (Stack Overflow)</a:t>
            </a:r>
            <a:endParaRPr dirty="0"/>
          </a:p>
          <a:p>
            <a:pPr marL="0" lvl="0" indent="0" algn="l" rtl="0">
              <a:spcBef>
                <a:spcPts val="1200"/>
              </a:spcBef>
              <a:spcAft>
                <a:spcPts val="0"/>
              </a:spcAft>
              <a:buNone/>
            </a:pPr>
            <a:r>
              <a:rPr lang="en" u="sng" dirty="0">
                <a:solidFill>
                  <a:schemeClr val="hlink"/>
                </a:solidFill>
                <a:hlinkClick r:id="rId5"/>
              </a:rPr>
              <a:t>How to ask good questions (Julia Evans)</a:t>
            </a:r>
            <a:endParaRPr dirty="0"/>
          </a:p>
          <a:p>
            <a:pPr marL="0" lvl="0" indent="0" algn="l" rtl="0">
              <a:spcBef>
                <a:spcPts val="1200"/>
              </a:spcBef>
              <a:spcAft>
                <a:spcPts val="0"/>
              </a:spcAft>
              <a:buNone/>
            </a:pPr>
            <a:r>
              <a:rPr lang="en" u="sng" dirty="0">
                <a:solidFill>
                  <a:schemeClr val="hlink"/>
                </a:solidFill>
                <a:hlinkClick r:id="rId6"/>
              </a:rPr>
              <a:t>Rubber duck debugging (Wikipedia)</a:t>
            </a:r>
            <a:endParaRPr dirty="0"/>
          </a:p>
          <a:p>
            <a:pPr marL="0" lvl="0" indent="0" algn="l" rtl="0">
              <a:spcBef>
                <a:spcPts val="1200"/>
              </a:spcBef>
              <a:spcAft>
                <a:spcPts val="0"/>
              </a:spcAft>
              <a:buNone/>
            </a:pP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1937</Words>
  <Application>Microsoft Office PowerPoint</Application>
  <PresentationFormat>On-screen Show (16:9)</PresentationFormat>
  <Paragraphs>181</Paragraphs>
  <Slides>20</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Courier New</vt:lpstr>
      <vt:lpstr>Simple Light</vt:lpstr>
      <vt:lpstr>Askin’ Questions</vt:lpstr>
      <vt:lpstr>Asking questions</vt:lpstr>
      <vt:lpstr>Not asking questions:</vt:lpstr>
      <vt:lpstr>When to ask questions</vt:lpstr>
      <vt:lpstr>Who to ask questions</vt:lpstr>
      <vt:lpstr>Take advice from your wizards</vt:lpstr>
      <vt:lpstr>Asking a good question</vt:lpstr>
      <vt:lpstr>1. Research</vt:lpstr>
      <vt:lpstr>2. Give context</vt:lpstr>
      <vt:lpstr>3. Be specific</vt:lpstr>
      <vt:lpstr>4. Be clear</vt:lpstr>
      <vt:lpstr>5. Be concise</vt:lpstr>
      <vt:lpstr>6. Proofread</vt:lpstr>
      <vt:lpstr>7. Follow up with answers</vt:lpstr>
      <vt:lpstr>Whoops! I asked a bad question</vt:lpstr>
      <vt:lpstr>Example 1</vt:lpstr>
      <vt:lpstr>Example 2</vt:lpstr>
      <vt:lpstr>Example 3</vt:lpstr>
      <vt:lpstr>Challenge!</vt:lpstr>
      <vt:lpstr>More guidance on asking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Naomi Alterman</cp:lastModifiedBy>
  <cp:revision>4</cp:revision>
  <dcterms:modified xsi:type="dcterms:W3CDTF">2026-01-06T07:52:28Z</dcterms:modified>
</cp:coreProperties>
</file>