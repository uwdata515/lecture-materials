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78" r:id="rId3"/>
    <p:sldId id="279" r:id="rId4"/>
    <p:sldId id="28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1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c2482a7c5e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c2482a7c5e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c2482a7c5e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c2482a7c5e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1ea022e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21ea022e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c2482a7c5e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c2482a7c5e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c2482a7c5e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c2482a7c5e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c2482a7c5e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c2482a7c5e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e763c31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e763c31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c2482a7c5e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c2482a7c5e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1302a8efe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01302a8efe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1302a8e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01302a8e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01302a8efe_0_1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01302a8efe_0_1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01302a8efe_0_1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01302a8efe_0_1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1302a8efe_0_1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01302a8efe_0_1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1302a8efe_0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1302a8efe_0_1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1302a8efe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01302a8efe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1302a8efe_0_1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1302a8efe_0_1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b011bc8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b011bc8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c2482a7c5e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c2482a7c5e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1302a8ef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1302a8ef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01302a8efe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01302a8efe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1302a8ef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01302a8ef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01302a8ef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01302a8ef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sheksugam/Climate_Poli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ewton/BioReactor-Data-Logg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ngho/Car2kno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wdata515.github.io/project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ugbank.ca/" TargetMode="External"/><Relationship Id="rId7" Type="http://schemas.openxmlformats.org/officeDocument/2006/relationships/hyperlink" Target="http://data.worldbank.org/country/china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ata.worldbank.org/country/russian-federation" TargetMode="External"/><Relationship Id="rId5" Type="http://schemas.openxmlformats.org/officeDocument/2006/relationships/hyperlink" Target="http://data.worldbank.org/region/european-union" TargetMode="External"/><Relationship Id="rId4" Type="http://schemas.openxmlformats.org/officeDocument/2006/relationships/hyperlink" Target="https://factfinder.census.gov/faces/nav/jsf/pages/index.x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 sz="430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</a:t>
            </a:r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January 20,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Project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53053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Collaborative software engineering experience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Teams of 3 or (ideally) 4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Develop project using version control</a:t>
            </a:r>
            <a:endParaRPr sz="24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7B8810A-C260-3236-23A1-00A8149C5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567" y="1017724"/>
            <a:ext cx="4558732" cy="3422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loud 1">
            <a:extLst>
              <a:ext uri="{FF2B5EF4-FFF2-40B4-BE49-F238E27FC236}">
                <a16:creationId xmlns:a16="http://schemas.microsoft.com/office/drawing/2014/main" id="{5BD5C551-4888-D9C8-A03F-3E80C2A18131}"/>
              </a:ext>
            </a:extLst>
          </p:cNvPr>
          <p:cNvSpPr/>
          <p:nvPr/>
        </p:nvSpPr>
        <p:spPr>
          <a:xfrm>
            <a:off x="5627077" y="2338755"/>
            <a:ext cx="1951892" cy="79427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GitHub: A Must-Have Tool for Grads Entering the Job Market – Fleishman  Center for Career and Professional Development | Binghamton University,  State University of New York">
            <a:extLst>
              <a:ext uri="{FF2B5EF4-FFF2-40B4-BE49-F238E27FC236}">
                <a16:creationId xmlns:a16="http://schemas.microsoft.com/office/drawing/2014/main" id="{834C300E-FFAD-8D86-7068-2C6967A85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275" y="2298430"/>
            <a:ext cx="2322830" cy="86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Project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We’re not just going to build something, we’re </a:t>
            </a:r>
            <a:r>
              <a:rPr lang="en-US" dirty="0" err="1"/>
              <a:t>gonna</a:t>
            </a:r>
            <a:r>
              <a:rPr lang="en-US" dirty="0"/>
              <a:t> </a:t>
            </a:r>
            <a:r>
              <a:rPr lang="en-US" b="1" dirty="0"/>
              <a:t>build it RIGHT 😤!!</a:t>
            </a: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Design (use cases, component specification)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Documentation (how to, docstrings)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Style (PEP8, pylint)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Coding, testing &amp; milestones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Standup &amp; code reviews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Project Types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Answer “Research” Questions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Create a Tool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Teach Analysis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Present Data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Type 1: Answer “Research” Questions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 statement: Answer two to three questions of business or scientific relevance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Use a Jupyter notebook and supporting python files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Example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Climate Police</a:t>
            </a:r>
            <a:r>
              <a:rPr lang="en" dirty="0"/>
              <a:t>: Analyze effects of pollution on the planet.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Type 2: Create a Tool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 statement: Solve a problem common to many users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Don’t reinvent the wheel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Example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BioReactor Data Logging</a:t>
            </a:r>
            <a:r>
              <a:rPr lang="en" dirty="0"/>
              <a:t> – Monitor and publish data from BioReactor experiments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Type 3: Teach Analysis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statement: Create a system that teaches others the skills needed to do analysis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system that teaches about logistics for businesses in the sharing economy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Type 4: Present Data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statement: Create data repository with tools  (e.g., search, visualization, analytics) and a user-friendly interface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Car2Know</a:t>
            </a:r>
            <a:r>
              <a:rPr lang="en"/>
              <a:t>: Provide car rental data to users of Car2Go (e.g., for planning trips)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the Data</a:t>
            </a:r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At least two non-trivial data sets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Data need to be combined, joined, merged, etc. to answer the scientific questions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Have access to the data NOW!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grpSp>
        <p:nvGrpSpPr>
          <p:cNvPr id="114" name="Google Shape;114;p21"/>
          <p:cNvGrpSpPr/>
          <p:nvPr/>
        </p:nvGrpSpPr>
        <p:grpSpPr>
          <a:xfrm>
            <a:off x="618829" y="1575825"/>
            <a:ext cx="1418334" cy="2581520"/>
            <a:chOff x="618820" y="1574022"/>
            <a:chExt cx="1418334" cy="1747695"/>
          </a:xfrm>
        </p:grpSpPr>
        <p:cxnSp>
          <p:nvCxnSpPr>
            <p:cNvPr id="115" name="Google Shape;115;p21"/>
            <p:cNvCxnSpPr/>
            <p:nvPr/>
          </p:nvCxnSpPr>
          <p:spPr>
            <a:xfrm>
              <a:off x="1299277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6" name="Google Shape;116;p21"/>
            <p:cNvSpPr/>
            <p:nvPr/>
          </p:nvSpPr>
          <p:spPr>
            <a:xfrm flipH="1">
              <a:off x="618820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619055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" name="Google Shape;118;p21"/>
            <p:cNvGrpSpPr/>
            <p:nvPr/>
          </p:nvGrpSpPr>
          <p:grpSpPr>
            <a:xfrm>
              <a:off x="624893" y="1574022"/>
              <a:ext cx="1269299" cy="1747695"/>
              <a:chOff x="1219851" y="1574022"/>
              <a:chExt cx="1269299" cy="1747695"/>
            </a:xfrm>
          </p:grpSpPr>
          <p:sp>
            <p:nvSpPr>
              <p:cNvPr id="119" name="Google Shape;119;p21"/>
              <p:cNvSpPr txBox="1"/>
              <p:nvPr/>
            </p:nvSpPr>
            <p:spPr>
              <a:xfrm>
                <a:off x="1321850" y="2695017"/>
                <a:ext cx="1167300" cy="62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0C58D3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Project Proposals &amp; Team Selection</a:t>
                </a:r>
                <a:endParaRPr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0" name="Google Shape;120;p21"/>
              <p:cNvSpPr txBox="1"/>
              <p:nvPr/>
            </p:nvSpPr>
            <p:spPr>
              <a:xfrm>
                <a:off x="1219851" y="1574022"/>
                <a:ext cx="718500" cy="2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>
                    <a:solidFill>
                      <a:srgbClr val="0C58D3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5</a:t>
                </a:r>
                <a:endParaRPr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1" name="Google Shape;121;p21"/>
          <p:cNvGrpSpPr/>
          <p:nvPr/>
        </p:nvGrpSpPr>
        <p:grpSpPr>
          <a:xfrm>
            <a:off x="1796901" y="1575825"/>
            <a:ext cx="1574556" cy="2581520"/>
            <a:chOff x="1760535" y="1575827"/>
            <a:chExt cx="1574871" cy="1747695"/>
          </a:xfrm>
        </p:grpSpPr>
        <p:cxnSp>
          <p:nvCxnSpPr>
            <p:cNvPr id="122" name="Google Shape;122;p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3" name="Google Shape;123;p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24" name="Google Shape;124;p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1"/>
            <p:cNvSpPr txBox="1"/>
            <p:nvPr/>
          </p:nvSpPr>
          <p:spPr>
            <a:xfrm>
              <a:off x="2021562" y="2696822"/>
              <a:ext cx="11673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Idea validation 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21"/>
            <p:cNvSpPr txBox="1"/>
            <p:nvPr/>
          </p:nvSpPr>
          <p:spPr>
            <a:xfrm>
              <a:off x="1760535" y="1575827"/>
              <a:ext cx="877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Week 5-6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21"/>
          <p:cNvGrpSpPr/>
          <p:nvPr/>
        </p:nvGrpSpPr>
        <p:grpSpPr>
          <a:xfrm>
            <a:off x="3197799" y="1575825"/>
            <a:ext cx="1507952" cy="2581520"/>
            <a:chOff x="1827153" y="1575827"/>
            <a:chExt cx="1508254" cy="1747695"/>
          </a:xfrm>
        </p:grpSpPr>
        <p:cxnSp>
          <p:nvCxnSpPr>
            <p:cNvPr id="128" name="Google Shape;128;p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9" name="Google Shape;129;p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1"/>
            <p:cNvSpPr txBox="1"/>
            <p:nvPr/>
          </p:nvSpPr>
          <p:spPr>
            <a:xfrm>
              <a:off x="2021567" y="2696822"/>
              <a:ext cx="11673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Software &amp;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Use Case Design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(in class)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21"/>
            <p:cNvSpPr txBox="1"/>
            <p:nvPr/>
          </p:nvSpPr>
          <p:spPr>
            <a:xfrm>
              <a:off x="1827153" y="1575827"/>
              <a:ext cx="8109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Week 6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21"/>
          <p:cNvGrpSpPr/>
          <p:nvPr/>
        </p:nvGrpSpPr>
        <p:grpSpPr>
          <a:xfrm>
            <a:off x="4522850" y="1575825"/>
            <a:ext cx="1517195" cy="2581520"/>
            <a:chOff x="1817908" y="1575827"/>
            <a:chExt cx="1517499" cy="1747695"/>
          </a:xfrm>
        </p:grpSpPr>
        <p:cxnSp>
          <p:nvCxnSpPr>
            <p:cNvPr id="134" name="Google Shape;134;p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5" name="Google Shape;135;p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 txBox="1"/>
            <p:nvPr/>
          </p:nvSpPr>
          <p:spPr>
            <a:xfrm>
              <a:off x="2021548" y="2696822"/>
              <a:ext cx="11673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Technology Review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1817908" y="1575827"/>
              <a:ext cx="8202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Week 7-8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709674" y="1575825"/>
            <a:ext cx="1664666" cy="2581520"/>
            <a:chOff x="1670408" y="1575827"/>
            <a:chExt cx="1664999" cy="1747695"/>
          </a:xfrm>
        </p:grpSpPr>
        <p:cxnSp>
          <p:nvCxnSpPr>
            <p:cNvPr id="140" name="Google Shape;140;p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1" name="Google Shape;141;p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 txBox="1"/>
            <p:nvPr/>
          </p:nvSpPr>
          <p:spPr>
            <a:xfrm>
              <a:off x="2021554" y="2696822"/>
              <a:ext cx="11673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Ongoing project work &amp; consultations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1670408" y="1575827"/>
              <a:ext cx="9678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Week 7-10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7290583" y="1575825"/>
            <a:ext cx="1418051" cy="2581520"/>
            <a:chOff x="1917073" y="1575827"/>
            <a:chExt cx="1418334" cy="1747695"/>
          </a:xfrm>
        </p:grpSpPr>
        <p:cxnSp>
          <p:nvCxnSpPr>
            <p:cNvPr id="146" name="Google Shape;146;p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rgbClr val="0D5DD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47" name="Google Shape;147;p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name="adj" fmla="val 96952"/>
              </a:avLst>
            </a:prstGeom>
            <a:solidFill>
              <a:srgbClr val="0944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1"/>
            <p:cNvSpPr txBox="1"/>
            <p:nvPr/>
          </p:nvSpPr>
          <p:spPr>
            <a:xfrm>
              <a:off x="2021560" y="2696822"/>
              <a:ext cx="1167300" cy="62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Presentations</a:t>
              </a:r>
              <a:endParaRPr sz="1200" b="1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1919539" y="1575827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Finals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5: Project Proposals</a:t>
            </a: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Share what you’re passionate about and convince others to work with you: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 slide (PowerPoint, Keynote, or Google Slides) containing: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Title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Project type (research, reusable data, tool)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Short pitch - what will you do, why it is cool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Your 2+ data sources (could be tentative)</a:t>
            </a:r>
            <a:endParaRPr dirty="0"/>
          </a:p>
          <a:p>
            <a:pPr lvl="1" indent="-342900">
              <a:buSzPts val="1800"/>
              <a:buChar char="●"/>
            </a:pPr>
            <a:r>
              <a:rPr lang="en" dirty="0"/>
              <a:t>Your name</a:t>
            </a:r>
          </a:p>
          <a:p>
            <a:pPr lvl="1" indent="-342900">
              <a:buSzPts val="1800"/>
              <a:buChar char="●"/>
            </a:pPr>
            <a:r>
              <a:rPr lang="en-US" b="1" dirty="0"/>
              <a:t>Due by 12pm (noon) Tuesday 2/4 via Canvas (I need time to compile the deck!)</a:t>
            </a:r>
          </a:p>
          <a:p>
            <a:pPr marL="285750" indent="-285750">
              <a:spcBef>
                <a:spcPts val="1200"/>
              </a:spcBef>
            </a:pPr>
            <a:r>
              <a:rPr lang="en" dirty="0"/>
              <a:t>In-class presentation of your proposal (2 minutes)</a:t>
            </a:r>
          </a:p>
          <a:p>
            <a:pPr marL="742950" lvl="1" indent="-285750">
              <a:spcBef>
                <a:spcPts val="1200"/>
              </a:spcBef>
            </a:pPr>
            <a:r>
              <a:rPr lang="en" dirty="0"/>
              <a:t>Participation points! If you are unable to attend, please let me know.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5: Team Selection</a:t>
            </a: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project proposals: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 notes on what projects sound interesting to you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After project proposals: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You’ll have time in class to talk to each other and form teams around a project proposal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3-4 people per team - 1 person submits names via Canvas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you’d prefer, I’m happy to help find a group for you, particularly if your team has just 1-2 people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have to miss class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me know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will help you find a project team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5-6: Idea Validation</a:t>
            </a: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Agree as a team on what the project is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Clarity about the project type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Consensus on the problem being solved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Validate that the project is feasible and large enough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Is there an unmet need (i.e. no code already exists)?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Do you have data that can solve the problem?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Will this project take about 5-6 weeks of effort for 3-4 people to complete?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Create a git repository for your team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README.md with result of the idea validation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One person submits the repository link via Canvas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6-7: Software &amp; Use Case Design (in class)</a:t>
            </a:r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In-class exercise to design your project: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are the users? What do they know?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information do users want from the system?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 - how users interact with the system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After class: complete and submit the design in your GitHub repository by 2/15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7-8: Technology Reviews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Writeup addressing a choice of library; in-class presentation to instructors as part of the first project demo in week 8.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Stay tuned!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7-10: Project Work</a:t>
            </a:r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Weekly standups in class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Collaboration outside of class - code reviews &amp; pull requests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Deliver on the milestones you’ve defined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Functionality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Documentation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Style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Testing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Finals: Presentations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10 minute oral presentations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All group members should present a part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Background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Data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Use cases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Component design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Demo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Lessons learned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Slides + demo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Grading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course webpage*: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https://uwdata515.github.io/projects.html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Organization: 10%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Can you follow directions?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quality: 32%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Test coverage, style, CI, package setup, PRs/code reviews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Documentation: 24%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README, design documents, examples &amp; instructions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Design: 20%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What you built, test design, module design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Presentations: 14%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/>
              <a:t>Technology review, final presentation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i="1"/>
              <a:t>*exact percentages may change slightly but will remain approximately as described</a:t>
            </a:r>
            <a:endParaRPr sz="1400"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Public Data</a:t>
            </a: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http://drugbank.ca</a:t>
            </a:r>
            <a:endParaRPr dirty="0"/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https://www.nlm.nih.gov/toxnet/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https://data.seattle.gov/browse?tags=traffic&amp;sortBy=relevance&amp;pageSize=20 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https://divvybikes.com/system-data 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https://www.nyc.gov/site/tlc/about/tlc-trip-record-data.page 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https://www.kaggle.com/datasets 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u="sng" dirty="0">
                <a:solidFill>
                  <a:schemeClr val="hlink"/>
                </a:solidFill>
              </a:rPr>
              <a:t>https://www.seattle.gov/transportation/projects-and-programs/programs/new-mobility-program/scooter-bike-share-data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American Fact Finder Data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European union data (World bank)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Russian federation data (World bank)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7"/>
              </a:rPr>
              <a:t>China data (World bank)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Proposal Examples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4294967295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FF"/>
                </a:solidFill>
              </a:rPr>
              <a:t>Just to get your mind working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Weather Wizard for Farmers</a:t>
            </a: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4800"/>
          </a:xfrm>
          <a:prstGeom prst="rect">
            <a:avLst/>
          </a:prstGeom>
          <a:solidFill>
            <a:srgbClr val="FFFFFF">
              <a:alpha val="77380"/>
            </a:srgb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Project output: reusable data (a simple web app)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Give it your location (zip code?)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 a machine learning model to predict future temperature and precipitation for your zip code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will predict your last frost and whether it will be a warmer/cooler or wetter/dryer year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will predict which crops you (the farmer) should plant to make the most money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NOAA data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Historical weather (temperature/precipitation) by location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El Niño/Southern Oscillation history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Atlantic/Pacific Multidecadal Oscillation history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Solar Cycle history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USDA data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State agricultural output data by crop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1101" y="3040901"/>
            <a:ext cx="1826150" cy="18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7269350" y="4657075"/>
            <a:ext cx="171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Melissa Winstanley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Tide Me Over!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Project output: research &amp; a tool (to make map visualizations)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Research how tides affect water changes in Puget Sound via mooring buoy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Depth, oxygen, chlorophyll, and salinity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Build map visualizations with a time slider to show the changes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Include a search feature to narrow in on a particular location</a:t>
            </a:r>
            <a:endParaRPr sz="17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Data</a:t>
            </a:r>
            <a:endParaRPr sz="21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NOAA historical tide data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King County mooring buoy data 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700" y="2802200"/>
            <a:ext cx="3508750" cy="22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4">
            <a:alphaModFix/>
          </a:blip>
          <a:srcRect l="18367" t="18590" b="17478"/>
          <a:stretch/>
        </p:blipFill>
        <p:spPr>
          <a:xfrm>
            <a:off x="1339700" y="3817075"/>
            <a:ext cx="2365813" cy="1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 txBox="1"/>
          <p:nvPr/>
        </p:nvSpPr>
        <p:spPr>
          <a:xfrm>
            <a:off x="7258725" y="4616900"/>
            <a:ext cx="171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Melissa Winstanley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Fantastical Basketball*</a:t>
            </a:r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4482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21"/>
              <a:t>Project output: reusable data (a simple web app)</a:t>
            </a:r>
            <a:endParaRPr sz="7321"/>
          </a:p>
          <a:p>
            <a:pPr marL="914400" lvl="1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921"/>
              <a:t>Give today’s best fantasy lineup for the NBA</a:t>
            </a:r>
            <a:endParaRPr sz="6921"/>
          </a:p>
          <a:p>
            <a:pPr marL="1371600" lvl="2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6921"/>
              <a:t>Daily/weekly/whole season</a:t>
            </a:r>
            <a:endParaRPr sz="6921"/>
          </a:p>
          <a:p>
            <a:pPr marL="1371600" lvl="2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6921"/>
              <a:t>Option to select best=points or best=money</a:t>
            </a:r>
            <a:endParaRPr sz="6921"/>
          </a:p>
          <a:p>
            <a:pPr marL="914400" lvl="1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921"/>
              <a:t>Show how the tool has performed for the previous week’s worth of games, relative to existing fantasy players</a:t>
            </a:r>
            <a:endParaRPr sz="6921"/>
          </a:p>
          <a:p>
            <a:pPr marL="457200" lvl="0" indent="-34482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21"/>
              <a:t>Data</a:t>
            </a:r>
            <a:endParaRPr sz="7321"/>
          </a:p>
          <a:p>
            <a:pPr marL="914400" lvl="1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921"/>
              <a:t>NBA historical data from basketball-reference.com (or NBA site)</a:t>
            </a:r>
            <a:endParaRPr sz="6921"/>
          </a:p>
          <a:p>
            <a:pPr marL="914400" lvl="1" indent="-338473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6921"/>
              <a:t>Day-by-day projection data from fantasydata.com (or other fantasy site)</a:t>
            </a:r>
            <a:endParaRPr sz="692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6434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891" i="1"/>
              <a:t>* This is a VERY HARD PROBLEM. The output of the project is not a predictor that does better than existing players, but one that at least is not terrible.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825" y="308350"/>
            <a:ext cx="1953725" cy="195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7279975" y="4625150"/>
            <a:ext cx="171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Melissa Winstanley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1290</Words>
  <Application>Microsoft Office PowerPoint</Application>
  <PresentationFormat>On-screen Show (16:9)</PresentationFormat>
  <Paragraphs>187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Roboto</vt:lpstr>
      <vt:lpstr>Arial</vt:lpstr>
      <vt:lpstr>Simple Light</vt:lpstr>
      <vt:lpstr>Software Design for Data Science</vt:lpstr>
      <vt:lpstr>Course Project</vt:lpstr>
      <vt:lpstr>Course Project</vt:lpstr>
      <vt:lpstr>Course Project Types</vt:lpstr>
      <vt:lpstr>Project Type 1: Answer “Research” Questions</vt:lpstr>
      <vt:lpstr>Project Type 2: Create a Tool</vt:lpstr>
      <vt:lpstr>Project Type 3: Teach Analysis</vt:lpstr>
      <vt:lpstr>Project Type 4: Present Data</vt:lpstr>
      <vt:lpstr>More on the Data</vt:lpstr>
      <vt:lpstr>Project Timeline</vt:lpstr>
      <vt:lpstr>Week 5: Project Proposals</vt:lpstr>
      <vt:lpstr>Week 5: Team Selection</vt:lpstr>
      <vt:lpstr>Week 5-6: Idea Validation</vt:lpstr>
      <vt:lpstr>Week 6-7: Software &amp; Use Case Design (in class)</vt:lpstr>
      <vt:lpstr>Week 7-8: Technology Reviews</vt:lpstr>
      <vt:lpstr>Week 7-10: Project Work</vt:lpstr>
      <vt:lpstr>Finals: Presentations</vt:lpstr>
      <vt:lpstr>Grading</vt:lpstr>
      <vt:lpstr>Some Public Data</vt:lpstr>
      <vt:lpstr>Project Proposal Examples</vt:lpstr>
      <vt:lpstr>Weather Wizard for Farmers</vt:lpstr>
      <vt:lpstr>Tide Me Over!</vt:lpstr>
      <vt:lpstr>Fantastical Basketball*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2</cp:revision>
  <dcterms:modified xsi:type="dcterms:W3CDTF">2026-01-20T03:26:24Z</dcterms:modified>
</cp:coreProperties>
</file>