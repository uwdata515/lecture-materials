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5" d="100"/>
          <a:sy n="115" d="100"/>
        </p:scale>
        <p:origin x="442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d7a15e57c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d7a15e57c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1d7a15e57c7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1d7a15e57c7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1d7a15e57c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1d7a15e57c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d7a15e57c7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d7a15e57c7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1d7a15e57c7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1d7a15e57c7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1d7a15e57c7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1d7a15e57c7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1d7a15e57c7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1d7a15e57c7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1d7a15e57c7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1d7a15e57c7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d7a15e57c7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d7a15e57c7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1d7a15e57c7_0_1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1d7a15e57c7_0_1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1d7a15e57c7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1d7a15e57c7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1d7a15e57c7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1d7a15e57c7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1d7a15e57c7_0_1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1d7a15e57c7_0_1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1d7a15e57c7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4" name="Google Shape;194;g1d7a15e57c7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Software Design for Data Science</a:t>
            </a:r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 Specification</a:t>
            </a:r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-US" dirty="0"/>
              <a:t>Naomi Alterman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 dirty="0"/>
              <a:t>University of Washington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55000"/>
              <a:buFont typeface="Arial"/>
              <a:buNone/>
            </a:pPr>
            <a:r>
              <a:rPr lang="en"/>
              <a:t>January 20, 2026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Interfaces</a:t>
            </a:r>
            <a:endParaRPr/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someone needs to know to use a function: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does it do?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How do I call it?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do I get it response?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can go wrong?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Interfaces</a:t>
            </a:r>
            <a:endParaRPr/>
          </a:p>
        </p:txBody>
      </p:sp>
      <p:sp>
        <p:nvSpPr>
          <p:cNvPr id="76" name="Google Shape;76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someone needs to know to use a function: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Name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Arguments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Return values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Side effects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Edge cases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Exceptions (next week!)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Examples (optional)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name</a:t>
            </a:r>
            <a:endParaRPr/>
          </a:p>
        </p:txBody>
      </p:sp>
      <p:sp>
        <p:nvSpPr>
          <p:cNvPr id="82" name="Google Shape;82;p1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Duh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 someone can use the function</a:t>
            </a:r>
            <a:endParaRPr dirty="0"/>
          </a:p>
        </p:txBody>
      </p:sp>
      <p:pic>
        <p:nvPicPr>
          <p:cNvPr id="83" name="Google Shape;8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3075" y="1918200"/>
            <a:ext cx="7057844" cy="3076496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6"/>
          <p:cNvSpPr/>
          <p:nvPr/>
        </p:nvSpPr>
        <p:spPr>
          <a:xfrm>
            <a:off x="1089545" y="1993796"/>
            <a:ext cx="574800" cy="2418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Arguments</a:t>
            </a:r>
            <a:endParaRPr/>
          </a:p>
        </p:txBody>
      </p:sp>
      <p:pic>
        <p:nvPicPr>
          <p:cNvPr id="90" name="Google Shape;9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637" y="1098225"/>
            <a:ext cx="8794729" cy="37928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7"/>
          <p:cNvSpPr/>
          <p:nvPr/>
        </p:nvSpPr>
        <p:spPr>
          <a:xfrm>
            <a:off x="852350" y="1173775"/>
            <a:ext cx="5552700" cy="325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2" name="Google Shape;92;p17"/>
          <p:cNvGrpSpPr/>
          <p:nvPr/>
        </p:nvGrpSpPr>
        <p:grpSpPr>
          <a:xfrm>
            <a:off x="553300" y="2369275"/>
            <a:ext cx="8116200" cy="1682950"/>
            <a:chOff x="553300" y="2369275"/>
            <a:chExt cx="8116200" cy="1682950"/>
          </a:xfrm>
        </p:grpSpPr>
        <p:sp>
          <p:nvSpPr>
            <p:cNvPr id="93" name="Google Shape;93;p17"/>
            <p:cNvSpPr/>
            <p:nvPr/>
          </p:nvSpPr>
          <p:spPr>
            <a:xfrm>
              <a:off x="3840700" y="2369275"/>
              <a:ext cx="4828800" cy="2496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17"/>
            <p:cNvSpPr/>
            <p:nvPr/>
          </p:nvSpPr>
          <p:spPr>
            <a:xfrm>
              <a:off x="553300" y="3006900"/>
              <a:ext cx="5787000" cy="2496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17"/>
            <p:cNvSpPr txBox="1"/>
            <p:nvPr/>
          </p:nvSpPr>
          <p:spPr>
            <a:xfrm>
              <a:off x="7181500" y="3375125"/>
              <a:ext cx="1488000" cy="677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Preconditions (assumptions)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96" name="Google Shape;96;p17"/>
            <p:cNvCxnSpPr>
              <a:stCxn id="95" idx="0"/>
              <a:endCxn id="93" idx="2"/>
            </p:cNvCxnSpPr>
            <p:nvPr/>
          </p:nvCxnSpPr>
          <p:spPr>
            <a:xfrm rot="10800000">
              <a:off x="6255100" y="2618825"/>
              <a:ext cx="1670400" cy="7563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97" name="Google Shape;97;p17"/>
            <p:cNvCxnSpPr>
              <a:stCxn id="95" idx="1"/>
              <a:endCxn id="94" idx="3"/>
            </p:cNvCxnSpPr>
            <p:nvPr/>
          </p:nvCxnSpPr>
          <p:spPr>
            <a:xfrm rot="10800000">
              <a:off x="6340300" y="3131675"/>
              <a:ext cx="841200" cy="5820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98" name="Google Shape;98;p17"/>
          <p:cNvGrpSpPr/>
          <p:nvPr/>
        </p:nvGrpSpPr>
        <p:grpSpPr>
          <a:xfrm>
            <a:off x="1585025" y="515825"/>
            <a:ext cx="2255675" cy="702575"/>
            <a:chOff x="1585025" y="515825"/>
            <a:chExt cx="2255675" cy="702575"/>
          </a:xfrm>
        </p:grpSpPr>
        <p:sp>
          <p:nvSpPr>
            <p:cNvPr id="99" name="Google Shape;99;p17"/>
            <p:cNvSpPr txBox="1"/>
            <p:nvPr/>
          </p:nvSpPr>
          <p:spPr>
            <a:xfrm>
              <a:off x="2352700" y="515825"/>
              <a:ext cx="14880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Positional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00" name="Google Shape;100;p17"/>
            <p:cNvCxnSpPr/>
            <p:nvPr/>
          </p:nvCxnSpPr>
          <p:spPr>
            <a:xfrm flipH="1">
              <a:off x="1585025" y="884200"/>
              <a:ext cx="1002900" cy="3342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01" name="Google Shape;101;p17"/>
          <p:cNvGrpSpPr/>
          <p:nvPr/>
        </p:nvGrpSpPr>
        <p:grpSpPr>
          <a:xfrm>
            <a:off x="2491025" y="515825"/>
            <a:ext cx="3431700" cy="713400"/>
            <a:chOff x="2491025" y="515825"/>
            <a:chExt cx="3431700" cy="713400"/>
          </a:xfrm>
        </p:grpSpPr>
        <p:sp>
          <p:nvSpPr>
            <p:cNvPr id="102" name="Google Shape;102;p17"/>
            <p:cNvSpPr txBox="1"/>
            <p:nvPr/>
          </p:nvSpPr>
          <p:spPr>
            <a:xfrm>
              <a:off x="4434725" y="515825"/>
              <a:ext cx="14880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Keyword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03" name="Google Shape;103;p17"/>
            <p:cNvCxnSpPr>
              <a:stCxn id="102" idx="2"/>
            </p:cNvCxnSpPr>
            <p:nvPr/>
          </p:nvCxnSpPr>
          <p:spPr>
            <a:xfrm flipH="1">
              <a:off x="4776725" y="946925"/>
              <a:ext cx="402000" cy="260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" name="Google Shape;104;p17"/>
            <p:cNvCxnSpPr>
              <a:stCxn id="102" idx="2"/>
            </p:cNvCxnSpPr>
            <p:nvPr/>
          </p:nvCxnSpPr>
          <p:spPr>
            <a:xfrm>
              <a:off x="5178725" y="946925"/>
              <a:ext cx="169800" cy="2607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5" name="Google Shape;105;p17"/>
            <p:cNvCxnSpPr>
              <a:stCxn id="102" idx="2"/>
              <a:endCxn id="91" idx="0"/>
            </p:cNvCxnSpPr>
            <p:nvPr/>
          </p:nvCxnSpPr>
          <p:spPr>
            <a:xfrm flipH="1">
              <a:off x="3628625" y="946925"/>
              <a:ext cx="1550100" cy="2268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6" name="Google Shape;106;p17"/>
            <p:cNvCxnSpPr>
              <a:stCxn id="102" idx="2"/>
            </p:cNvCxnSpPr>
            <p:nvPr/>
          </p:nvCxnSpPr>
          <p:spPr>
            <a:xfrm flipH="1">
              <a:off x="2491025" y="946925"/>
              <a:ext cx="2687700" cy="2823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07" name="Google Shape;107;p17"/>
          <p:cNvGrpSpPr/>
          <p:nvPr/>
        </p:nvGrpSpPr>
        <p:grpSpPr>
          <a:xfrm>
            <a:off x="6189600" y="515825"/>
            <a:ext cx="2257800" cy="756600"/>
            <a:chOff x="6189600" y="515825"/>
            <a:chExt cx="2257800" cy="756600"/>
          </a:xfrm>
        </p:grpSpPr>
        <p:sp>
          <p:nvSpPr>
            <p:cNvPr id="108" name="Google Shape;108;p17"/>
            <p:cNvSpPr txBox="1"/>
            <p:nvPr/>
          </p:nvSpPr>
          <p:spPr>
            <a:xfrm>
              <a:off x="6959400" y="515825"/>
              <a:ext cx="14880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Default values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09" name="Google Shape;109;p17"/>
            <p:cNvCxnSpPr>
              <a:stCxn id="108" idx="2"/>
            </p:cNvCxnSpPr>
            <p:nvPr/>
          </p:nvCxnSpPr>
          <p:spPr>
            <a:xfrm flipH="1">
              <a:off x="6189600" y="946925"/>
              <a:ext cx="1513800" cy="3255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grpSp>
        <p:nvGrpSpPr>
          <p:cNvPr id="110" name="Google Shape;110;p17"/>
          <p:cNvGrpSpPr/>
          <p:nvPr/>
        </p:nvGrpSpPr>
        <p:grpSpPr>
          <a:xfrm>
            <a:off x="553300" y="1434000"/>
            <a:ext cx="8279000" cy="916863"/>
            <a:chOff x="553300" y="1434000"/>
            <a:chExt cx="8279000" cy="916863"/>
          </a:xfrm>
        </p:grpSpPr>
        <p:sp>
          <p:nvSpPr>
            <p:cNvPr id="111" name="Google Shape;111;p17"/>
            <p:cNvSpPr/>
            <p:nvPr/>
          </p:nvSpPr>
          <p:spPr>
            <a:xfrm>
              <a:off x="553300" y="1434000"/>
              <a:ext cx="6326400" cy="3252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7"/>
            <p:cNvSpPr txBox="1"/>
            <p:nvPr/>
          </p:nvSpPr>
          <p:spPr>
            <a:xfrm>
              <a:off x="5634900" y="1673763"/>
              <a:ext cx="3197400" cy="677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What it does with the arguments (what do they mean?)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13" name="Google Shape;113;p17"/>
            <p:cNvCxnSpPr>
              <a:stCxn id="112" idx="1"/>
            </p:cNvCxnSpPr>
            <p:nvPr/>
          </p:nvCxnSpPr>
          <p:spPr>
            <a:xfrm rot="10800000">
              <a:off x="5358900" y="1779213"/>
              <a:ext cx="276000" cy="2331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Return values</a:t>
            </a:r>
            <a:endParaRPr/>
          </a:p>
        </p:txBody>
      </p:sp>
      <p:sp>
        <p:nvSpPr>
          <p:cNvPr id="119" name="Google Shape;119;p18"/>
          <p:cNvSpPr txBox="1"/>
          <p:nvPr/>
        </p:nvSpPr>
        <p:spPr>
          <a:xfrm>
            <a:off x="873425" y="2016425"/>
            <a:ext cx="1326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388625"/>
            <a:ext cx="8839199" cy="97109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1" name="Google Shape;121;p18"/>
          <p:cNvGrpSpPr/>
          <p:nvPr/>
        </p:nvGrpSpPr>
        <p:grpSpPr>
          <a:xfrm>
            <a:off x="1143450" y="1770800"/>
            <a:ext cx="2425775" cy="1271051"/>
            <a:chOff x="1143450" y="1770800"/>
            <a:chExt cx="2425775" cy="1271051"/>
          </a:xfrm>
        </p:grpSpPr>
        <p:grpSp>
          <p:nvGrpSpPr>
            <p:cNvPr id="122" name="Google Shape;122;p18"/>
            <p:cNvGrpSpPr/>
            <p:nvPr/>
          </p:nvGrpSpPr>
          <p:grpSpPr>
            <a:xfrm>
              <a:off x="1682075" y="1770800"/>
              <a:ext cx="1887150" cy="968050"/>
              <a:chOff x="1682075" y="1770800"/>
              <a:chExt cx="1887150" cy="968050"/>
            </a:xfrm>
          </p:grpSpPr>
          <p:sp>
            <p:nvSpPr>
              <p:cNvPr id="123" name="Google Shape;123;p18"/>
              <p:cNvSpPr txBox="1"/>
              <p:nvPr/>
            </p:nvSpPr>
            <p:spPr>
              <a:xfrm>
                <a:off x="1936325" y="1770800"/>
                <a:ext cx="1632900" cy="677100"/>
              </a:xfrm>
              <a:prstGeom prst="rect">
                <a:avLst/>
              </a:prstGeom>
              <a:solidFill>
                <a:srgbClr val="FFFFFF">
                  <a:alpha val="54170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600">
                    <a:solidFill>
                      <a:srgbClr val="FF0000"/>
                    </a:solidFill>
                  </a:rPr>
                  <a:t>The type (boolean here)</a:t>
                </a:r>
                <a:endParaRPr sz="1600">
                  <a:solidFill>
                    <a:srgbClr val="FF0000"/>
                  </a:solidFill>
                </a:endParaRPr>
              </a:p>
            </p:txBody>
          </p:sp>
          <p:cxnSp>
            <p:nvCxnSpPr>
              <p:cNvPr id="124" name="Google Shape;124;p18"/>
              <p:cNvCxnSpPr/>
              <p:nvPr/>
            </p:nvCxnSpPr>
            <p:spPr>
              <a:xfrm flipH="1">
                <a:off x="1682075" y="2404650"/>
                <a:ext cx="1002900" cy="3342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FF0000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sp>
          <p:nvSpPr>
            <p:cNvPr id="125" name="Google Shape;125;p18"/>
            <p:cNvSpPr/>
            <p:nvPr/>
          </p:nvSpPr>
          <p:spPr>
            <a:xfrm>
              <a:off x="1143450" y="2738851"/>
              <a:ext cx="592500" cy="3030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6" name="Google Shape;126;p18"/>
          <p:cNvGrpSpPr/>
          <p:nvPr/>
        </p:nvGrpSpPr>
        <p:grpSpPr>
          <a:xfrm>
            <a:off x="1813504" y="1585325"/>
            <a:ext cx="7071600" cy="1456525"/>
            <a:chOff x="1813504" y="1585325"/>
            <a:chExt cx="7071600" cy="1456525"/>
          </a:xfrm>
        </p:grpSpPr>
        <p:sp>
          <p:nvSpPr>
            <p:cNvPr id="127" name="Google Shape;127;p18"/>
            <p:cNvSpPr txBox="1"/>
            <p:nvPr/>
          </p:nvSpPr>
          <p:spPr>
            <a:xfrm>
              <a:off x="4532850" y="1585325"/>
              <a:ext cx="1632900" cy="431100"/>
            </a:xfrm>
            <a:prstGeom prst="rect">
              <a:avLst/>
            </a:prstGeom>
            <a:solidFill>
              <a:srgbClr val="FFFFFF">
                <a:alpha val="541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rgbClr val="FF0000"/>
                  </a:solidFill>
                </a:rPr>
                <a:t>What it means</a:t>
              </a:r>
              <a:endParaRPr sz="1600">
                <a:solidFill>
                  <a:srgbClr val="FF0000"/>
                </a:solidFill>
              </a:endParaRPr>
            </a:p>
          </p:txBody>
        </p:sp>
        <p:cxnSp>
          <p:nvCxnSpPr>
            <p:cNvPr id="128" name="Google Shape;128;p18"/>
            <p:cNvCxnSpPr>
              <a:stCxn id="127" idx="2"/>
              <a:endCxn id="129" idx="0"/>
            </p:cNvCxnSpPr>
            <p:nvPr/>
          </p:nvCxnSpPr>
          <p:spPr>
            <a:xfrm>
              <a:off x="5349300" y="2016425"/>
              <a:ext cx="0" cy="753000"/>
            </a:xfrm>
            <a:prstGeom prst="straightConnector1">
              <a:avLst/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129" name="Google Shape;129;p18"/>
            <p:cNvSpPr/>
            <p:nvPr/>
          </p:nvSpPr>
          <p:spPr>
            <a:xfrm>
              <a:off x="1813504" y="2769450"/>
              <a:ext cx="7071600" cy="2724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Side effects</a:t>
            </a:r>
            <a:endParaRPr/>
          </a:p>
        </p:txBody>
      </p:sp>
      <p:sp>
        <p:nvSpPr>
          <p:cNvPr id="135" name="Google Shape;135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Printing something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Changing a mutable argument (lists, dictionaries, sets, etc)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Changing a global variable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File operations (creating/deleting/moving/etc)</a:t>
            </a:r>
            <a:endParaRPr sz="220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22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200"/>
              <a:t>Be specific!</a:t>
            </a:r>
            <a:endParaRPr sz="22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Side effect example: print()</a:t>
            </a:r>
            <a:endParaRPr/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225" y="1017725"/>
            <a:ext cx="8721558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0"/>
          <p:cNvSpPr/>
          <p:nvPr/>
        </p:nvSpPr>
        <p:spPr>
          <a:xfrm>
            <a:off x="484525" y="1388375"/>
            <a:ext cx="6392100" cy="298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331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Side effect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list.sort()</a:t>
            </a:r>
            <a:endParaRPr/>
          </a:p>
        </p:txBody>
      </p:sp>
      <p:pic>
        <p:nvPicPr>
          <p:cNvPr id="148" name="Google Shape;14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2827" y="238652"/>
            <a:ext cx="6182751" cy="47837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/>
          <p:nvPr/>
        </p:nvSpPr>
        <p:spPr>
          <a:xfrm rot="10800000" flipH="1">
            <a:off x="3242650" y="708025"/>
            <a:ext cx="2226900" cy="1911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21"/>
          <p:cNvSpPr/>
          <p:nvPr/>
        </p:nvSpPr>
        <p:spPr>
          <a:xfrm>
            <a:off x="3242650" y="3480575"/>
            <a:ext cx="5311200" cy="5727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Edge cases</a:t>
            </a:r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Things to watch out for</a:t>
            </a:r>
            <a:endParaRPr/>
          </a:p>
        </p:txBody>
      </p:sp>
      <p:pic>
        <p:nvPicPr>
          <p:cNvPr id="157" name="Google Shape;15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388625"/>
            <a:ext cx="8839199" cy="971098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2"/>
          <p:cNvSpPr/>
          <p:nvPr/>
        </p:nvSpPr>
        <p:spPr>
          <a:xfrm>
            <a:off x="6523725" y="2754675"/>
            <a:ext cx="2396700" cy="3294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2"/>
          <p:cNvSpPr/>
          <p:nvPr/>
        </p:nvSpPr>
        <p:spPr>
          <a:xfrm>
            <a:off x="508250" y="3030025"/>
            <a:ext cx="925800" cy="2820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Edge case example: print()</a:t>
            </a:r>
            <a:endParaRPr/>
          </a:p>
        </p:txBody>
      </p:sp>
      <p:pic>
        <p:nvPicPr>
          <p:cNvPr id="165" name="Google Shape;16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1225" y="1017725"/>
            <a:ext cx="8721558" cy="3820974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3"/>
          <p:cNvSpPr/>
          <p:nvPr/>
        </p:nvSpPr>
        <p:spPr>
          <a:xfrm>
            <a:off x="3849550" y="2509800"/>
            <a:ext cx="4310400" cy="298200"/>
          </a:xfrm>
          <a:prstGeom prst="roundRect">
            <a:avLst>
              <a:gd name="adj" fmla="val 16667"/>
            </a:avLst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Exceptions</a:t>
            </a:r>
            <a:endParaRPr/>
          </a:p>
        </p:txBody>
      </p:sp>
      <p:sp>
        <p:nvSpPr>
          <p:cNvPr id="172" name="Google Shape;172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preconditions aren’t satisfied (arguments are bad)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something goes wrong, what happens?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		… in a few weeks</a:t>
            </a:r>
            <a:endParaRPr/>
          </a:p>
        </p:txBody>
      </p:sp>
      <p:grpSp>
        <p:nvGrpSpPr>
          <p:cNvPr id="173" name="Google Shape;173;p24"/>
          <p:cNvGrpSpPr/>
          <p:nvPr/>
        </p:nvGrpSpPr>
        <p:grpSpPr>
          <a:xfrm>
            <a:off x="210950" y="2401903"/>
            <a:ext cx="8722101" cy="2215296"/>
            <a:chOff x="210950" y="1528478"/>
            <a:chExt cx="8722101" cy="2215296"/>
          </a:xfrm>
        </p:grpSpPr>
        <p:pic>
          <p:nvPicPr>
            <p:cNvPr id="174" name="Google Shape;174;p2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10950" y="1528478"/>
              <a:ext cx="8722101" cy="221529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5" name="Google Shape;175;p24"/>
            <p:cNvSpPr/>
            <p:nvPr/>
          </p:nvSpPr>
          <p:spPr>
            <a:xfrm>
              <a:off x="808725" y="2193950"/>
              <a:ext cx="7971600" cy="7929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7300100" y="2193950"/>
              <a:ext cx="1067400" cy="2430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Help people understand how to use the function</a:t>
            </a:r>
            <a:endParaRPr/>
          </a:p>
        </p:txBody>
      </p:sp>
      <p:sp>
        <p:nvSpPr>
          <p:cNvPr id="182" name="Google Shape;182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Examples</a:t>
            </a:r>
            <a:endParaRPr/>
          </a:p>
        </p:txBody>
      </p:sp>
      <p:grpSp>
        <p:nvGrpSpPr>
          <p:cNvPr id="183" name="Google Shape;183;p25"/>
          <p:cNvGrpSpPr/>
          <p:nvPr/>
        </p:nvGrpSpPr>
        <p:grpSpPr>
          <a:xfrm>
            <a:off x="152400" y="1916250"/>
            <a:ext cx="8839201" cy="2061401"/>
            <a:chOff x="152400" y="1541050"/>
            <a:chExt cx="8839201" cy="2061401"/>
          </a:xfrm>
        </p:grpSpPr>
        <p:pic>
          <p:nvPicPr>
            <p:cNvPr id="184" name="Google Shape;184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152400" y="1541050"/>
              <a:ext cx="8839201" cy="20614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5" name="Google Shape;185;p25"/>
            <p:cNvSpPr/>
            <p:nvPr/>
          </p:nvSpPr>
          <p:spPr>
            <a:xfrm>
              <a:off x="417075" y="2844350"/>
              <a:ext cx="8520600" cy="714900"/>
            </a:xfrm>
            <a:prstGeom prst="roundRect">
              <a:avLst>
                <a:gd name="adj" fmla="val 16667"/>
              </a:avLst>
            </a:prstGeom>
            <a:noFill/>
            <a:ln w="28575" cap="flat" cmpd="sng">
              <a:solidFill>
                <a:srgbClr val="FF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Function Interfaces</a:t>
            </a:r>
            <a:endParaRPr/>
          </a:p>
        </p:txBody>
      </p:sp>
      <p:sp>
        <p:nvSpPr>
          <p:cNvPr id="191" name="Google Shape;191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What someone needs to know to use a function:</a:t>
            </a:r>
            <a:endParaRPr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Name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Arguments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Return values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Side effects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Edge cases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Exceptions (next week!)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Examples (optional)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do we care?</a:t>
            </a:r>
            <a:endParaRPr/>
          </a:p>
        </p:txBody>
      </p:sp>
      <p:sp>
        <p:nvSpPr>
          <p:cNvPr id="197" name="Google Shape;197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Reading standard types of documentation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Reading homework instructions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●"/>
            </a:pPr>
            <a:r>
              <a:rPr lang="en" sz="2200"/>
              <a:t>Writing your own for projects</a:t>
            </a:r>
            <a:endParaRPr sz="220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" sz="2200"/>
              <a:t>Collaboration - if you agree on function interfaces, you can start writing code that uses the interface even if it isn’t written yet!</a:t>
            </a:r>
            <a:endParaRPr sz="2200"/>
          </a:p>
          <a:p>
            <a:pPr marL="914400" lvl="1" indent="-368300" algn="l" rtl="0">
              <a:spcBef>
                <a:spcPts val="0"/>
              </a:spcBef>
              <a:spcAft>
                <a:spcPts val="0"/>
              </a:spcAft>
              <a:buSzPts val="2200"/>
              <a:buChar char="○"/>
            </a:pPr>
            <a:r>
              <a:rPr lang="en" sz="2200"/>
              <a:t>Recommendation: start with the interfaces</a:t>
            </a:r>
            <a:endParaRPr sz="220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9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9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9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9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9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FB946F-C369-A713-7929-63D0339B1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999B2E-EE22-852D-5CDF-65F5A15024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Function book report:</a:t>
            </a:r>
          </a:p>
          <a:p>
            <a:pPr lvl="1"/>
            <a:r>
              <a:rPr lang="en-US" dirty="0"/>
              <a:t>New google doc</a:t>
            </a:r>
          </a:p>
          <a:p>
            <a:pPr lvl="1"/>
            <a:r>
              <a:rPr lang="en-US" dirty="0"/>
              <a:t>Take a </a:t>
            </a:r>
            <a:r>
              <a:rPr lang="en-US" dirty="0" err="1"/>
              <a:t>func</a:t>
            </a:r>
            <a:r>
              <a:rPr lang="en-US" dirty="0"/>
              <a:t> from your HW2, find its documentation (must link, not chatbot)</a:t>
            </a:r>
          </a:p>
          <a:p>
            <a:pPr lvl="1"/>
            <a:r>
              <a:rPr lang="en-US" dirty="0"/>
              <a:t>Answer the following:</a:t>
            </a:r>
          </a:p>
          <a:p>
            <a:pPr lvl="2"/>
            <a:r>
              <a:rPr lang="en-US" dirty="0"/>
              <a:t>Name</a:t>
            </a:r>
          </a:p>
          <a:p>
            <a:pPr lvl="2"/>
            <a:r>
              <a:rPr lang="en-US" dirty="0"/>
              <a:t>Arguments</a:t>
            </a:r>
          </a:p>
          <a:p>
            <a:pPr lvl="2"/>
            <a:r>
              <a:rPr lang="en-US" dirty="0"/>
              <a:t>Return values</a:t>
            </a:r>
          </a:p>
          <a:p>
            <a:pPr lvl="2"/>
            <a:r>
              <a:rPr lang="en-US" dirty="0"/>
              <a:t>Side effects</a:t>
            </a:r>
          </a:p>
          <a:p>
            <a:pPr lvl="2"/>
            <a:r>
              <a:rPr lang="en-US" dirty="0"/>
              <a:t>Edge cases</a:t>
            </a:r>
          </a:p>
          <a:p>
            <a:pPr lvl="2"/>
            <a:r>
              <a:rPr lang="en-US" dirty="0"/>
              <a:t>Exceptions</a:t>
            </a:r>
          </a:p>
          <a:p>
            <a:pPr lvl="2"/>
            <a:r>
              <a:rPr lang="en-US" dirty="0"/>
              <a:t>Examples</a:t>
            </a:r>
          </a:p>
        </p:txBody>
      </p:sp>
    </p:spTree>
    <p:extLst>
      <p:ext uri="{BB962C8B-B14F-4D97-AF65-F5344CB8AC3E}">
        <p14:creationId xmlns:p14="http://schemas.microsoft.com/office/powerpoint/2010/main" val="93411297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335</Words>
  <Application>Microsoft Office PowerPoint</Application>
  <PresentationFormat>On-screen Show (16:9)</PresentationFormat>
  <Paragraphs>79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Simple Light</vt:lpstr>
      <vt:lpstr>Software Design for Data Science</vt:lpstr>
      <vt:lpstr>Function Interfaces</vt:lpstr>
      <vt:lpstr>Function Interfaces</vt:lpstr>
      <vt:lpstr>Function name</vt:lpstr>
      <vt:lpstr>Arguments</vt:lpstr>
      <vt:lpstr>Return values</vt:lpstr>
      <vt:lpstr>Side effects</vt:lpstr>
      <vt:lpstr>Side effect example: print()</vt:lpstr>
      <vt:lpstr>Side effect example: list.sort()</vt:lpstr>
      <vt:lpstr>Edge cases</vt:lpstr>
      <vt:lpstr>Edge case example: print()</vt:lpstr>
      <vt:lpstr>Exceptions</vt:lpstr>
      <vt:lpstr>Examples</vt:lpstr>
      <vt:lpstr>Function Interfaces</vt:lpstr>
      <vt:lpstr>Why do we care?</vt:lpstr>
      <vt:lpstr>TODO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2</cp:revision>
  <dcterms:modified xsi:type="dcterms:W3CDTF">2026-01-20T00:59:30Z</dcterms:modified>
</cp:coreProperties>
</file>