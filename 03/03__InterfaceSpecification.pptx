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442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d7a15e57c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d7a15e57c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1d7a15e57c7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1d7a15e57c7_0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1d7a15e57c7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1d7a15e57c7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d7a15e57c7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d7a15e57c7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1d7a15e57c7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1d7a15e57c7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1d7a15e57c7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1d7a15e57c7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1d7a15e57c7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1d7a15e57c7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1d7a15e57c7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1d7a15e57c7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1d7a15e57c7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1d7a15e57c7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1d7a15e57c7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1d7a15e57c7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1d7a15e57c7_0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1d7a15e57c7_0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1d7a15e57c7_0_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1d7a15e57c7_0_1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1d7a15e57c7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1d7a15e57c7_0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1d7a15e57c7_0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1d7a15e57c7_0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22311"/>
          <a:stretch/>
        </p:blipFill>
        <p:spPr>
          <a:xfrm>
            <a:off x="0" y="0"/>
            <a:ext cx="9144000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5" name="Google Shape;15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9525" y="114901"/>
            <a:ext cx="3203124" cy="21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6;p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36596" y="4663214"/>
            <a:ext cx="584554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"/>
          <p:cNvSpPr txBox="1">
            <a:spLocks noGrp="1"/>
          </p:cNvSpPr>
          <p:nvPr>
            <p:ph type="subTitle" idx="2"/>
          </p:nvPr>
        </p:nvSpPr>
        <p:spPr>
          <a:xfrm>
            <a:off x="311700" y="366367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i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19;p3"/>
          <p:cNvPicPr preferRelativeResize="0"/>
          <p:nvPr/>
        </p:nvPicPr>
        <p:blipFill rotWithShape="1">
          <a:blip r:embed="rId2">
            <a:alphaModFix/>
          </a:blip>
          <a:srcRect b="22311"/>
          <a:stretch/>
        </p:blipFill>
        <p:spPr>
          <a:xfrm>
            <a:off x="0" y="0"/>
            <a:ext cx="9144000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" name="Google Shape;22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9525" y="114901"/>
            <a:ext cx="3203124" cy="21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36596" y="4663214"/>
            <a:ext cx="584554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51" name="Google Shape;5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9;p1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95825" y="95825"/>
            <a:ext cx="8925324" cy="4961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300"/>
              <a:t>Software Design for Data Science</a:t>
            </a:r>
            <a:endParaRPr/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Function Interface Specification</a:t>
            </a:r>
            <a:endParaRPr/>
          </a:p>
        </p:txBody>
      </p:sp>
      <p:sp>
        <p:nvSpPr>
          <p:cNvPr id="64" name="Google Shape;64;p13"/>
          <p:cNvSpPr txBox="1">
            <a:spLocks noGrp="1"/>
          </p:cNvSpPr>
          <p:nvPr>
            <p:ph type="subTitle" idx="2"/>
          </p:nvPr>
        </p:nvSpPr>
        <p:spPr>
          <a:xfrm>
            <a:off x="311700" y="366367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5000"/>
              <a:buFont typeface="Arial"/>
              <a:buNone/>
            </a:pPr>
            <a:r>
              <a:rPr lang="en"/>
              <a:t>Melissa Winstanley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5000"/>
              <a:buFont typeface="Arial"/>
              <a:buNone/>
            </a:pPr>
            <a:r>
              <a:rPr lang="en"/>
              <a:t>University of Washington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5000"/>
              <a:buFont typeface="Arial"/>
              <a:buNone/>
            </a:pPr>
            <a:r>
              <a:rPr lang="en"/>
              <a:t>January 23, 2025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Function Interfaces</a:t>
            </a:r>
            <a:endParaRPr/>
          </a:p>
        </p:txBody>
      </p:sp>
      <p:sp>
        <p:nvSpPr>
          <p:cNvPr id="70" name="Google Shape;70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someone needs to know to use a function:</a:t>
            </a: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What does it do?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do I call it?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What do I get it response?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What can go wrong?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Function Interfaces</a:t>
            </a:r>
            <a:endParaRPr/>
          </a:p>
        </p:txBody>
      </p:sp>
      <p:sp>
        <p:nvSpPr>
          <p:cNvPr id="76" name="Google Shape;76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someone needs to know to use a function:</a:t>
            </a: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Name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Arguments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Return values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Side effects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Edge cases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Exceptions (next week!)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Examples (optional)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Function name</a:t>
            </a:r>
            <a:endParaRPr/>
          </a:p>
        </p:txBody>
      </p:sp>
      <p:sp>
        <p:nvSpPr>
          <p:cNvPr id="82" name="Google Shape;82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Duh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So someone can use the function</a:t>
            </a:r>
            <a:endParaRPr dirty="0"/>
          </a:p>
        </p:txBody>
      </p:sp>
      <p:pic>
        <p:nvPicPr>
          <p:cNvPr id="83" name="Google Shape;83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43075" y="1918200"/>
            <a:ext cx="7057844" cy="3076496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6"/>
          <p:cNvSpPr/>
          <p:nvPr/>
        </p:nvSpPr>
        <p:spPr>
          <a:xfrm>
            <a:off x="1089545" y="1993796"/>
            <a:ext cx="574800" cy="2418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Arguments</a:t>
            </a:r>
            <a:endParaRPr/>
          </a:p>
        </p:txBody>
      </p:sp>
      <p:pic>
        <p:nvPicPr>
          <p:cNvPr id="90" name="Google Shape;9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4637" y="1098225"/>
            <a:ext cx="8794729" cy="3792899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7"/>
          <p:cNvSpPr/>
          <p:nvPr/>
        </p:nvSpPr>
        <p:spPr>
          <a:xfrm>
            <a:off x="852350" y="1173775"/>
            <a:ext cx="5552700" cy="3252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2" name="Google Shape;92;p17"/>
          <p:cNvGrpSpPr/>
          <p:nvPr/>
        </p:nvGrpSpPr>
        <p:grpSpPr>
          <a:xfrm>
            <a:off x="553300" y="2369275"/>
            <a:ext cx="8116200" cy="1682950"/>
            <a:chOff x="553300" y="2369275"/>
            <a:chExt cx="8116200" cy="1682950"/>
          </a:xfrm>
        </p:grpSpPr>
        <p:sp>
          <p:nvSpPr>
            <p:cNvPr id="93" name="Google Shape;93;p17"/>
            <p:cNvSpPr/>
            <p:nvPr/>
          </p:nvSpPr>
          <p:spPr>
            <a:xfrm>
              <a:off x="3840700" y="2369275"/>
              <a:ext cx="4828800" cy="249600"/>
            </a:xfrm>
            <a:prstGeom prst="roundRect">
              <a:avLst>
                <a:gd name="adj" fmla="val 16667"/>
              </a:avLst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17"/>
            <p:cNvSpPr/>
            <p:nvPr/>
          </p:nvSpPr>
          <p:spPr>
            <a:xfrm>
              <a:off x="553300" y="3006900"/>
              <a:ext cx="5787000" cy="249600"/>
            </a:xfrm>
            <a:prstGeom prst="roundRect">
              <a:avLst>
                <a:gd name="adj" fmla="val 16667"/>
              </a:avLst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17"/>
            <p:cNvSpPr txBox="1"/>
            <p:nvPr/>
          </p:nvSpPr>
          <p:spPr>
            <a:xfrm>
              <a:off x="7181500" y="3375125"/>
              <a:ext cx="1488000" cy="677100"/>
            </a:xfrm>
            <a:prstGeom prst="rect">
              <a:avLst/>
            </a:prstGeom>
            <a:solidFill>
              <a:srgbClr val="FFFFFF">
                <a:alpha val="541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rgbClr val="FF0000"/>
                  </a:solidFill>
                </a:rPr>
                <a:t>Preconditions (assumptions)</a:t>
              </a:r>
              <a:endParaRPr sz="1600">
                <a:solidFill>
                  <a:srgbClr val="FF0000"/>
                </a:solidFill>
              </a:endParaRPr>
            </a:p>
          </p:txBody>
        </p:sp>
        <p:cxnSp>
          <p:nvCxnSpPr>
            <p:cNvPr id="96" name="Google Shape;96;p17"/>
            <p:cNvCxnSpPr>
              <a:stCxn id="95" idx="0"/>
              <a:endCxn id="93" idx="2"/>
            </p:cNvCxnSpPr>
            <p:nvPr/>
          </p:nvCxnSpPr>
          <p:spPr>
            <a:xfrm rot="10800000">
              <a:off x="6255100" y="2618825"/>
              <a:ext cx="1670400" cy="756300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97" name="Google Shape;97;p17"/>
            <p:cNvCxnSpPr>
              <a:stCxn id="95" idx="1"/>
              <a:endCxn id="94" idx="3"/>
            </p:cNvCxnSpPr>
            <p:nvPr/>
          </p:nvCxnSpPr>
          <p:spPr>
            <a:xfrm rot="10800000">
              <a:off x="6340300" y="3131675"/>
              <a:ext cx="841200" cy="582000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grpSp>
        <p:nvGrpSpPr>
          <p:cNvPr id="98" name="Google Shape;98;p17"/>
          <p:cNvGrpSpPr/>
          <p:nvPr/>
        </p:nvGrpSpPr>
        <p:grpSpPr>
          <a:xfrm>
            <a:off x="1585025" y="515825"/>
            <a:ext cx="2255675" cy="702575"/>
            <a:chOff x="1585025" y="515825"/>
            <a:chExt cx="2255675" cy="702575"/>
          </a:xfrm>
        </p:grpSpPr>
        <p:sp>
          <p:nvSpPr>
            <p:cNvPr id="99" name="Google Shape;99;p17"/>
            <p:cNvSpPr txBox="1"/>
            <p:nvPr/>
          </p:nvSpPr>
          <p:spPr>
            <a:xfrm>
              <a:off x="2352700" y="515825"/>
              <a:ext cx="1488000" cy="431100"/>
            </a:xfrm>
            <a:prstGeom prst="rect">
              <a:avLst/>
            </a:prstGeom>
            <a:solidFill>
              <a:srgbClr val="FFFFFF">
                <a:alpha val="541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rgbClr val="FF0000"/>
                  </a:solidFill>
                </a:rPr>
                <a:t>Positional</a:t>
              </a:r>
              <a:endParaRPr sz="1600">
                <a:solidFill>
                  <a:srgbClr val="FF0000"/>
                </a:solidFill>
              </a:endParaRPr>
            </a:p>
          </p:txBody>
        </p:sp>
        <p:cxnSp>
          <p:nvCxnSpPr>
            <p:cNvPr id="100" name="Google Shape;100;p17"/>
            <p:cNvCxnSpPr/>
            <p:nvPr/>
          </p:nvCxnSpPr>
          <p:spPr>
            <a:xfrm flipH="1">
              <a:off x="1585025" y="884200"/>
              <a:ext cx="1002900" cy="334200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grpSp>
        <p:nvGrpSpPr>
          <p:cNvPr id="101" name="Google Shape;101;p17"/>
          <p:cNvGrpSpPr/>
          <p:nvPr/>
        </p:nvGrpSpPr>
        <p:grpSpPr>
          <a:xfrm>
            <a:off x="2491025" y="515825"/>
            <a:ext cx="3431700" cy="713400"/>
            <a:chOff x="2491025" y="515825"/>
            <a:chExt cx="3431700" cy="713400"/>
          </a:xfrm>
        </p:grpSpPr>
        <p:sp>
          <p:nvSpPr>
            <p:cNvPr id="102" name="Google Shape;102;p17"/>
            <p:cNvSpPr txBox="1"/>
            <p:nvPr/>
          </p:nvSpPr>
          <p:spPr>
            <a:xfrm>
              <a:off x="4434725" y="515825"/>
              <a:ext cx="1488000" cy="431100"/>
            </a:xfrm>
            <a:prstGeom prst="rect">
              <a:avLst/>
            </a:prstGeom>
            <a:solidFill>
              <a:srgbClr val="FFFFFF">
                <a:alpha val="541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rgbClr val="FF0000"/>
                  </a:solidFill>
                </a:rPr>
                <a:t>Keyword</a:t>
              </a:r>
              <a:endParaRPr sz="1600">
                <a:solidFill>
                  <a:srgbClr val="FF0000"/>
                </a:solidFill>
              </a:endParaRPr>
            </a:p>
          </p:txBody>
        </p:sp>
        <p:cxnSp>
          <p:nvCxnSpPr>
            <p:cNvPr id="103" name="Google Shape;103;p17"/>
            <p:cNvCxnSpPr>
              <a:stCxn id="102" idx="2"/>
            </p:cNvCxnSpPr>
            <p:nvPr/>
          </p:nvCxnSpPr>
          <p:spPr>
            <a:xfrm flipH="1">
              <a:off x="4776725" y="946925"/>
              <a:ext cx="402000" cy="260700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04" name="Google Shape;104;p17"/>
            <p:cNvCxnSpPr>
              <a:stCxn id="102" idx="2"/>
            </p:cNvCxnSpPr>
            <p:nvPr/>
          </p:nvCxnSpPr>
          <p:spPr>
            <a:xfrm>
              <a:off x="5178725" y="946925"/>
              <a:ext cx="169800" cy="260700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05" name="Google Shape;105;p17"/>
            <p:cNvCxnSpPr>
              <a:stCxn id="102" idx="2"/>
              <a:endCxn id="91" idx="0"/>
            </p:cNvCxnSpPr>
            <p:nvPr/>
          </p:nvCxnSpPr>
          <p:spPr>
            <a:xfrm flipH="1">
              <a:off x="3628625" y="946925"/>
              <a:ext cx="1550100" cy="226800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06" name="Google Shape;106;p17"/>
            <p:cNvCxnSpPr>
              <a:stCxn id="102" idx="2"/>
            </p:cNvCxnSpPr>
            <p:nvPr/>
          </p:nvCxnSpPr>
          <p:spPr>
            <a:xfrm flipH="1">
              <a:off x="2491025" y="946925"/>
              <a:ext cx="2687700" cy="282300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grpSp>
        <p:nvGrpSpPr>
          <p:cNvPr id="107" name="Google Shape;107;p17"/>
          <p:cNvGrpSpPr/>
          <p:nvPr/>
        </p:nvGrpSpPr>
        <p:grpSpPr>
          <a:xfrm>
            <a:off x="6189600" y="515825"/>
            <a:ext cx="2257800" cy="756600"/>
            <a:chOff x="6189600" y="515825"/>
            <a:chExt cx="2257800" cy="756600"/>
          </a:xfrm>
        </p:grpSpPr>
        <p:sp>
          <p:nvSpPr>
            <p:cNvPr id="108" name="Google Shape;108;p17"/>
            <p:cNvSpPr txBox="1"/>
            <p:nvPr/>
          </p:nvSpPr>
          <p:spPr>
            <a:xfrm>
              <a:off x="6959400" y="515825"/>
              <a:ext cx="1488000" cy="431100"/>
            </a:xfrm>
            <a:prstGeom prst="rect">
              <a:avLst/>
            </a:prstGeom>
            <a:solidFill>
              <a:srgbClr val="FFFFFF">
                <a:alpha val="541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rgbClr val="FF0000"/>
                  </a:solidFill>
                </a:rPr>
                <a:t>Default values</a:t>
              </a:r>
              <a:endParaRPr sz="1600">
                <a:solidFill>
                  <a:srgbClr val="FF0000"/>
                </a:solidFill>
              </a:endParaRPr>
            </a:p>
          </p:txBody>
        </p:sp>
        <p:cxnSp>
          <p:nvCxnSpPr>
            <p:cNvPr id="109" name="Google Shape;109;p17"/>
            <p:cNvCxnSpPr>
              <a:stCxn id="108" idx="2"/>
            </p:cNvCxnSpPr>
            <p:nvPr/>
          </p:nvCxnSpPr>
          <p:spPr>
            <a:xfrm flipH="1">
              <a:off x="6189600" y="946925"/>
              <a:ext cx="1513800" cy="325500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grpSp>
        <p:nvGrpSpPr>
          <p:cNvPr id="110" name="Google Shape;110;p17"/>
          <p:cNvGrpSpPr/>
          <p:nvPr/>
        </p:nvGrpSpPr>
        <p:grpSpPr>
          <a:xfrm>
            <a:off x="553300" y="1434000"/>
            <a:ext cx="8279000" cy="916863"/>
            <a:chOff x="553300" y="1434000"/>
            <a:chExt cx="8279000" cy="916863"/>
          </a:xfrm>
        </p:grpSpPr>
        <p:sp>
          <p:nvSpPr>
            <p:cNvPr id="111" name="Google Shape;111;p17"/>
            <p:cNvSpPr/>
            <p:nvPr/>
          </p:nvSpPr>
          <p:spPr>
            <a:xfrm>
              <a:off x="553300" y="1434000"/>
              <a:ext cx="6326400" cy="325200"/>
            </a:xfrm>
            <a:prstGeom prst="roundRect">
              <a:avLst>
                <a:gd name="adj" fmla="val 16667"/>
              </a:avLst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7"/>
            <p:cNvSpPr txBox="1"/>
            <p:nvPr/>
          </p:nvSpPr>
          <p:spPr>
            <a:xfrm>
              <a:off x="5634900" y="1673763"/>
              <a:ext cx="3197400" cy="677100"/>
            </a:xfrm>
            <a:prstGeom prst="rect">
              <a:avLst/>
            </a:prstGeom>
            <a:solidFill>
              <a:srgbClr val="FFFFFF">
                <a:alpha val="541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rgbClr val="FF0000"/>
                  </a:solidFill>
                </a:rPr>
                <a:t>What it does with the arguments (what do they mean?)</a:t>
              </a:r>
              <a:endParaRPr sz="1600">
                <a:solidFill>
                  <a:srgbClr val="FF0000"/>
                </a:solidFill>
              </a:endParaRPr>
            </a:p>
          </p:txBody>
        </p:sp>
        <p:cxnSp>
          <p:nvCxnSpPr>
            <p:cNvPr id="113" name="Google Shape;113;p17"/>
            <p:cNvCxnSpPr>
              <a:stCxn id="112" idx="1"/>
            </p:cNvCxnSpPr>
            <p:nvPr/>
          </p:nvCxnSpPr>
          <p:spPr>
            <a:xfrm rot="10800000">
              <a:off x="5358900" y="1779213"/>
              <a:ext cx="276000" cy="233100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Return values</a:t>
            </a:r>
            <a:endParaRPr/>
          </a:p>
        </p:txBody>
      </p:sp>
      <p:sp>
        <p:nvSpPr>
          <p:cNvPr id="119" name="Google Shape;119;p18"/>
          <p:cNvSpPr txBox="1"/>
          <p:nvPr/>
        </p:nvSpPr>
        <p:spPr>
          <a:xfrm>
            <a:off x="873425" y="2016425"/>
            <a:ext cx="1326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0" name="Google Shape;120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388625"/>
            <a:ext cx="8839199" cy="97109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1" name="Google Shape;121;p18"/>
          <p:cNvGrpSpPr/>
          <p:nvPr/>
        </p:nvGrpSpPr>
        <p:grpSpPr>
          <a:xfrm>
            <a:off x="1143450" y="1770800"/>
            <a:ext cx="2425775" cy="1271051"/>
            <a:chOff x="1143450" y="1770800"/>
            <a:chExt cx="2425775" cy="1271051"/>
          </a:xfrm>
        </p:grpSpPr>
        <p:grpSp>
          <p:nvGrpSpPr>
            <p:cNvPr id="122" name="Google Shape;122;p18"/>
            <p:cNvGrpSpPr/>
            <p:nvPr/>
          </p:nvGrpSpPr>
          <p:grpSpPr>
            <a:xfrm>
              <a:off x="1682075" y="1770800"/>
              <a:ext cx="1887150" cy="968050"/>
              <a:chOff x="1682075" y="1770800"/>
              <a:chExt cx="1887150" cy="968050"/>
            </a:xfrm>
          </p:grpSpPr>
          <p:sp>
            <p:nvSpPr>
              <p:cNvPr id="123" name="Google Shape;123;p18"/>
              <p:cNvSpPr txBox="1"/>
              <p:nvPr/>
            </p:nvSpPr>
            <p:spPr>
              <a:xfrm>
                <a:off x="1936325" y="1770800"/>
                <a:ext cx="1632900" cy="677100"/>
              </a:xfrm>
              <a:prstGeom prst="rect">
                <a:avLst/>
              </a:prstGeom>
              <a:solidFill>
                <a:srgbClr val="FFFFFF">
                  <a:alpha val="5417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600">
                    <a:solidFill>
                      <a:srgbClr val="FF0000"/>
                    </a:solidFill>
                  </a:rPr>
                  <a:t>The type (boolean here)</a:t>
                </a:r>
                <a:endParaRPr sz="1600">
                  <a:solidFill>
                    <a:srgbClr val="FF0000"/>
                  </a:solidFill>
                </a:endParaRPr>
              </a:p>
            </p:txBody>
          </p:sp>
          <p:cxnSp>
            <p:nvCxnSpPr>
              <p:cNvPr id="124" name="Google Shape;124;p18"/>
              <p:cNvCxnSpPr/>
              <p:nvPr/>
            </p:nvCxnSpPr>
            <p:spPr>
              <a:xfrm flipH="1">
                <a:off x="1682075" y="2404650"/>
                <a:ext cx="1002900" cy="3342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FF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  <p:sp>
          <p:nvSpPr>
            <p:cNvPr id="125" name="Google Shape;125;p18"/>
            <p:cNvSpPr/>
            <p:nvPr/>
          </p:nvSpPr>
          <p:spPr>
            <a:xfrm>
              <a:off x="1143450" y="2738851"/>
              <a:ext cx="592500" cy="303000"/>
            </a:xfrm>
            <a:prstGeom prst="roundRect">
              <a:avLst>
                <a:gd name="adj" fmla="val 16667"/>
              </a:avLst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6" name="Google Shape;126;p18"/>
          <p:cNvGrpSpPr/>
          <p:nvPr/>
        </p:nvGrpSpPr>
        <p:grpSpPr>
          <a:xfrm>
            <a:off x="1813504" y="1585325"/>
            <a:ext cx="7071600" cy="1456525"/>
            <a:chOff x="1813504" y="1585325"/>
            <a:chExt cx="7071600" cy="1456525"/>
          </a:xfrm>
        </p:grpSpPr>
        <p:sp>
          <p:nvSpPr>
            <p:cNvPr id="127" name="Google Shape;127;p18"/>
            <p:cNvSpPr txBox="1"/>
            <p:nvPr/>
          </p:nvSpPr>
          <p:spPr>
            <a:xfrm>
              <a:off x="4532850" y="1585325"/>
              <a:ext cx="1632900" cy="431100"/>
            </a:xfrm>
            <a:prstGeom prst="rect">
              <a:avLst/>
            </a:prstGeom>
            <a:solidFill>
              <a:srgbClr val="FFFFFF">
                <a:alpha val="541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rgbClr val="FF0000"/>
                  </a:solidFill>
                </a:rPr>
                <a:t>What it means</a:t>
              </a:r>
              <a:endParaRPr sz="1600">
                <a:solidFill>
                  <a:srgbClr val="FF0000"/>
                </a:solidFill>
              </a:endParaRPr>
            </a:p>
          </p:txBody>
        </p:sp>
        <p:cxnSp>
          <p:nvCxnSpPr>
            <p:cNvPr id="128" name="Google Shape;128;p18"/>
            <p:cNvCxnSpPr>
              <a:stCxn id="127" idx="2"/>
              <a:endCxn id="129" idx="0"/>
            </p:cNvCxnSpPr>
            <p:nvPr/>
          </p:nvCxnSpPr>
          <p:spPr>
            <a:xfrm>
              <a:off x="5349300" y="2016425"/>
              <a:ext cx="0" cy="753000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29" name="Google Shape;129;p18"/>
            <p:cNvSpPr/>
            <p:nvPr/>
          </p:nvSpPr>
          <p:spPr>
            <a:xfrm>
              <a:off x="1813504" y="2769450"/>
              <a:ext cx="7071600" cy="272400"/>
            </a:xfrm>
            <a:prstGeom prst="roundRect">
              <a:avLst>
                <a:gd name="adj" fmla="val 16667"/>
              </a:avLst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Side effects</a:t>
            </a:r>
            <a:endParaRPr/>
          </a:p>
        </p:txBody>
      </p:sp>
      <p:sp>
        <p:nvSpPr>
          <p:cNvPr id="135" name="Google Shape;135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 sz="2200"/>
              <a:t>Printing something</a:t>
            </a:r>
            <a:endParaRPr sz="220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 sz="2200"/>
              <a:t>Changing a mutable argument (lists, dictionaries, sets, etc)</a:t>
            </a:r>
            <a:endParaRPr sz="220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 sz="2200"/>
              <a:t>Changing a global variable</a:t>
            </a:r>
            <a:endParaRPr sz="220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 sz="2200"/>
              <a:t>File operations (creating/deleting/moving/etc)</a:t>
            </a:r>
            <a:endParaRPr sz="22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220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200"/>
              <a:t>Be specific!</a:t>
            </a:r>
            <a:endParaRPr sz="22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Side effect example: print()</a:t>
            </a:r>
            <a:endParaRPr/>
          </a:p>
        </p:txBody>
      </p:sp>
      <p:pic>
        <p:nvPicPr>
          <p:cNvPr id="141" name="Google Shape;14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1225" y="1017725"/>
            <a:ext cx="8721558" cy="3820974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0"/>
          <p:cNvSpPr/>
          <p:nvPr/>
        </p:nvSpPr>
        <p:spPr>
          <a:xfrm>
            <a:off x="484525" y="1388375"/>
            <a:ext cx="6392100" cy="2982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331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Side effect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example: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list.sort()</a:t>
            </a:r>
            <a:endParaRPr/>
          </a:p>
        </p:txBody>
      </p:sp>
      <p:pic>
        <p:nvPicPr>
          <p:cNvPr id="148" name="Google Shape;148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2827" y="238652"/>
            <a:ext cx="6182751" cy="47837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1"/>
          <p:cNvSpPr/>
          <p:nvPr/>
        </p:nvSpPr>
        <p:spPr>
          <a:xfrm rot="10800000" flipH="1">
            <a:off x="3242650" y="708025"/>
            <a:ext cx="2226900" cy="1911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21"/>
          <p:cNvSpPr/>
          <p:nvPr/>
        </p:nvSpPr>
        <p:spPr>
          <a:xfrm>
            <a:off x="3242650" y="3480575"/>
            <a:ext cx="5311200" cy="5727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Edge cases</a:t>
            </a:r>
            <a:endParaRPr/>
          </a:p>
        </p:txBody>
      </p:sp>
      <p:sp>
        <p:nvSpPr>
          <p:cNvPr id="156" name="Google Shape;156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Things to watch out for</a:t>
            </a:r>
            <a:endParaRPr/>
          </a:p>
        </p:txBody>
      </p:sp>
      <p:pic>
        <p:nvPicPr>
          <p:cNvPr id="157" name="Google Shape;157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388625"/>
            <a:ext cx="8839199" cy="971098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2"/>
          <p:cNvSpPr/>
          <p:nvPr/>
        </p:nvSpPr>
        <p:spPr>
          <a:xfrm>
            <a:off x="6523725" y="2754675"/>
            <a:ext cx="2396700" cy="3294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22"/>
          <p:cNvSpPr/>
          <p:nvPr/>
        </p:nvSpPr>
        <p:spPr>
          <a:xfrm>
            <a:off x="508250" y="3030025"/>
            <a:ext cx="925800" cy="2820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Edge case example: print()</a:t>
            </a:r>
            <a:endParaRPr/>
          </a:p>
        </p:txBody>
      </p:sp>
      <p:pic>
        <p:nvPicPr>
          <p:cNvPr id="165" name="Google Shape;165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1225" y="1017725"/>
            <a:ext cx="8721558" cy="3820974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3"/>
          <p:cNvSpPr/>
          <p:nvPr/>
        </p:nvSpPr>
        <p:spPr>
          <a:xfrm>
            <a:off x="3849550" y="2509800"/>
            <a:ext cx="4310400" cy="2982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Exceptions</a:t>
            </a:r>
            <a:endParaRPr/>
          </a:p>
        </p:txBody>
      </p:sp>
      <p:sp>
        <p:nvSpPr>
          <p:cNvPr id="172" name="Google Shape;172;p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preconditions aren’t satisfied (arguments are bad)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something goes wrong, what happens?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		… in a few weeks</a:t>
            </a:r>
            <a:endParaRPr/>
          </a:p>
        </p:txBody>
      </p:sp>
      <p:grpSp>
        <p:nvGrpSpPr>
          <p:cNvPr id="173" name="Google Shape;173;p24"/>
          <p:cNvGrpSpPr/>
          <p:nvPr/>
        </p:nvGrpSpPr>
        <p:grpSpPr>
          <a:xfrm>
            <a:off x="210950" y="2401903"/>
            <a:ext cx="8722101" cy="2215296"/>
            <a:chOff x="210950" y="1528478"/>
            <a:chExt cx="8722101" cy="2215296"/>
          </a:xfrm>
        </p:grpSpPr>
        <p:pic>
          <p:nvPicPr>
            <p:cNvPr id="174" name="Google Shape;174;p2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10950" y="1528478"/>
              <a:ext cx="8722101" cy="221529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5" name="Google Shape;175;p24"/>
            <p:cNvSpPr/>
            <p:nvPr/>
          </p:nvSpPr>
          <p:spPr>
            <a:xfrm>
              <a:off x="808725" y="2193950"/>
              <a:ext cx="7971600" cy="792900"/>
            </a:xfrm>
            <a:prstGeom prst="roundRect">
              <a:avLst>
                <a:gd name="adj" fmla="val 16667"/>
              </a:avLst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7300100" y="2193950"/>
              <a:ext cx="1067400" cy="243000"/>
            </a:xfrm>
            <a:prstGeom prst="roundRect">
              <a:avLst>
                <a:gd name="adj" fmla="val 16667"/>
              </a:avLst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Help people understand how to use the function</a:t>
            </a:r>
            <a:endParaRPr/>
          </a:p>
        </p:txBody>
      </p:sp>
      <p:sp>
        <p:nvSpPr>
          <p:cNvPr id="182" name="Google Shape;182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Examples</a:t>
            </a:r>
            <a:endParaRPr/>
          </a:p>
        </p:txBody>
      </p:sp>
      <p:grpSp>
        <p:nvGrpSpPr>
          <p:cNvPr id="183" name="Google Shape;183;p25"/>
          <p:cNvGrpSpPr/>
          <p:nvPr/>
        </p:nvGrpSpPr>
        <p:grpSpPr>
          <a:xfrm>
            <a:off x="152400" y="1916250"/>
            <a:ext cx="8839201" cy="2061401"/>
            <a:chOff x="152400" y="1541050"/>
            <a:chExt cx="8839201" cy="2061401"/>
          </a:xfrm>
        </p:grpSpPr>
        <p:pic>
          <p:nvPicPr>
            <p:cNvPr id="184" name="Google Shape;184;p2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52400" y="1541050"/>
              <a:ext cx="8839201" cy="206140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85" name="Google Shape;185;p25"/>
            <p:cNvSpPr/>
            <p:nvPr/>
          </p:nvSpPr>
          <p:spPr>
            <a:xfrm>
              <a:off x="417075" y="2844350"/>
              <a:ext cx="8520600" cy="714900"/>
            </a:xfrm>
            <a:prstGeom prst="roundRect">
              <a:avLst>
                <a:gd name="adj" fmla="val 16667"/>
              </a:avLst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Function Interfaces</a:t>
            </a:r>
            <a:endParaRPr/>
          </a:p>
        </p:txBody>
      </p:sp>
      <p:sp>
        <p:nvSpPr>
          <p:cNvPr id="191" name="Google Shape;191;p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What someone needs to know to use a function:</a:t>
            </a:r>
            <a:endParaRPr dirty="0"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Name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Arguments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Return values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Side effects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Edge cases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Exceptions (next week!)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Examples (optional)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do we care?</a:t>
            </a:r>
            <a:endParaRPr/>
          </a:p>
        </p:txBody>
      </p:sp>
      <p:sp>
        <p:nvSpPr>
          <p:cNvPr id="197" name="Google Shape;197;p2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 sz="2200"/>
              <a:t>Reading standard types of documentation</a:t>
            </a:r>
            <a:endParaRPr sz="220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 sz="2200"/>
              <a:t>Reading homework instructions</a:t>
            </a:r>
            <a:endParaRPr sz="220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 sz="2200"/>
              <a:t>Writing your own for projects</a:t>
            </a:r>
            <a:endParaRPr sz="2200"/>
          </a:p>
          <a:p>
            <a:pPr marL="914400" lvl="1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n" sz="2200"/>
              <a:t>Collaboration - if you agree on function interfaces, you can start writing code that uses the interface even if it isn’t written yet!</a:t>
            </a:r>
            <a:endParaRPr sz="2200"/>
          </a:p>
          <a:p>
            <a:pPr marL="914400" lvl="1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n" sz="2200"/>
              <a:t>Recommendation: start with the interfaces</a:t>
            </a:r>
            <a:endParaRPr sz="22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"/>
                                        <p:tgtEl>
                                          <p:spTgt spid="1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"/>
                                        <p:tgtEl>
                                          <p:spTgt spid="19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"/>
                                        <p:tgtEl>
                                          <p:spTgt spid="19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"/>
                                        <p:tgtEl>
                                          <p:spTgt spid="19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"/>
                                        <p:tgtEl>
                                          <p:spTgt spid="19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B946F-C369-A713-7929-63D0339B1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TODO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999B2E-EE22-852D-5CDF-65F5A15024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Function book report:</a:t>
            </a:r>
          </a:p>
          <a:p>
            <a:pPr lvl="1"/>
            <a:r>
              <a:rPr lang="en-US" dirty="0"/>
              <a:t>New google doc</a:t>
            </a:r>
          </a:p>
          <a:p>
            <a:pPr lvl="1"/>
            <a:r>
              <a:rPr lang="en-US" dirty="0"/>
              <a:t>Take a </a:t>
            </a:r>
            <a:r>
              <a:rPr lang="en-US" dirty="0" err="1"/>
              <a:t>func</a:t>
            </a:r>
            <a:r>
              <a:rPr lang="en-US" dirty="0"/>
              <a:t> from your HW2, find its documentation (must link, not chatbot)</a:t>
            </a:r>
          </a:p>
          <a:p>
            <a:pPr lvl="1"/>
            <a:r>
              <a:rPr lang="en-US" dirty="0"/>
              <a:t>Answer the following:</a:t>
            </a:r>
          </a:p>
          <a:p>
            <a:pPr lvl="2"/>
            <a:r>
              <a:rPr lang="en-US" dirty="0"/>
              <a:t>Name</a:t>
            </a:r>
          </a:p>
          <a:p>
            <a:pPr lvl="2"/>
            <a:r>
              <a:rPr lang="en-US" dirty="0"/>
              <a:t>Arguments</a:t>
            </a:r>
          </a:p>
          <a:p>
            <a:pPr lvl="2"/>
            <a:r>
              <a:rPr lang="en-US" dirty="0"/>
              <a:t>Return values</a:t>
            </a:r>
          </a:p>
          <a:p>
            <a:pPr lvl="2"/>
            <a:r>
              <a:rPr lang="en-US" dirty="0"/>
              <a:t>Side effects</a:t>
            </a:r>
          </a:p>
          <a:p>
            <a:pPr lvl="2"/>
            <a:r>
              <a:rPr lang="en-US" dirty="0"/>
              <a:t>Edge cases</a:t>
            </a:r>
          </a:p>
          <a:p>
            <a:pPr lvl="2"/>
            <a:r>
              <a:rPr lang="en-US" dirty="0"/>
              <a:t>Exceptions</a:t>
            </a:r>
          </a:p>
          <a:p>
            <a:pPr lvl="2"/>
            <a:r>
              <a:rPr lang="en-US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934112975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335</Words>
  <Application>Microsoft Office PowerPoint</Application>
  <PresentationFormat>On-screen Show (16:9)</PresentationFormat>
  <Paragraphs>79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8" baseType="lpstr">
      <vt:lpstr>Arial</vt:lpstr>
      <vt:lpstr>Simple Light</vt:lpstr>
      <vt:lpstr>Software Design for Data Science</vt:lpstr>
      <vt:lpstr>Function Interfaces</vt:lpstr>
      <vt:lpstr>Function Interfaces</vt:lpstr>
      <vt:lpstr>Function name</vt:lpstr>
      <vt:lpstr>Arguments</vt:lpstr>
      <vt:lpstr>Return values</vt:lpstr>
      <vt:lpstr>Side effects</vt:lpstr>
      <vt:lpstr>Side effect example: print()</vt:lpstr>
      <vt:lpstr>Side effect example: list.sort()</vt:lpstr>
      <vt:lpstr>Edge cases</vt:lpstr>
      <vt:lpstr>Edge case example: print()</vt:lpstr>
      <vt:lpstr>Exceptions</vt:lpstr>
      <vt:lpstr>Examples</vt:lpstr>
      <vt:lpstr>Function Interfaces</vt:lpstr>
      <vt:lpstr>Why do we care?</vt:lpstr>
      <vt:lpstr>TODO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Naomi Alterman</cp:lastModifiedBy>
  <cp:revision>1</cp:revision>
  <dcterms:modified xsi:type="dcterms:W3CDTF">2026-01-20T00:26:35Z</dcterms:modified>
</cp:coreProperties>
</file>